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71" r:id="rId4"/>
    <p:sldId id="259" r:id="rId5"/>
    <p:sldId id="261" r:id="rId6"/>
    <p:sldId id="262" r:id="rId7"/>
    <p:sldId id="263" r:id="rId8"/>
    <p:sldId id="264" r:id="rId9"/>
    <p:sldId id="265" r:id="rId10"/>
    <p:sldId id="266" r:id="rId11"/>
    <p:sldId id="267" r:id="rId12"/>
    <p:sldId id="268" r:id="rId13"/>
    <p:sldId id="269" r:id="rId14"/>
    <p:sldId id="270" r:id="rId15"/>
    <p:sldId id="260" r:id="rId16"/>
    <p:sldId id="272" r:id="rId17"/>
    <p:sldId id="274" r:id="rId18"/>
    <p:sldId id="277" r:id="rId19"/>
    <p:sldId id="275" r:id="rId20"/>
    <p:sldId id="278" r:id="rId21"/>
    <p:sldId id="276" r:id="rId22"/>
    <p:sldId id="279" r:id="rId23"/>
    <p:sldId id="280" r:id="rId24"/>
    <p:sldId id="273" r:id="rId25"/>
    <p:sldId id="281" r:id="rId26"/>
    <p:sldId id="283" r:id="rId27"/>
    <p:sldId id="284" r:id="rId28"/>
    <p:sldId id="285" r:id="rId29"/>
    <p:sldId id="286" r:id="rId30"/>
    <p:sldId id="287" r:id="rId31"/>
    <p:sldId id="288" r:id="rId32"/>
    <p:sldId id="289" r:id="rId33"/>
    <p:sldId id="290" r:id="rId34"/>
    <p:sldId id="292" r:id="rId35"/>
    <p:sldId id="293" r:id="rId36"/>
    <p:sldId id="295" r:id="rId37"/>
    <p:sldId id="296" r:id="rId38"/>
    <p:sldId id="297" r:id="rId3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665" autoAdjust="0"/>
  </p:normalViewPr>
  <p:slideViewPr>
    <p:cSldViewPr>
      <p:cViewPr varScale="1">
        <p:scale>
          <a:sx n="82" d="100"/>
          <a:sy n="82" d="100"/>
        </p:scale>
        <p:origin x="-1212"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14" name="標題 13"/>
          <p:cNvSpPr>
            <a:spLocks noGrp="1"/>
          </p:cNvSpPr>
          <p:nvPr>
            <p:ph type="ctrTitle"/>
          </p:nvPr>
        </p:nvSpPr>
        <p:spPr>
          <a:xfrm>
            <a:off x="1432560" y="359898"/>
            <a:ext cx="7406640" cy="1472184"/>
          </a:xfrm>
        </p:spPr>
        <p:txBody>
          <a:bodyPr anchor="b"/>
          <a:lstStyle>
            <a:lvl1pPr algn="l">
              <a:defRPr/>
            </a:lvl1pPr>
            <a:extLst/>
          </a:lstStyle>
          <a:p>
            <a:r>
              <a:rPr kumimoji="0" lang="zh-TW" altLang="en-US"/>
              <a:t>按一下以編輯母片標題樣式</a:t>
            </a:r>
            <a:endParaRPr kumimoji="0" lang="en-US"/>
          </a:p>
        </p:txBody>
      </p:sp>
      <p:sp>
        <p:nvSpPr>
          <p:cNvPr id="22" name="副標題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TW" altLang="en-US"/>
              <a:t>按一下以編輯母片副標題樣式</a:t>
            </a:r>
            <a:endParaRPr kumimoji="0" lang="en-US"/>
          </a:p>
        </p:txBody>
      </p:sp>
      <p:sp>
        <p:nvSpPr>
          <p:cNvPr id="7" name="日期版面配置區 6"/>
          <p:cNvSpPr>
            <a:spLocks noGrp="1"/>
          </p:cNvSpPr>
          <p:nvPr>
            <p:ph type="dt" sz="half" idx="10"/>
          </p:nvPr>
        </p:nvSpPr>
        <p:spPr/>
        <p:txBody>
          <a:bodyPr/>
          <a:lstStyle/>
          <a:p>
            <a:fld id="{5BBEAD13-0566-4C6C-97E7-55F17F24B09F}" type="datetimeFigureOut">
              <a:rPr lang="zh-TW" altLang="en-US" smtClean="0"/>
              <a:pPr/>
              <a:t>2026/5/10</a:t>
            </a:fld>
            <a:endParaRPr lang="zh-TW" altLang="en-US"/>
          </a:p>
        </p:txBody>
      </p:sp>
      <p:sp>
        <p:nvSpPr>
          <p:cNvPr id="20" name="頁尾版面配置區 19"/>
          <p:cNvSpPr>
            <a:spLocks noGrp="1"/>
          </p:cNvSpPr>
          <p:nvPr>
            <p:ph type="ftr" sz="quarter" idx="11"/>
          </p:nvPr>
        </p:nvSpPr>
        <p:spPr/>
        <p:txBody>
          <a:bodyPr/>
          <a:lstStyle/>
          <a:p>
            <a:endParaRPr lang="zh-TW" altLang="en-US"/>
          </a:p>
        </p:txBody>
      </p:sp>
      <p:sp>
        <p:nvSpPr>
          <p:cNvPr id="10" name="投影片編號版面配置區 9"/>
          <p:cNvSpPr>
            <a:spLocks noGrp="1"/>
          </p:cNvSpPr>
          <p:nvPr>
            <p:ph type="sldNum" sz="quarter" idx="12"/>
          </p:nvPr>
        </p:nvSpPr>
        <p:spPr/>
        <p:txBody>
          <a:bodyPr/>
          <a:lstStyle/>
          <a:p>
            <a:fld id="{73DA0BB7-265A-403C-9275-D587AB510EDC}" type="slidenum">
              <a:rPr lang="zh-TW" altLang="en-US" smtClean="0"/>
              <a:pPr/>
              <a:t>‹#›</a:t>
            </a:fld>
            <a:endParaRPr lang="zh-TW" altLang="en-US"/>
          </a:p>
        </p:txBody>
      </p:sp>
      <p:sp>
        <p:nvSpPr>
          <p:cNvPr id="8" name="橢圓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橢圓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內容版面配置區 2"/>
          <p:cNvSpPr>
            <a:spLocks noGrp="1"/>
          </p:cNvSpPr>
          <p:nvPr>
            <p:ph idx="1"/>
          </p:nvPr>
        </p:nvSpPr>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2026/5/10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sp>
        <p:nvSpPr>
          <p:cNvPr id="7" name="矩形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標題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zh-TW" altLang="en-US"/>
              <a:t>按一下以編輯母片標題樣式</a:t>
            </a:r>
            <a:endParaRPr kumimoji="0" lang="en-US"/>
          </a:p>
        </p:txBody>
      </p:sp>
      <p:sp>
        <p:nvSpPr>
          <p:cNvPr id="3" name="文字版面配置區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TW" altLang="en-US"/>
              <a:t>按一下以編輯母片文字樣式</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2026/5/10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
        <p:nvSpPr>
          <p:cNvPr id="10" name="矩形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橢圓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橢圓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1435608" y="274320"/>
            <a:ext cx="7498080" cy="1143000"/>
          </a:xfrm>
        </p:spPr>
        <p:txBody>
          <a:bodyPr/>
          <a:lstStyle/>
          <a:p>
            <a:r>
              <a:rPr kumimoji="0" lang="zh-TW" altLang="en-US"/>
              <a:t>按一下以編輯母片標題樣式</a:t>
            </a:r>
            <a:endParaRPr kumimoji="0" lang="en-US"/>
          </a:p>
        </p:txBody>
      </p:sp>
      <p:sp>
        <p:nvSpPr>
          <p:cNvPr id="3" name="內容版面配置區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內容版面配置區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2026/5/10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zh-TW" altLang="en-US"/>
              <a:t>按一下以編輯母片標題樣式</a:t>
            </a:r>
            <a:endParaRPr kumimoji="0" lang="en-US"/>
          </a:p>
        </p:txBody>
      </p:sp>
      <p:sp>
        <p:nvSpPr>
          <p:cNvPr id="3" name="文字版面配置區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TW" altLang="en-US"/>
              <a:t>按一下以編輯母片文字樣式</a:t>
            </a:r>
          </a:p>
        </p:txBody>
      </p:sp>
      <p:sp>
        <p:nvSpPr>
          <p:cNvPr id="4" name="文字版面配置區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TW" altLang="en-US"/>
              <a:t>按一下以編輯母片文字樣式</a:t>
            </a:r>
          </a:p>
        </p:txBody>
      </p:sp>
      <p:sp>
        <p:nvSpPr>
          <p:cNvPr id="5" name="內容版面配置區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6" name="內容版面配置區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7" name="日期版面配置區 6"/>
          <p:cNvSpPr>
            <a:spLocks noGrp="1"/>
          </p:cNvSpPr>
          <p:nvPr>
            <p:ph type="dt" sz="half" idx="10"/>
          </p:nvPr>
        </p:nvSpPr>
        <p:spPr/>
        <p:txBody>
          <a:bodyPr/>
          <a:lstStyle/>
          <a:p>
            <a:fld id="{5BBEAD13-0566-4C6C-97E7-55F17F24B09F}" type="datetimeFigureOut">
              <a:rPr lang="zh-TW" altLang="en-US" smtClean="0"/>
              <a:pPr/>
              <a:t>2026/5/10</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1435608" y="274320"/>
            <a:ext cx="7498080" cy="1143000"/>
          </a:xfrm>
        </p:spPr>
        <p:txBody>
          <a:bodyPr anchor="ctr"/>
          <a:lstStyle/>
          <a:p>
            <a:r>
              <a:rPr kumimoji="0" lang="zh-TW" altLang="en-US"/>
              <a:t>按一下以編輯母片標題樣式</a:t>
            </a:r>
            <a:endParaRPr kumimoji="0" lang="en-US"/>
          </a:p>
        </p:txBody>
      </p:sp>
      <p:sp>
        <p:nvSpPr>
          <p:cNvPr id="3" name="日期版面配置區 2"/>
          <p:cNvSpPr>
            <a:spLocks noGrp="1"/>
          </p:cNvSpPr>
          <p:nvPr>
            <p:ph type="dt" sz="half" idx="10"/>
          </p:nvPr>
        </p:nvSpPr>
        <p:spPr/>
        <p:txBody>
          <a:bodyPr/>
          <a:lstStyle/>
          <a:p>
            <a:fld id="{5BBEAD13-0566-4C6C-97E7-55F17F24B09F}" type="datetimeFigureOut">
              <a:rPr lang="zh-TW" altLang="en-US" smtClean="0"/>
              <a:pPr/>
              <a:t>2026/5/10</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矩形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日期版面配置區 1"/>
          <p:cNvSpPr>
            <a:spLocks noGrp="1"/>
          </p:cNvSpPr>
          <p:nvPr>
            <p:ph type="dt" sz="half" idx="10"/>
          </p:nvPr>
        </p:nvSpPr>
        <p:spPr/>
        <p:txBody>
          <a:bodyPr/>
          <a:lstStyle/>
          <a:p>
            <a:fld id="{5BBEAD13-0566-4C6C-97E7-55F17F24B09F}" type="datetimeFigureOut">
              <a:rPr lang="zh-TW" altLang="en-US" smtClean="0"/>
              <a:pPr/>
              <a:t>2026/5/10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
        <p:nvSpPr>
          <p:cNvPr id="6" name="矩形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zh-TW" altLang="en-US"/>
              <a:t>按一下以編輯母片標題樣式</a:t>
            </a:r>
            <a:endParaRPr kumimoji="0" lang="en-US"/>
          </a:p>
        </p:txBody>
      </p:sp>
      <p:sp>
        <p:nvSpPr>
          <p:cNvPr id="3" name="文字版面配置區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zh-TW" altLang="en-US"/>
              <a:t>按一下以編輯母片文字樣式</a:t>
            </a:r>
          </a:p>
        </p:txBody>
      </p:sp>
      <p:sp>
        <p:nvSpPr>
          <p:cNvPr id="4" name="內容版面配置區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2026/5/10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zh-TW" altLang="en-US"/>
              <a:t>按一下以編輯母片標題樣式</a:t>
            </a:r>
            <a:endParaRPr kumimoji="0" 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2026/5/10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
        <p:nvSpPr>
          <p:cNvPr id="8" name="矩形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圖片版面配置區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zh-TW" altLang="en-US"/>
              <a:t>按一下圖示以新增圖片</a:t>
            </a:r>
            <a:endParaRPr kumimoji="0" lang="en-US" dirty="0"/>
          </a:p>
        </p:txBody>
      </p:sp>
      <p:sp>
        <p:nvSpPr>
          <p:cNvPr id="9" name="流程圖: 程序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流程圖: 程序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文字版面配置區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zh-TW" altLang="en-US"/>
              <a:t>按一下以編輯母片文字樣式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2026/5/10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858000" y="274639"/>
            <a:ext cx="1828800" cy="5851525"/>
          </a:xfrm>
        </p:spPr>
        <p:txBody>
          <a:bodyPr vert="eaVert"/>
          <a:lstStyle/>
          <a:p>
            <a:r>
              <a:rPr kumimoji="0" lang="zh-TW" altLang="en-US"/>
              <a:t>按一下以編輯母片標題樣式</a:t>
            </a:r>
            <a:endParaRPr kumimoji="0" lang="en-US"/>
          </a:p>
        </p:txBody>
      </p:sp>
      <p:sp>
        <p:nvSpPr>
          <p:cNvPr id="3" name="直排文字版面配置區 2"/>
          <p:cNvSpPr>
            <a:spLocks noGrp="1"/>
          </p:cNvSpPr>
          <p:nvPr>
            <p:ph type="body" orient="vert" idx="1"/>
          </p:nvPr>
        </p:nvSpPr>
        <p:spPr>
          <a:xfrm>
            <a:off x="1143000" y="274640"/>
            <a:ext cx="5562600" cy="5851525"/>
          </a:xfrm>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2026/5/10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圓形圖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橢圓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甜甜圈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矩形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標題版面配置區 4"/>
          <p:cNvSpPr>
            <a:spLocks noGrp="1"/>
          </p:cNvSpPr>
          <p:nvPr>
            <p:ph type="title"/>
          </p:nvPr>
        </p:nvSpPr>
        <p:spPr>
          <a:xfrm>
            <a:off x="1435608" y="274638"/>
            <a:ext cx="7498080" cy="1143000"/>
          </a:xfrm>
          <a:prstGeom prst="rect">
            <a:avLst/>
          </a:prstGeom>
        </p:spPr>
        <p:txBody>
          <a:bodyPr anchor="ctr">
            <a:normAutofit/>
          </a:bodyPr>
          <a:lstStyle/>
          <a:p>
            <a:r>
              <a:rPr kumimoji="0" lang="zh-TW" altLang="en-US"/>
              <a:t>按一下以編輯母片標題樣式</a:t>
            </a:r>
            <a:endParaRPr kumimoji="0" lang="en-US"/>
          </a:p>
        </p:txBody>
      </p:sp>
      <p:sp>
        <p:nvSpPr>
          <p:cNvPr id="9" name="文字版面配置區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zh-TW" altLang="en-US"/>
              <a:t>按一下以編輯母片文字樣式</a:t>
            </a:r>
          </a:p>
          <a:p>
            <a:pPr lvl="1" eaLnBrk="1" latinLnBrk="0" hangingPunct="1"/>
            <a:r>
              <a:rPr kumimoji="0" lang="zh-TW" altLang="en-US"/>
              <a:t>第二層</a:t>
            </a:r>
          </a:p>
          <a:p>
            <a:pPr lvl="2" eaLnBrk="1" latinLnBrk="0" hangingPunct="1"/>
            <a:r>
              <a:rPr kumimoji="0" lang="zh-TW" altLang="en-US"/>
              <a:t>第三層</a:t>
            </a:r>
          </a:p>
          <a:p>
            <a:pPr lvl="3" eaLnBrk="1" latinLnBrk="0" hangingPunct="1"/>
            <a:r>
              <a:rPr kumimoji="0" lang="zh-TW" altLang="en-US"/>
              <a:t>第四層</a:t>
            </a:r>
          </a:p>
          <a:p>
            <a:pPr lvl="4" eaLnBrk="1" latinLnBrk="0" hangingPunct="1"/>
            <a:r>
              <a:rPr kumimoji="0" lang="zh-TW" altLang="en-US"/>
              <a:t>第五層</a:t>
            </a:r>
            <a:endParaRPr kumimoji="0" lang="en-US"/>
          </a:p>
        </p:txBody>
      </p:sp>
      <p:sp>
        <p:nvSpPr>
          <p:cNvPr id="24" name="日期版面配置區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5BBEAD13-0566-4C6C-97E7-55F17F24B09F}" type="datetimeFigureOut">
              <a:rPr lang="zh-TW" altLang="en-US" smtClean="0"/>
              <a:pPr/>
              <a:t>2026/5/10</a:t>
            </a:fld>
            <a:endParaRPr lang="zh-TW" altLang="en-US"/>
          </a:p>
        </p:txBody>
      </p:sp>
      <p:sp>
        <p:nvSpPr>
          <p:cNvPr id="10" name="頁尾版面配置區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zh-TW" altLang="en-US"/>
          </a:p>
        </p:txBody>
      </p:sp>
      <p:sp>
        <p:nvSpPr>
          <p:cNvPr id="22" name="投影片編號版面配置區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73DA0BB7-265A-403C-9275-D587AB510EDC}" type="slidenum">
              <a:rPr lang="zh-TW" altLang="en-US" smtClean="0"/>
              <a:pPr/>
              <a:t>‹#›</a:t>
            </a:fld>
            <a:endParaRPr lang="zh-TW" altLang="en-US"/>
          </a:p>
        </p:txBody>
      </p:sp>
      <p:sp>
        <p:nvSpPr>
          <p:cNvPr id="15" name="矩形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 Id="rId9" Type="http://schemas.openxmlformats.org/officeDocument/2006/relationships/image" Target="../media/image13.jpeg"/></Relationships>
</file>

<file path=ppt/slides/_rels/slide2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jpeg"/><Relationship Id="rId7" Type="http://schemas.openxmlformats.org/officeDocument/2006/relationships/image" Target="../media/image19.png"/><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jpeg"/><Relationship Id="rId4" Type="http://schemas.openxmlformats.org/officeDocument/2006/relationships/image" Target="../media/image16.jpeg"/></Relationships>
</file>

<file path=ppt/slides/_rels/slide2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 Id="rId5" Type="http://schemas.openxmlformats.org/officeDocument/2006/relationships/image" Target="../media/image27.jpeg"/><Relationship Id="rId4" Type="http://schemas.openxmlformats.org/officeDocument/2006/relationships/image" Target="../media/image26.jpeg"/></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30.jpeg"/></Relationships>
</file>

<file path=ppt/slides/_rels/slide2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2.xml"/><Relationship Id="rId5" Type="http://schemas.openxmlformats.org/officeDocument/2006/relationships/image" Target="../media/image36.jpeg"/><Relationship Id="rId4" Type="http://schemas.openxmlformats.org/officeDocument/2006/relationships/image" Target="../media/image35.jpeg"/></Relationships>
</file>

<file path=ppt/slides/_rels/slide3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2.xml"/><Relationship Id="rId5" Type="http://schemas.openxmlformats.org/officeDocument/2006/relationships/image" Target="../media/image40.jpeg"/><Relationship Id="rId4" Type="http://schemas.openxmlformats.org/officeDocument/2006/relationships/image" Target="../media/image39.jpeg"/></Relationships>
</file>

<file path=ppt/slides/_rels/slide3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2.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43.jpeg"/></Relationships>
</file>

<file path=ppt/slides/_rels/slide3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571604" y="2428868"/>
            <a:ext cx="6500858" cy="827083"/>
          </a:xfrm>
        </p:spPr>
        <p:txBody>
          <a:bodyPr>
            <a:noAutofit/>
          </a:bodyPr>
          <a:lstStyle/>
          <a:p>
            <a:r>
              <a:rPr lang="zh-CN" altLang="en-US" sz="5400" dirty="0">
                <a:solidFill>
                  <a:schemeClr val="tx1"/>
                </a:solidFill>
              </a:rPr>
              <a:t>群焊工艺及焊接标准</a:t>
            </a:r>
            <a:endParaRPr lang="zh-TW" altLang="en-US" sz="54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28662" y="1000116"/>
            <a:ext cx="7498080" cy="1143000"/>
          </a:xfrm>
        </p:spPr>
        <p:txBody>
          <a:bodyPr anchor="ctr">
            <a:normAutofit/>
          </a:bodyPr>
          <a:lstStyle/>
          <a:p>
            <a:r>
              <a:rPr lang="zh-CN" altLang="en-US" sz="3200" dirty="0">
                <a:solidFill>
                  <a:schemeClr val="tx1"/>
                </a:solidFill>
                <a:latin typeface="標楷體" pitchFamily="65" charset="-120"/>
                <a:ea typeface="標楷體" pitchFamily="65" charset="-120"/>
              </a:rPr>
              <a:t>一</a:t>
            </a:r>
            <a:r>
              <a:rPr lang="en-US" altLang="zh-TW" sz="3200" dirty="0">
                <a:solidFill>
                  <a:schemeClr val="tx1"/>
                </a:solidFill>
                <a:latin typeface="標楷體" pitchFamily="65" charset="-120"/>
                <a:ea typeface="標楷體" pitchFamily="65" charset="-120"/>
              </a:rPr>
              <a:t>.</a:t>
            </a:r>
            <a:r>
              <a:rPr lang="zh-CN" altLang="en-US" sz="3200" dirty="0">
                <a:solidFill>
                  <a:schemeClr val="tx1"/>
                </a:solidFill>
                <a:latin typeface="標楷體" pitchFamily="65" charset="-120"/>
                <a:ea typeface="標楷體" pitchFamily="65" charset="-120"/>
              </a:rPr>
              <a:t>无铅波峰群焊工艺及调试</a:t>
            </a:r>
            <a:endParaRPr lang="zh-TW" altLang="en-US" sz="3200" dirty="0">
              <a:solidFill>
                <a:schemeClr val="tx1"/>
              </a:solidFill>
              <a:latin typeface="標楷體" pitchFamily="65" charset="-120"/>
              <a:ea typeface="標楷體" pitchFamily="65" charset="-120"/>
            </a:endParaRPr>
          </a:p>
        </p:txBody>
      </p:sp>
      <p:sp>
        <p:nvSpPr>
          <p:cNvPr id="4" name="標題 1"/>
          <p:cNvSpPr txBox="1">
            <a:spLocks/>
          </p:cNvSpPr>
          <p:nvPr/>
        </p:nvSpPr>
        <p:spPr>
          <a:xfrm>
            <a:off x="928662" y="2286000"/>
            <a:ext cx="7498080" cy="1143000"/>
          </a:xfrm>
          <a:prstGeom prst="rect">
            <a:avLst/>
          </a:prstGeom>
        </p:spPr>
        <p:txBody>
          <a:bodyPr anchor="ctr">
            <a:normAutofit/>
          </a:bodyPr>
          <a:lstStyle/>
          <a:p>
            <a:pPr lvl="0">
              <a:spcBef>
                <a:spcPct val="0"/>
              </a:spcBef>
            </a:pPr>
            <a:r>
              <a:rPr kumimoji="0" lang="zh-CN" altLang="en-US" sz="3200" b="0" i="0" u="none" strike="noStrike" kern="1200" cap="none" spc="0" normalizeH="0" baseline="0" noProof="0" dirty="0">
                <a:ln>
                  <a:noFill/>
                </a:ln>
                <a:solidFill>
                  <a:schemeClr val="tx1"/>
                </a:solidFill>
                <a:effectLst>
                  <a:outerShdw blurRad="50000" dist="30000" dir="5400000" algn="tl" rotWithShape="0">
                    <a:srgbClr val="000000">
                      <a:alpha val="30000"/>
                    </a:srgbClr>
                  </a:outerShdw>
                </a:effectLst>
                <a:uLnTx/>
                <a:uFillTx/>
                <a:latin typeface="標楷體" pitchFamily="65" charset="-120"/>
                <a:ea typeface="標楷體" pitchFamily="65" charset="-120"/>
                <a:cs typeface="+mj-cs"/>
              </a:rPr>
              <a:t>二</a:t>
            </a:r>
            <a:r>
              <a:rPr kumimoji="0" lang="en-US" altLang="zh-TW" sz="3200" b="0" i="0" u="none" strike="noStrike" kern="1200" cap="none" spc="0" normalizeH="0" baseline="0" noProof="0" dirty="0">
                <a:ln>
                  <a:noFill/>
                </a:ln>
                <a:solidFill>
                  <a:schemeClr val="tx1"/>
                </a:solidFill>
                <a:effectLst>
                  <a:outerShdw blurRad="50000" dist="30000" dir="5400000" algn="tl" rotWithShape="0">
                    <a:srgbClr val="000000">
                      <a:alpha val="30000"/>
                    </a:srgbClr>
                  </a:outerShdw>
                </a:effectLst>
                <a:uLnTx/>
                <a:uFillTx/>
                <a:latin typeface="標楷體" pitchFamily="65" charset="-120"/>
                <a:ea typeface="標楷體" pitchFamily="65" charset="-120"/>
                <a:cs typeface="+mj-cs"/>
              </a:rPr>
              <a:t>.</a:t>
            </a:r>
            <a:r>
              <a:rPr lang="zh-TW" altLang="en-US" sz="3200" dirty="0">
                <a:effectLst>
                  <a:outerShdw blurRad="50000" dist="30000" dir="5400000" algn="tl" rotWithShape="0">
                    <a:srgbClr val="000000">
                      <a:alpha val="30000"/>
                    </a:srgbClr>
                  </a:outerShdw>
                </a:effectLst>
                <a:latin typeface="標楷體" pitchFamily="65" charset="-120"/>
                <a:ea typeface="標楷體" pitchFamily="65" charset="-120"/>
                <a:cs typeface="+mj-cs"/>
              </a:rPr>
              <a:t>波峰焊群焊</a:t>
            </a:r>
            <a:r>
              <a:rPr lang="zh-CN" altLang="en-US" sz="3200" dirty="0">
                <a:effectLst>
                  <a:outerShdw blurRad="50000" dist="30000" dir="5400000" algn="tl" rotWithShape="0">
                    <a:srgbClr val="000000">
                      <a:alpha val="30000"/>
                    </a:srgbClr>
                  </a:outerShdw>
                </a:effectLst>
                <a:latin typeface="標楷體" pitchFamily="65" charset="-120"/>
                <a:ea typeface="標楷體" pitchFamily="65" charset="-120"/>
                <a:cs typeface="+mj-cs"/>
              </a:rPr>
              <a:t>工艺温度曲线</a:t>
            </a:r>
            <a:endParaRPr lang="en-US" altLang="zh-CN" sz="3200" dirty="0">
              <a:effectLst>
                <a:outerShdw blurRad="50000" dist="30000" dir="5400000" algn="tl" rotWithShape="0">
                  <a:srgbClr val="000000">
                    <a:alpha val="30000"/>
                  </a:srgbClr>
                </a:outerShdw>
              </a:effectLst>
              <a:latin typeface="標楷體" pitchFamily="65" charset="-120"/>
              <a:ea typeface="標楷體" pitchFamily="65" charset="-120"/>
              <a:cs typeface="+mj-cs"/>
            </a:endParaRPr>
          </a:p>
          <a:p>
            <a:pPr lvl="0">
              <a:spcBef>
                <a:spcPct val="0"/>
              </a:spcBef>
            </a:pPr>
            <a:r>
              <a:rPr lang="zh-CN" altLang="en-US" sz="3200" dirty="0">
                <a:effectLst>
                  <a:outerShdw blurRad="50000" dist="30000" dir="5400000" algn="tl" rotWithShape="0">
                    <a:srgbClr val="000000">
                      <a:alpha val="30000"/>
                    </a:srgbClr>
                  </a:outerShdw>
                </a:effectLst>
                <a:latin typeface="標楷體" pitchFamily="65" charset="-120"/>
                <a:ea typeface="標楷體" pitchFamily="65" charset="-120"/>
              </a:rPr>
              <a:t>  （内容引自</a:t>
            </a:r>
            <a:r>
              <a:rPr lang="en-US" sz="3200" dirty="0">
                <a:latin typeface="標楷體" pitchFamily="65" charset="-120"/>
                <a:ea typeface="標楷體" pitchFamily="65" charset="-120"/>
              </a:rPr>
              <a:t>IPC-7530</a:t>
            </a:r>
            <a:r>
              <a:rPr lang="zh-CN" altLang="en-US" sz="3200" dirty="0">
                <a:latin typeface="標楷體" pitchFamily="65" charset="-120"/>
                <a:ea typeface="標楷體" pitchFamily="65" charset="-120"/>
              </a:rPr>
              <a:t>）</a:t>
            </a:r>
            <a:endParaRPr lang="zh-TW" altLang="en-US" sz="3200" dirty="0">
              <a:effectLst>
                <a:outerShdw blurRad="50000" dist="30000" dir="5400000" algn="tl" rotWithShape="0">
                  <a:srgbClr val="000000">
                    <a:alpha val="30000"/>
                  </a:srgbClr>
                </a:outerShdw>
              </a:effectLst>
              <a:latin typeface="標楷體" pitchFamily="65" charset="-120"/>
              <a:ea typeface="標楷體" pitchFamily="65" charset="-120"/>
              <a:cs typeface="+mj-cs"/>
            </a:endParaRPr>
          </a:p>
        </p:txBody>
      </p:sp>
      <p:sp>
        <p:nvSpPr>
          <p:cNvPr id="5" name="標題 1"/>
          <p:cNvSpPr txBox="1">
            <a:spLocks/>
          </p:cNvSpPr>
          <p:nvPr/>
        </p:nvSpPr>
        <p:spPr>
          <a:xfrm>
            <a:off x="928662" y="3571884"/>
            <a:ext cx="8072494" cy="1143000"/>
          </a:xfrm>
          <a:prstGeom prst="rect">
            <a:avLst/>
          </a:prstGeom>
        </p:spPr>
        <p:txBody>
          <a:bodyPr anchor="ctr">
            <a:noAutofit/>
          </a:bodyPr>
          <a:lstStyle/>
          <a:p>
            <a:pPr lvl="0">
              <a:spcBef>
                <a:spcPct val="0"/>
              </a:spcBef>
            </a:pPr>
            <a:r>
              <a:rPr lang="zh-CN" altLang="en-US" sz="3200" dirty="0">
                <a:effectLst>
                  <a:outerShdw blurRad="50000" dist="30000" dir="5400000" algn="tl" rotWithShape="0">
                    <a:srgbClr val="000000">
                      <a:alpha val="30000"/>
                    </a:srgbClr>
                  </a:outerShdw>
                </a:effectLst>
                <a:latin typeface="標楷體" pitchFamily="65" charset="-120"/>
                <a:ea typeface="標楷體" pitchFamily="65" charset="-120"/>
                <a:cs typeface="+mj-cs"/>
              </a:rPr>
              <a:t>三</a:t>
            </a:r>
            <a:r>
              <a:rPr kumimoji="0" lang="en-US" altLang="zh-TW" sz="3200" b="0" i="0" u="none" strike="noStrike" kern="1200" cap="none" spc="0" normalizeH="0" baseline="0" noProof="0" dirty="0">
                <a:ln>
                  <a:noFill/>
                </a:ln>
                <a:solidFill>
                  <a:schemeClr val="tx1"/>
                </a:solidFill>
                <a:effectLst>
                  <a:outerShdw blurRad="50000" dist="30000" dir="5400000" algn="tl" rotWithShape="0">
                    <a:srgbClr val="000000">
                      <a:alpha val="30000"/>
                    </a:srgbClr>
                  </a:outerShdw>
                </a:effectLst>
                <a:uLnTx/>
                <a:uFillTx/>
                <a:latin typeface="標楷體" pitchFamily="65" charset="-120"/>
                <a:ea typeface="標楷體" pitchFamily="65" charset="-120"/>
                <a:cs typeface="+mj-cs"/>
              </a:rPr>
              <a:t>.</a:t>
            </a:r>
            <a:r>
              <a:rPr lang="zh-TW" altLang="en-US" sz="3200" dirty="0">
                <a:latin typeface="標楷體" pitchFamily="65" charset="-120"/>
                <a:ea typeface="標楷體" pitchFamily="65" charset="-120"/>
              </a:rPr>
              <a:t>电子组件</a:t>
            </a:r>
            <a:r>
              <a:rPr lang="zh-CN" altLang="en-US" sz="3200" dirty="0">
                <a:latin typeface="標楷體" pitchFamily="65" charset="-120"/>
                <a:ea typeface="標楷體" pitchFamily="65" charset="-120"/>
              </a:rPr>
              <a:t>焊接</a:t>
            </a:r>
            <a:r>
              <a:rPr lang="zh-TW" altLang="en-US" sz="3200" dirty="0">
                <a:latin typeface="標楷體" pitchFamily="65" charset="-120"/>
                <a:ea typeface="標楷體" pitchFamily="65" charset="-120"/>
              </a:rPr>
              <a:t>图片说明</a:t>
            </a:r>
            <a:r>
              <a:rPr lang="zh-CN" altLang="en-US" sz="3200" dirty="0">
                <a:latin typeface="標楷體" pitchFamily="65" charset="-120"/>
                <a:ea typeface="標楷體" pitchFamily="65" charset="-120"/>
              </a:rPr>
              <a:t>与</a:t>
            </a:r>
            <a:r>
              <a:rPr lang="zh-TW" altLang="en-US" sz="3200" dirty="0">
                <a:latin typeface="標楷體" pitchFamily="65" charset="-120"/>
                <a:ea typeface="標楷體" pitchFamily="65" charset="-120"/>
              </a:rPr>
              <a:t>可接受标准</a:t>
            </a:r>
            <a:endParaRPr lang="en-US" altLang="zh-TW" sz="3200" dirty="0">
              <a:latin typeface="標楷體" pitchFamily="65" charset="-120"/>
              <a:ea typeface="標楷體" pitchFamily="65" charset="-120"/>
            </a:endParaRPr>
          </a:p>
          <a:p>
            <a:pPr lvl="0">
              <a:spcBef>
                <a:spcPct val="0"/>
              </a:spcBef>
            </a:pPr>
            <a:r>
              <a:rPr lang="en-US" altLang="zh-TW" sz="3200" dirty="0">
                <a:effectLst>
                  <a:outerShdw blurRad="50000" dist="30000" dir="5400000" algn="tl" rotWithShape="0">
                    <a:srgbClr val="000000">
                      <a:alpha val="30000"/>
                    </a:srgbClr>
                  </a:outerShdw>
                </a:effectLst>
                <a:latin typeface="標楷體" pitchFamily="65" charset="-120"/>
                <a:ea typeface="標楷體" pitchFamily="65" charset="-120"/>
                <a:cs typeface="+mj-cs"/>
              </a:rPr>
              <a:t>   </a:t>
            </a:r>
            <a:r>
              <a:rPr lang="zh-CN" altLang="en-US" sz="3200" dirty="0">
                <a:effectLst>
                  <a:outerShdw blurRad="50000" dist="30000" dir="5400000" algn="tl" rotWithShape="0">
                    <a:srgbClr val="000000">
                      <a:alpha val="30000"/>
                    </a:srgbClr>
                  </a:outerShdw>
                </a:effectLst>
                <a:latin typeface="標楷體" pitchFamily="65" charset="-120"/>
                <a:ea typeface="標楷體" pitchFamily="65" charset="-120"/>
                <a:cs typeface="+mj-cs"/>
              </a:rPr>
              <a:t>（内容引自</a:t>
            </a:r>
            <a:r>
              <a:rPr lang="en-US" sz="3200" dirty="0">
                <a:latin typeface="標楷體" pitchFamily="65" charset="-120"/>
                <a:ea typeface="標楷體" pitchFamily="65" charset="-120"/>
              </a:rPr>
              <a:t>IPC-A-610</a:t>
            </a:r>
            <a:r>
              <a:rPr lang="zh-CN" altLang="en-US" sz="3200" dirty="0">
                <a:latin typeface="標楷體" pitchFamily="65" charset="-120"/>
                <a:ea typeface="標楷體" pitchFamily="65" charset="-120"/>
              </a:rPr>
              <a:t>）</a:t>
            </a:r>
            <a:endParaRPr lang="zh-TW" altLang="en-US" sz="3200" dirty="0">
              <a:effectLst>
                <a:outerShdw blurRad="50000" dist="30000" dir="5400000" algn="tl" rotWithShape="0">
                  <a:srgbClr val="000000">
                    <a:alpha val="30000"/>
                  </a:srgbClr>
                </a:outerShdw>
              </a:effectLst>
              <a:latin typeface="標楷體" pitchFamily="65" charset="-120"/>
              <a:ea typeface="標楷體" pitchFamily="65" charset="-120"/>
              <a:cs typeface="+mj-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l="8488" t="-93" r="12447" b="13217"/>
          <a:stretch>
            <a:fillRect/>
          </a:stretch>
        </p:blipFill>
        <p:spPr bwMode="auto">
          <a:xfrm>
            <a:off x="1428728" y="1714488"/>
            <a:ext cx="7000924" cy="4807863"/>
          </a:xfrm>
          <a:prstGeom prst="rect">
            <a:avLst/>
          </a:prstGeom>
          <a:noFill/>
          <a:ln w="9525">
            <a:noFill/>
            <a:miter lim="800000"/>
            <a:headEnd/>
            <a:tailEnd/>
          </a:ln>
          <a:effectLst/>
        </p:spPr>
      </p:pic>
      <p:sp>
        <p:nvSpPr>
          <p:cNvPr id="5" name="標題 1"/>
          <p:cNvSpPr>
            <a:spLocks noGrp="1"/>
          </p:cNvSpPr>
          <p:nvPr>
            <p:ph type="title"/>
          </p:nvPr>
        </p:nvSpPr>
        <p:spPr>
          <a:xfrm>
            <a:off x="1428728" y="928670"/>
            <a:ext cx="7498080" cy="928686"/>
          </a:xfrm>
        </p:spPr>
        <p:txBody>
          <a:bodyPr anchor="ctr">
            <a:noAutofit/>
          </a:bodyPr>
          <a:lstStyle/>
          <a:p>
            <a:r>
              <a:rPr lang="en-US" altLang="zh-CN" sz="3600" dirty="0">
                <a:solidFill>
                  <a:schemeClr val="tx1"/>
                </a:solidFill>
                <a:latin typeface="標楷體" pitchFamily="65" charset="-120"/>
                <a:ea typeface="標楷體" pitchFamily="65" charset="-120"/>
              </a:rPr>
              <a:t>1</a:t>
            </a:r>
            <a:r>
              <a:rPr lang="en-US" altLang="zh-TW" sz="3600" dirty="0">
                <a:solidFill>
                  <a:schemeClr val="tx1"/>
                </a:solidFill>
                <a:latin typeface="標楷體" pitchFamily="65" charset="-120"/>
                <a:ea typeface="標楷體" pitchFamily="65" charset="-120"/>
              </a:rPr>
              <a:t>.</a:t>
            </a:r>
            <a:r>
              <a:rPr lang="zh-CN" altLang="en-US" sz="3600" dirty="0">
                <a:solidFill>
                  <a:schemeClr val="tx1"/>
                </a:solidFill>
                <a:latin typeface="標楷體" pitchFamily="65" charset="-120"/>
                <a:ea typeface="標楷體" pitchFamily="65" charset="-120"/>
              </a:rPr>
              <a:t>波峰焊接工艺流程</a:t>
            </a:r>
            <a:endParaRPr lang="en-US" altLang="zh-CN" sz="3600" dirty="0">
              <a:solidFill>
                <a:schemeClr val="tx1"/>
              </a:solidFill>
              <a:latin typeface="標楷體" pitchFamily="65" charset="-120"/>
              <a:ea typeface="標楷體" pitchFamily="65" charset="-120"/>
            </a:endParaRPr>
          </a:p>
        </p:txBody>
      </p:sp>
      <p:sp>
        <p:nvSpPr>
          <p:cNvPr id="7" name="標題 1"/>
          <p:cNvSpPr txBox="1">
            <a:spLocks/>
          </p:cNvSpPr>
          <p:nvPr/>
        </p:nvSpPr>
        <p:spPr>
          <a:xfrm>
            <a:off x="928662" y="214290"/>
            <a:ext cx="7786742" cy="928710"/>
          </a:xfrm>
          <a:prstGeom prst="rect">
            <a:avLst/>
          </a:prstGeom>
        </p:spPr>
        <p:txBody>
          <a:bodyPr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4000" b="0" i="0" u="none" strike="noStrike" kern="1200" cap="none" spc="0" normalizeH="0" baseline="0" noProof="0" dirty="0">
                <a:ln>
                  <a:noFill/>
                </a:ln>
                <a:solidFill>
                  <a:schemeClr val="tx1"/>
                </a:solidFill>
                <a:effectLst>
                  <a:outerShdw blurRad="50000" dist="30000" dir="5400000" algn="tl" rotWithShape="0">
                    <a:srgbClr val="000000">
                      <a:alpha val="30000"/>
                    </a:srgbClr>
                  </a:outerShdw>
                </a:effectLst>
                <a:uLnTx/>
                <a:uFillTx/>
                <a:latin typeface="標楷體" pitchFamily="65" charset="-120"/>
                <a:ea typeface="標楷體" pitchFamily="65" charset="-120"/>
                <a:cs typeface="+mj-cs"/>
              </a:rPr>
              <a:t>一</a:t>
            </a:r>
            <a:r>
              <a:rPr kumimoji="0" lang="en-US" altLang="zh-TW" sz="4000" b="0" i="0" u="none" strike="noStrike" kern="1200" cap="none" spc="0" normalizeH="0" baseline="0" noProof="0" dirty="0">
                <a:ln>
                  <a:noFill/>
                </a:ln>
                <a:solidFill>
                  <a:schemeClr val="tx1"/>
                </a:solidFill>
                <a:effectLst>
                  <a:outerShdw blurRad="50000" dist="30000" dir="5400000" algn="tl" rotWithShape="0">
                    <a:srgbClr val="000000">
                      <a:alpha val="30000"/>
                    </a:srgbClr>
                  </a:outerShdw>
                </a:effectLst>
                <a:uLnTx/>
                <a:uFillTx/>
                <a:latin typeface="標楷體" pitchFamily="65" charset="-120"/>
                <a:ea typeface="標楷體" pitchFamily="65" charset="-120"/>
                <a:cs typeface="+mj-cs"/>
              </a:rPr>
              <a:t>.</a:t>
            </a:r>
            <a:r>
              <a:rPr kumimoji="0" lang="zh-CN" altLang="en-US" sz="4000" b="0" i="0" u="none" strike="noStrike" kern="1200" cap="none" spc="0" normalizeH="0" baseline="0" noProof="0" dirty="0">
                <a:ln>
                  <a:noFill/>
                </a:ln>
                <a:solidFill>
                  <a:schemeClr val="tx1"/>
                </a:solidFill>
                <a:effectLst>
                  <a:outerShdw blurRad="50000" dist="30000" dir="5400000" algn="tl" rotWithShape="0">
                    <a:srgbClr val="000000">
                      <a:alpha val="30000"/>
                    </a:srgbClr>
                  </a:outerShdw>
                </a:effectLst>
                <a:uLnTx/>
                <a:uFillTx/>
                <a:latin typeface="標楷體" pitchFamily="65" charset="-120"/>
                <a:ea typeface="標楷體" pitchFamily="65" charset="-120"/>
                <a:cs typeface="+mj-cs"/>
              </a:rPr>
              <a:t>无铅波峰群焊工艺及调试</a:t>
            </a:r>
            <a:endParaRPr kumimoji="0" lang="zh-TW" altLang="en-US" sz="4000" b="0" i="0" u="none" strike="noStrike" kern="1200" cap="none" spc="0" normalizeH="0" baseline="0" noProof="0" dirty="0">
              <a:ln>
                <a:noFill/>
              </a:ln>
              <a:solidFill>
                <a:schemeClr val="tx1"/>
              </a:solidFill>
              <a:effectLst>
                <a:outerShdw blurRad="50000" dist="30000" dir="5400000" algn="tl" rotWithShape="0">
                  <a:srgbClr val="000000">
                    <a:alpha val="30000"/>
                  </a:srgbClr>
                </a:outerShdw>
              </a:effectLst>
              <a:uLnTx/>
              <a:uFillTx/>
              <a:latin typeface="標楷體" pitchFamily="65" charset="-120"/>
              <a:ea typeface="標楷體" pitchFamily="65" charset="-120"/>
              <a:cs typeface="+mj-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00100" y="274638"/>
            <a:ext cx="7498080" cy="1143000"/>
          </a:xfrm>
        </p:spPr>
        <p:txBody>
          <a:bodyPr>
            <a:noAutofit/>
          </a:bodyPr>
          <a:lstStyle/>
          <a:p>
            <a:r>
              <a:rPr lang="en-US" altLang="zh-CN" sz="3600" dirty="0">
                <a:solidFill>
                  <a:schemeClr val="tx1"/>
                </a:solidFill>
                <a:latin typeface="標楷體" pitchFamily="65" charset="-120"/>
                <a:ea typeface="標楷體" pitchFamily="65" charset="-120"/>
              </a:rPr>
              <a:t>2</a:t>
            </a:r>
            <a:r>
              <a:rPr lang="en-US" altLang="zh-TW" sz="3600" dirty="0">
                <a:solidFill>
                  <a:schemeClr val="tx1"/>
                </a:solidFill>
                <a:latin typeface="標楷體" pitchFamily="65" charset="-120"/>
                <a:ea typeface="標楷體" pitchFamily="65" charset="-120"/>
              </a:rPr>
              <a:t>.</a:t>
            </a:r>
            <a:r>
              <a:rPr lang="zh-CN" altLang="en-US" sz="3600" dirty="0">
                <a:solidFill>
                  <a:schemeClr val="tx1"/>
                </a:solidFill>
                <a:latin typeface="標楷體" pitchFamily="65" charset="-120"/>
                <a:ea typeface="標楷體" pitchFamily="65" charset="-120"/>
              </a:rPr>
              <a:t>机 体 水 平</a:t>
            </a:r>
            <a:endParaRPr lang="en-US" altLang="zh-CN" sz="3600" dirty="0">
              <a:solidFill>
                <a:schemeClr val="tx1"/>
              </a:solidFill>
              <a:latin typeface="標楷體" pitchFamily="65" charset="-120"/>
              <a:ea typeface="標楷體" pitchFamily="65" charset="-120"/>
            </a:endParaRPr>
          </a:p>
        </p:txBody>
      </p:sp>
      <p:sp>
        <p:nvSpPr>
          <p:cNvPr id="5" name="標題 1"/>
          <p:cNvSpPr txBox="1">
            <a:spLocks/>
          </p:cNvSpPr>
          <p:nvPr/>
        </p:nvSpPr>
        <p:spPr>
          <a:xfrm>
            <a:off x="1428728" y="1285860"/>
            <a:ext cx="7498080" cy="3500462"/>
          </a:xfrm>
          <a:prstGeom prst="rect">
            <a:avLst/>
          </a:prstGeom>
        </p:spPr>
        <p:txBody>
          <a:bodyPr anchor="t">
            <a:noAutofit/>
          </a:bodyPr>
          <a:lstStyle/>
          <a:p>
            <a:pPr marL="274320" indent="-274320" algn="just">
              <a:spcBef>
                <a:spcPts val="580"/>
              </a:spcBef>
              <a:buFont typeface="Wingdings 2"/>
              <a:buChar char=""/>
              <a:defRPr/>
            </a:pPr>
            <a:r>
              <a:rPr lang="zh-CN" altLang="en-US" sz="2400" dirty="0">
                <a:latin typeface="標楷體" pitchFamily="65" charset="-120"/>
                <a:ea typeface="標楷體" pitchFamily="65" charset="-120"/>
              </a:rPr>
              <a:t>机体水平</a:t>
            </a:r>
          </a:p>
          <a:p>
            <a:pPr marL="274320" indent="-274320" algn="just">
              <a:spcBef>
                <a:spcPts val="580"/>
              </a:spcBef>
              <a:defRPr/>
            </a:pPr>
            <a:r>
              <a:rPr lang="zh-CN" altLang="en-US" sz="2400" dirty="0">
                <a:latin typeface="標楷體" pitchFamily="65" charset="-120"/>
                <a:ea typeface="標楷體" pitchFamily="65" charset="-120"/>
              </a:rPr>
              <a:t>     机器的水平是整台机器正常工作的基础，机器的前后水平直接决定轨道的水平，虽然可以通过调节轨道丝杆架调平轨道，但可能使轨道角度调节丝杆因前后端受力不均匀而导致轨道升降不同步。在此情况下调节角度，最终导致</a:t>
            </a:r>
            <a:r>
              <a:rPr lang="en-US" altLang="zh-CN" sz="2400" dirty="0">
                <a:latin typeface="標楷體" pitchFamily="65" charset="-120"/>
                <a:ea typeface="標楷體" pitchFamily="65" charset="-120"/>
              </a:rPr>
              <a:t>PCB</a:t>
            </a:r>
            <a:r>
              <a:rPr lang="zh-CN" altLang="en-US" sz="2400" dirty="0">
                <a:latin typeface="標楷體" pitchFamily="65" charset="-120"/>
                <a:ea typeface="標楷體" pitchFamily="65" charset="-120"/>
              </a:rPr>
              <a:t>板浸锡的高度不一致而产生焊接不良。</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00100" y="274638"/>
            <a:ext cx="7498080" cy="1143000"/>
          </a:xfrm>
        </p:spPr>
        <p:txBody>
          <a:bodyPr anchor="ctr">
            <a:noAutofit/>
          </a:bodyPr>
          <a:lstStyle/>
          <a:p>
            <a:pPr lvl="0"/>
            <a:r>
              <a:rPr lang="en-US" altLang="zh-TW" sz="3600" dirty="0">
                <a:solidFill>
                  <a:schemeClr val="tx1"/>
                </a:solidFill>
                <a:latin typeface="標楷體" pitchFamily="65" charset="-120"/>
                <a:ea typeface="標楷體" pitchFamily="65" charset="-120"/>
              </a:rPr>
              <a:t>3</a:t>
            </a:r>
            <a:r>
              <a:rPr lang="en-US" altLang="zh-CN" sz="3600" dirty="0">
                <a:solidFill>
                  <a:schemeClr val="tx1"/>
                </a:solidFill>
                <a:latin typeface="標楷體" pitchFamily="65" charset="-120"/>
                <a:ea typeface="標楷體" pitchFamily="65" charset="-120"/>
              </a:rPr>
              <a:t>.</a:t>
            </a:r>
            <a:r>
              <a:rPr lang="zh-CN" altLang="en-US" sz="3600" dirty="0">
                <a:solidFill>
                  <a:schemeClr val="tx1"/>
                </a:solidFill>
                <a:latin typeface="標楷體" pitchFamily="65" charset="-120"/>
                <a:ea typeface="標楷體" pitchFamily="65" charset="-120"/>
              </a:rPr>
              <a:t>轨 道 水 平</a:t>
            </a:r>
            <a:endParaRPr lang="en-US" altLang="zh-CN" sz="3600" dirty="0">
              <a:solidFill>
                <a:schemeClr val="tx1"/>
              </a:solidFill>
              <a:latin typeface="標楷體" pitchFamily="65" charset="-120"/>
              <a:ea typeface="標楷體" pitchFamily="65" charset="-120"/>
            </a:endParaRPr>
          </a:p>
        </p:txBody>
      </p:sp>
      <p:sp>
        <p:nvSpPr>
          <p:cNvPr id="5" name="標題 1"/>
          <p:cNvSpPr txBox="1">
            <a:spLocks/>
          </p:cNvSpPr>
          <p:nvPr/>
        </p:nvSpPr>
        <p:spPr>
          <a:xfrm>
            <a:off x="1285852" y="1142984"/>
            <a:ext cx="7715304" cy="5429288"/>
          </a:xfrm>
          <a:prstGeom prst="rect">
            <a:avLst/>
          </a:prstGeom>
        </p:spPr>
        <p:txBody>
          <a:bodyPr anchor="t">
            <a:noAutofit/>
          </a:bodyPr>
          <a:lstStyle/>
          <a:p>
            <a:pPr marL="274320" indent="-274320" algn="just">
              <a:spcBef>
                <a:spcPts val="580"/>
              </a:spcBef>
              <a:buFont typeface="Wingdings 2"/>
              <a:buChar char=""/>
              <a:defRPr/>
            </a:pPr>
            <a:r>
              <a:rPr lang="zh-CN" altLang="en-US" sz="2400" dirty="0">
                <a:latin typeface="標楷體" pitchFamily="65" charset="-120"/>
                <a:ea typeface="標楷體" pitchFamily="65" charset="-120"/>
              </a:rPr>
              <a:t>轨道水平</a:t>
            </a:r>
          </a:p>
          <a:p>
            <a:pPr marL="274320" indent="-274320" algn="just">
              <a:spcBef>
                <a:spcPts val="580"/>
              </a:spcBef>
              <a:defRPr/>
            </a:pPr>
            <a:r>
              <a:rPr lang="zh-CN" altLang="en-US" sz="2400" dirty="0">
                <a:latin typeface="標楷體" pitchFamily="65" charset="-120"/>
                <a:ea typeface="標楷體" pitchFamily="65" charset="-120"/>
              </a:rPr>
              <a:t>     工作中如果轨道不平行，整套机械传动装置装处于倾斜状态，也就是说整套机械运作倾斜。那么由于各处受力不均匀，将使受力大的部位摩擦力变大，从而导致运输产生抖动。严重的将可能使传动轴由于扭力过大而断裂。另一方面由于锡槽需在水平状态下才能保证波峰前后的水平度，这样又将使</a:t>
            </a:r>
            <a:r>
              <a:rPr lang="en-US" altLang="zh-CN" sz="2400" dirty="0">
                <a:latin typeface="標楷體" pitchFamily="65" charset="-120"/>
                <a:ea typeface="標楷體" pitchFamily="65" charset="-120"/>
              </a:rPr>
              <a:t>PCB</a:t>
            </a:r>
            <a:r>
              <a:rPr lang="zh-CN" altLang="en-US" sz="2400" dirty="0">
                <a:latin typeface="標楷體" pitchFamily="65" charset="-120"/>
                <a:ea typeface="標楷體" pitchFamily="65" charset="-120"/>
              </a:rPr>
              <a:t>在过波峰时出现左右吃锡高度不一致的情况。退一步来讲即使在轨道倾斜的状态下能使波峰前后高度与轨道匹配，但锡槽肯定会出现前后端高度不一致，这样锡波在流出喷口以后受重力影响将会在锡波表面出现横流。而运输抖动，波峰的不平稳都是焊接不良产生的根本原因</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00100" y="274638"/>
            <a:ext cx="7498080" cy="939784"/>
          </a:xfrm>
        </p:spPr>
        <p:txBody>
          <a:bodyPr anchor="ctr">
            <a:noAutofit/>
          </a:bodyPr>
          <a:lstStyle/>
          <a:p>
            <a:pPr marL="274320" indent="-274320">
              <a:lnSpc>
                <a:spcPct val="80000"/>
              </a:lnSpc>
              <a:defRPr/>
            </a:pPr>
            <a:r>
              <a:rPr lang="en-US" altLang="zh-TW" sz="3600" dirty="0">
                <a:solidFill>
                  <a:schemeClr val="tx1"/>
                </a:solidFill>
                <a:latin typeface="標楷體" pitchFamily="65" charset="-120"/>
                <a:ea typeface="標楷體" pitchFamily="65" charset="-120"/>
              </a:rPr>
              <a:t>4</a:t>
            </a:r>
            <a:r>
              <a:rPr lang="en-US" altLang="zh-CN" sz="3600" dirty="0">
                <a:solidFill>
                  <a:schemeClr val="tx1"/>
                </a:solidFill>
                <a:latin typeface="標楷體" pitchFamily="65" charset="-120"/>
                <a:ea typeface="標楷體" pitchFamily="65" charset="-120"/>
              </a:rPr>
              <a:t>.</a:t>
            </a:r>
            <a:r>
              <a:rPr lang="zh-CN" altLang="en-US" sz="3600" dirty="0">
                <a:solidFill>
                  <a:schemeClr val="tx1"/>
                </a:solidFill>
                <a:latin typeface="標楷體" pitchFamily="65" charset="-120"/>
                <a:ea typeface="標楷體" pitchFamily="65" charset="-120"/>
              </a:rPr>
              <a:t>锡槽水平</a:t>
            </a:r>
          </a:p>
        </p:txBody>
      </p:sp>
      <p:sp>
        <p:nvSpPr>
          <p:cNvPr id="5" name="標題 1"/>
          <p:cNvSpPr txBox="1">
            <a:spLocks/>
          </p:cNvSpPr>
          <p:nvPr/>
        </p:nvSpPr>
        <p:spPr>
          <a:xfrm>
            <a:off x="1285852" y="1142984"/>
            <a:ext cx="7715304" cy="3000396"/>
          </a:xfrm>
          <a:prstGeom prst="rect">
            <a:avLst/>
          </a:prstGeom>
        </p:spPr>
        <p:txBody>
          <a:bodyPr anchor="t">
            <a:noAutofit/>
          </a:bodyPr>
          <a:lstStyle/>
          <a:p>
            <a:pPr marL="274320" indent="-274320" algn="just">
              <a:lnSpc>
                <a:spcPct val="80000"/>
              </a:lnSpc>
              <a:spcBef>
                <a:spcPts val="580"/>
              </a:spcBef>
              <a:buFont typeface="Wingdings 2"/>
              <a:buChar char=""/>
              <a:defRPr/>
            </a:pPr>
            <a:r>
              <a:rPr lang="zh-CN" altLang="en-US" sz="2400" dirty="0">
                <a:latin typeface="標楷體" pitchFamily="65" charset="-120"/>
                <a:ea typeface="標楷體" pitchFamily="65" charset="-120"/>
              </a:rPr>
              <a:t>锡槽水平</a:t>
            </a:r>
          </a:p>
          <a:p>
            <a:pPr marL="274320" indent="-274320" algn="just">
              <a:lnSpc>
                <a:spcPct val="80000"/>
              </a:lnSpc>
              <a:spcBef>
                <a:spcPts val="580"/>
              </a:spcBef>
              <a:defRPr/>
            </a:pPr>
            <a:r>
              <a:rPr lang="zh-CN" altLang="en-US" sz="2400" dirty="0">
                <a:latin typeface="標楷體" pitchFamily="65" charset="-120"/>
                <a:ea typeface="標楷體" pitchFamily="65" charset="-120"/>
              </a:rPr>
              <a:t>     锡槽的水平直接影响波峰前后的高度，低的一端波峰高，高的一端波峰较低，同时也会改变锡波的流动方向。机体水平、轨道水平、锡槽水平三者是一个整体，任何一个环节的故障必将影响其它两个环节，最终将影响到整个炉子的焊板品质。对于一些设计简单</a:t>
            </a:r>
            <a:r>
              <a:rPr lang="en-US" altLang="zh-CN" sz="2400" dirty="0">
                <a:latin typeface="標楷體" pitchFamily="65" charset="-120"/>
                <a:ea typeface="標楷體" pitchFamily="65" charset="-120"/>
              </a:rPr>
              <a:t>PCB</a:t>
            </a:r>
            <a:r>
              <a:rPr lang="zh-CN" altLang="en-US" sz="2400" dirty="0">
                <a:latin typeface="標楷體" pitchFamily="65" charset="-120"/>
                <a:ea typeface="標楷體" pitchFamily="65" charset="-120"/>
              </a:rPr>
              <a:t>来讲，以上条件影响可能不大，但对于设计复杂的</a:t>
            </a:r>
            <a:r>
              <a:rPr lang="en-US" altLang="zh-CN" sz="2400" dirty="0">
                <a:latin typeface="標楷體" pitchFamily="65" charset="-120"/>
                <a:ea typeface="標楷體" pitchFamily="65" charset="-120"/>
              </a:rPr>
              <a:t>PCB</a:t>
            </a:r>
            <a:r>
              <a:rPr lang="zh-CN" altLang="en-US" sz="2400" dirty="0">
                <a:latin typeface="標楷體" pitchFamily="65" charset="-120"/>
                <a:ea typeface="標楷體" pitchFamily="65" charset="-120"/>
              </a:rPr>
              <a:t>来讲，任何一个细微的环节都将会影响到整个生产过程。</a:t>
            </a:r>
          </a:p>
          <a:p>
            <a:pPr marL="274320" indent="-274320" algn="just">
              <a:lnSpc>
                <a:spcPct val="80000"/>
              </a:lnSpc>
              <a:spcBef>
                <a:spcPts val="580"/>
              </a:spcBef>
              <a:defRPr/>
            </a:pPr>
            <a:r>
              <a:rPr lang="zh-CN" altLang="en-US" sz="2400" dirty="0">
                <a:latin typeface="標楷體" pitchFamily="65" charset="-120"/>
                <a:ea typeface="標楷體" pitchFamily="65" charset="-120"/>
              </a:rPr>
              <a:t> </a:t>
            </a:r>
          </a:p>
        </p:txBody>
      </p:sp>
      <p:grpSp>
        <p:nvGrpSpPr>
          <p:cNvPr id="4" name="Group 18"/>
          <p:cNvGrpSpPr>
            <a:grpSpLocks/>
          </p:cNvGrpSpPr>
          <p:nvPr/>
        </p:nvGrpSpPr>
        <p:grpSpPr bwMode="auto">
          <a:xfrm>
            <a:off x="1763713" y="4292600"/>
            <a:ext cx="6629400" cy="1905000"/>
            <a:chOff x="431" y="2659"/>
            <a:chExt cx="4176" cy="1200"/>
          </a:xfrm>
        </p:grpSpPr>
        <p:sp>
          <p:nvSpPr>
            <p:cNvPr id="6" name="Line 10"/>
            <p:cNvSpPr>
              <a:spLocks noChangeShapeType="1"/>
            </p:cNvSpPr>
            <p:nvPr/>
          </p:nvSpPr>
          <p:spPr bwMode="auto">
            <a:xfrm flipV="1">
              <a:off x="1440" y="2736"/>
              <a:ext cx="1920" cy="192"/>
            </a:xfrm>
            <a:prstGeom prst="line">
              <a:avLst/>
            </a:prstGeom>
            <a:noFill/>
            <a:ln w="9525">
              <a:solidFill>
                <a:srgbClr val="FF0000"/>
              </a:solidFill>
              <a:round/>
              <a:headEnd/>
              <a:tailEnd type="triangle" w="med" len="med"/>
            </a:ln>
          </p:spPr>
          <p:txBody>
            <a:bodyPr/>
            <a:lstStyle/>
            <a:p>
              <a:endParaRPr lang="zh-TW" altLang="en-US"/>
            </a:p>
          </p:txBody>
        </p:sp>
        <p:grpSp>
          <p:nvGrpSpPr>
            <p:cNvPr id="7" name="Group 17"/>
            <p:cNvGrpSpPr>
              <a:grpSpLocks/>
            </p:cNvGrpSpPr>
            <p:nvPr/>
          </p:nvGrpSpPr>
          <p:grpSpPr bwMode="auto">
            <a:xfrm>
              <a:off x="431" y="2659"/>
              <a:ext cx="4176" cy="1200"/>
              <a:chOff x="240" y="2640"/>
              <a:chExt cx="4176" cy="1200"/>
            </a:xfrm>
          </p:grpSpPr>
          <p:sp>
            <p:nvSpPr>
              <p:cNvPr id="8" name="Rectangle 2"/>
              <p:cNvSpPr>
                <a:spLocks noChangeArrowheads="1"/>
              </p:cNvSpPr>
              <p:nvPr/>
            </p:nvSpPr>
            <p:spPr bwMode="auto">
              <a:xfrm>
                <a:off x="2748" y="2976"/>
                <a:ext cx="264" cy="48"/>
              </a:xfrm>
              <a:prstGeom prst="rect">
                <a:avLst/>
              </a:prstGeom>
              <a:solidFill>
                <a:schemeClr val="accent1"/>
              </a:solidFill>
              <a:ln w="9525">
                <a:solidFill>
                  <a:schemeClr val="tx1"/>
                </a:solidFill>
                <a:miter lim="800000"/>
                <a:headEnd/>
                <a:tailEnd/>
              </a:ln>
            </p:spPr>
            <p:txBody>
              <a:bodyPr wrap="none" anchor="ctr"/>
              <a:lstStyle/>
              <a:p>
                <a:endParaRPr lang="zh-TW" altLang="en-US"/>
              </a:p>
            </p:txBody>
          </p:sp>
          <p:sp>
            <p:nvSpPr>
              <p:cNvPr id="9" name="Rectangle 3"/>
              <p:cNvSpPr>
                <a:spLocks noChangeArrowheads="1"/>
              </p:cNvSpPr>
              <p:nvPr/>
            </p:nvSpPr>
            <p:spPr bwMode="auto">
              <a:xfrm>
                <a:off x="1344" y="2976"/>
                <a:ext cx="1440" cy="144"/>
              </a:xfrm>
              <a:prstGeom prst="rect">
                <a:avLst/>
              </a:prstGeom>
              <a:solidFill>
                <a:schemeClr val="accent1"/>
              </a:solidFill>
              <a:ln w="9525">
                <a:solidFill>
                  <a:schemeClr val="tx1"/>
                </a:solidFill>
                <a:miter lim="800000"/>
                <a:headEnd/>
                <a:tailEnd/>
              </a:ln>
            </p:spPr>
            <p:txBody>
              <a:bodyPr wrap="none" anchor="ctr"/>
              <a:lstStyle/>
              <a:p>
                <a:endParaRPr lang="zh-TW" altLang="en-US"/>
              </a:p>
            </p:txBody>
          </p:sp>
          <p:sp>
            <p:nvSpPr>
              <p:cNvPr id="10" name="Rectangle 6"/>
              <p:cNvSpPr>
                <a:spLocks noChangeArrowheads="1"/>
              </p:cNvSpPr>
              <p:nvPr/>
            </p:nvSpPr>
            <p:spPr bwMode="auto">
              <a:xfrm>
                <a:off x="1156" y="3113"/>
                <a:ext cx="1968" cy="720"/>
              </a:xfrm>
              <a:prstGeom prst="rect">
                <a:avLst/>
              </a:prstGeom>
              <a:solidFill>
                <a:schemeClr val="accent2"/>
              </a:solidFill>
              <a:ln w="9525">
                <a:solidFill>
                  <a:schemeClr val="tx1"/>
                </a:solidFill>
                <a:miter lim="800000"/>
                <a:headEnd/>
                <a:tailEnd/>
              </a:ln>
            </p:spPr>
            <p:txBody>
              <a:bodyPr wrap="none" anchor="ctr"/>
              <a:lstStyle/>
              <a:p>
                <a:endParaRPr lang="zh-TW" altLang="en-US"/>
              </a:p>
            </p:txBody>
          </p:sp>
          <p:sp>
            <p:nvSpPr>
              <p:cNvPr id="11" name="Freeform 7"/>
              <p:cNvSpPr>
                <a:spLocks/>
              </p:cNvSpPr>
              <p:nvPr/>
            </p:nvSpPr>
            <p:spPr bwMode="auto">
              <a:xfrm>
                <a:off x="1392" y="2920"/>
                <a:ext cx="1296" cy="56"/>
              </a:xfrm>
              <a:custGeom>
                <a:avLst/>
                <a:gdLst>
                  <a:gd name="T0" fmla="*/ 0 w 1296"/>
                  <a:gd name="T1" fmla="*/ 56 h 56"/>
                  <a:gd name="T2" fmla="*/ 240 w 1296"/>
                  <a:gd name="T3" fmla="*/ 8 h 56"/>
                  <a:gd name="T4" fmla="*/ 1104 w 1296"/>
                  <a:gd name="T5" fmla="*/ 8 h 56"/>
                  <a:gd name="T6" fmla="*/ 1296 w 1296"/>
                  <a:gd name="T7" fmla="*/ 56 h 56"/>
                  <a:gd name="T8" fmla="*/ 0 60000 65536"/>
                  <a:gd name="T9" fmla="*/ 0 60000 65536"/>
                  <a:gd name="T10" fmla="*/ 0 60000 65536"/>
                  <a:gd name="T11" fmla="*/ 0 60000 65536"/>
                  <a:gd name="T12" fmla="*/ 0 w 1296"/>
                  <a:gd name="T13" fmla="*/ 0 h 56"/>
                  <a:gd name="T14" fmla="*/ 1296 w 1296"/>
                  <a:gd name="T15" fmla="*/ 56 h 56"/>
                </a:gdLst>
                <a:ahLst/>
                <a:cxnLst>
                  <a:cxn ang="T8">
                    <a:pos x="T0" y="T1"/>
                  </a:cxn>
                  <a:cxn ang="T9">
                    <a:pos x="T2" y="T3"/>
                  </a:cxn>
                  <a:cxn ang="T10">
                    <a:pos x="T4" y="T5"/>
                  </a:cxn>
                  <a:cxn ang="T11">
                    <a:pos x="T6" y="T7"/>
                  </a:cxn>
                </a:cxnLst>
                <a:rect l="T12" t="T13" r="T14" b="T15"/>
                <a:pathLst>
                  <a:path w="1296" h="56">
                    <a:moveTo>
                      <a:pt x="0" y="56"/>
                    </a:moveTo>
                    <a:cubicBezTo>
                      <a:pt x="28" y="36"/>
                      <a:pt x="56" y="16"/>
                      <a:pt x="240" y="8"/>
                    </a:cubicBezTo>
                    <a:cubicBezTo>
                      <a:pt x="424" y="0"/>
                      <a:pt x="928" y="0"/>
                      <a:pt x="1104" y="8"/>
                    </a:cubicBezTo>
                    <a:cubicBezTo>
                      <a:pt x="1280" y="16"/>
                      <a:pt x="1288" y="36"/>
                      <a:pt x="1296" y="56"/>
                    </a:cubicBezTo>
                  </a:path>
                </a:pathLst>
              </a:custGeom>
              <a:solidFill>
                <a:schemeClr val="accent2"/>
              </a:solidFill>
              <a:ln w="9525">
                <a:solidFill>
                  <a:schemeClr val="tx1"/>
                </a:solidFill>
                <a:round/>
                <a:headEnd/>
                <a:tailEnd/>
              </a:ln>
            </p:spPr>
            <p:txBody>
              <a:bodyPr/>
              <a:lstStyle/>
              <a:p>
                <a:endParaRPr lang="zh-TW" altLang="en-US"/>
              </a:p>
            </p:txBody>
          </p:sp>
          <p:sp>
            <p:nvSpPr>
              <p:cNvPr id="12" name="Rectangle 8"/>
              <p:cNvSpPr>
                <a:spLocks noChangeArrowheads="1"/>
              </p:cNvSpPr>
              <p:nvPr/>
            </p:nvSpPr>
            <p:spPr bwMode="auto">
              <a:xfrm>
                <a:off x="1104" y="2976"/>
                <a:ext cx="240" cy="48"/>
              </a:xfrm>
              <a:prstGeom prst="rect">
                <a:avLst/>
              </a:prstGeom>
              <a:solidFill>
                <a:schemeClr val="accent1"/>
              </a:solidFill>
              <a:ln w="9525">
                <a:solidFill>
                  <a:schemeClr val="tx1"/>
                </a:solidFill>
                <a:miter lim="800000"/>
                <a:headEnd/>
                <a:tailEnd/>
              </a:ln>
            </p:spPr>
            <p:txBody>
              <a:bodyPr wrap="none" anchor="ctr"/>
              <a:lstStyle/>
              <a:p>
                <a:endParaRPr lang="zh-TW" altLang="en-US"/>
              </a:p>
            </p:txBody>
          </p:sp>
          <p:sp>
            <p:nvSpPr>
              <p:cNvPr id="13" name="AutoShape 9"/>
              <p:cNvSpPr>
                <a:spLocks/>
              </p:cNvSpPr>
              <p:nvPr/>
            </p:nvSpPr>
            <p:spPr bwMode="auto">
              <a:xfrm>
                <a:off x="3408" y="2640"/>
                <a:ext cx="1008" cy="768"/>
              </a:xfrm>
              <a:prstGeom prst="accentBorderCallout1">
                <a:avLst>
                  <a:gd name="adj1" fmla="val 9375"/>
                  <a:gd name="adj2" fmla="val -4764"/>
                  <a:gd name="adj3" fmla="val 36329"/>
                  <a:gd name="adj4" fmla="val -75792"/>
                </a:avLst>
              </a:prstGeom>
              <a:solidFill>
                <a:schemeClr val="accent1"/>
              </a:solidFill>
              <a:ln w="9525">
                <a:solidFill>
                  <a:srgbClr val="FF0000"/>
                </a:solidFill>
                <a:miter lim="800000"/>
                <a:headEnd/>
                <a:tailEnd/>
              </a:ln>
            </p:spPr>
            <p:txBody>
              <a:bodyPr/>
              <a:lstStyle/>
              <a:p>
                <a:pPr algn="ctr"/>
                <a:r>
                  <a:rPr kumimoji="1" lang="zh-CN" altLang="en-US" sz="2400"/>
                  <a:t>波峰不平产生横流</a:t>
                </a:r>
              </a:p>
            </p:txBody>
          </p:sp>
          <p:sp>
            <p:nvSpPr>
              <p:cNvPr id="14" name="Line 11"/>
              <p:cNvSpPr>
                <a:spLocks noChangeShapeType="1"/>
              </p:cNvSpPr>
              <p:nvPr/>
            </p:nvSpPr>
            <p:spPr bwMode="auto">
              <a:xfrm flipV="1">
                <a:off x="3072" y="3408"/>
                <a:ext cx="384" cy="384"/>
              </a:xfrm>
              <a:prstGeom prst="line">
                <a:avLst/>
              </a:prstGeom>
              <a:noFill/>
              <a:ln w="9525">
                <a:solidFill>
                  <a:srgbClr val="FF0000"/>
                </a:solidFill>
                <a:round/>
                <a:headEnd/>
                <a:tailEnd type="triangle" w="med" len="med"/>
              </a:ln>
            </p:spPr>
            <p:txBody>
              <a:bodyPr/>
              <a:lstStyle/>
              <a:p>
                <a:endParaRPr lang="zh-TW" altLang="en-US"/>
              </a:p>
            </p:txBody>
          </p:sp>
          <p:sp>
            <p:nvSpPr>
              <p:cNvPr id="15" name="Line 12"/>
              <p:cNvSpPr>
                <a:spLocks noChangeShapeType="1"/>
              </p:cNvSpPr>
              <p:nvPr/>
            </p:nvSpPr>
            <p:spPr bwMode="auto">
              <a:xfrm>
                <a:off x="2880" y="3024"/>
                <a:ext cx="528" cy="336"/>
              </a:xfrm>
              <a:prstGeom prst="line">
                <a:avLst/>
              </a:prstGeom>
              <a:noFill/>
              <a:ln w="9525">
                <a:solidFill>
                  <a:srgbClr val="FF0000"/>
                </a:solidFill>
                <a:round/>
                <a:headEnd/>
                <a:tailEnd type="triangle" w="med" len="med"/>
              </a:ln>
            </p:spPr>
            <p:txBody>
              <a:bodyPr/>
              <a:lstStyle/>
              <a:p>
                <a:endParaRPr lang="zh-TW" altLang="en-US"/>
              </a:p>
            </p:txBody>
          </p:sp>
          <p:sp>
            <p:nvSpPr>
              <p:cNvPr id="16" name="Rectangle 13"/>
              <p:cNvSpPr>
                <a:spLocks noChangeArrowheads="1"/>
              </p:cNvSpPr>
              <p:nvPr/>
            </p:nvSpPr>
            <p:spPr bwMode="auto">
              <a:xfrm>
                <a:off x="1104" y="3552"/>
                <a:ext cx="384" cy="288"/>
              </a:xfrm>
              <a:prstGeom prst="rect">
                <a:avLst/>
              </a:prstGeom>
              <a:solidFill>
                <a:srgbClr val="FF0000"/>
              </a:solidFill>
              <a:ln w="9525">
                <a:noFill/>
                <a:miter lim="800000"/>
                <a:headEnd/>
                <a:tailEnd/>
              </a:ln>
            </p:spPr>
            <p:txBody>
              <a:bodyPr wrap="none" anchor="ctr"/>
              <a:lstStyle/>
              <a:p>
                <a:pPr algn="ctr"/>
                <a:r>
                  <a:rPr lang="zh-CN" altLang="en-US" sz="2000">
                    <a:solidFill>
                      <a:srgbClr val="FFCC99"/>
                    </a:solidFill>
                    <a:ea typeface="华文中宋" pitchFamily="2" charset="-122"/>
                  </a:rPr>
                  <a:t>锡槽</a:t>
                </a:r>
              </a:p>
            </p:txBody>
          </p:sp>
          <p:sp>
            <p:nvSpPr>
              <p:cNvPr id="17" name="Rectangle 14"/>
              <p:cNvSpPr>
                <a:spLocks noChangeArrowheads="1"/>
              </p:cNvSpPr>
              <p:nvPr/>
            </p:nvSpPr>
            <p:spPr bwMode="auto">
              <a:xfrm>
                <a:off x="240" y="2688"/>
                <a:ext cx="624" cy="384"/>
              </a:xfrm>
              <a:prstGeom prst="rect">
                <a:avLst/>
              </a:prstGeom>
              <a:solidFill>
                <a:srgbClr val="FF0000"/>
              </a:solidFill>
              <a:ln w="9525">
                <a:noFill/>
                <a:miter lim="800000"/>
                <a:headEnd/>
                <a:tailEnd/>
              </a:ln>
            </p:spPr>
            <p:txBody>
              <a:bodyPr wrap="none" anchor="ctr"/>
              <a:lstStyle/>
              <a:p>
                <a:pPr algn="ctr"/>
                <a:r>
                  <a:rPr lang="zh-CN" altLang="en-US" sz="2000">
                    <a:solidFill>
                      <a:srgbClr val="FFCC99"/>
                    </a:solidFill>
                    <a:ea typeface="华文中宋" pitchFamily="2" charset="-122"/>
                  </a:rPr>
                  <a:t>波峰喷口</a:t>
                </a:r>
              </a:p>
            </p:txBody>
          </p:sp>
          <p:sp>
            <p:nvSpPr>
              <p:cNvPr id="18" name="Line 15"/>
              <p:cNvSpPr>
                <a:spLocks noChangeShapeType="1"/>
              </p:cNvSpPr>
              <p:nvPr/>
            </p:nvSpPr>
            <p:spPr bwMode="auto">
              <a:xfrm>
                <a:off x="912" y="2976"/>
                <a:ext cx="192" cy="48"/>
              </a:xfrm>
              <a:prstGeom prst="line">
                <a:avLst/>
              </a:prstGeom>
              <a:noFill/>
              <a:ln w="57150">
                <a:solidFill>
                  <a:srgbClr val="FF0000"/>
                </a:solidFill>
                <a:round/>
                <a:headEnd/>
                <a:tailEnd type="triangle" w="med" len="med"/>
              </a:ln>
            </p:spPr>
            <p:txBody>
              <a:bodyPr anchor="ctr"/>
              <a:lstStyle/>
              <a:p>
                <a:endParaRPr lang="zh-TW" altLang="en-US"/>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00100" y="274638"/>
            <a:ext cx="7498080" cy="939784"/>
          </a:xfrm>
        </p:spPr>
        <p:txBody>
          <a:bodyPr anchor="ctr">
            <a:noAutofit/>
          </a:bodyPr>
          <a:lstStyle/>
          <a:p>
            <a:pPr marL="274320" indent="-274320">
              <a:lnSpc>
                <a:spcPct val="80000"/>
              </a:lnSpc>
              <a:defRPr/>
            </a:pPr>
            <a:r>
              <a:rPr lang="en-US" altLang="zh-TW" sz="3600" dirty="0">
                <a:solidFill>
                  <a:schemeClr val="tx1"/>
                </a:solidFill>
                <a:latin typeface="標楷體" pitchFamily="65" charset="-120"/>
                <a:ea typeface="標楷體" pitchFamily="65" charset="-120"/>
              </a:rPr>
              <a:t>5</a:t>
            </a:r>
            <a:r>
              <a:rPr lang="en-US" altLang="zh-CN" sz="3600" dirty="0">
                <a:solidFill>
                  <a:schemeClr val="tx1"/>
                </a:solidFill>
                <a:latin typeface="標楷體" pitchFamily="65" charset="-120"/>
                <a:ea typeface="標楷體" pitchFamily="65" charset="-120"/>
              </a:rPr>
              <a:t>.</a:t>
            </a:r>
            <a:r>
              <a:rPr lang="zh-CN" altLang="en-US" sz="3600" dirty="0">
                <a:solidFill>
                  <a:schemeClr val="tx1"/>
                </a:solidFill>
                <a:latin typeface="標楷體" pitchFamily="65" charset="-120"/>
                <a:ea typeface="標楷體" pitchFamily="65" charset="-120"/>
              </a:rPr>
              <a:t>助焊剂</a:t>
            </a:r>
          </a:p>
        </p:txBody>
      </p:sp>
      <p:sp>
        <p:nvSpPr>
          <p:cNvPr id="5" name="標題 1"/>
          <p:cNvSpPr txBox="1">
            <a:spLocks/>
          </p:cNvSpPr>
          <p:nvPr/>
        </p:nvSpPr>
        <p:spPr>
          <a:xfrm>
            <a:off x="1071538" y="1071546"/>
            <a:ext cx="7715304" cy="5500726"/>
          </a:xfrm>
          <a:prstGeom prst="rect">
            <a:avLst/>
          </a:prstGeom>
        </p:spPr>
        <p:txBody>
          <a:bodyPr anchor="t">
            <a:noAutofit/>
          </a:bodyPr>
          <a:lstStyle/>
          <a:p>
            <a:pPr marL="274320" indent="-274320" algn="just">
              <a:spcBef>
                <a:spcPts val="580"/>
              </a:spcBef>
              <a:buFont typeface="Wingdings 2"/>
              <a:buChar char=""/>
              <a:defRPr/>
            </a:pPr>
            <a:r>
              <a:rPr lang="zh-CN" altLang="en-US" sz="2400" dirty="0">
                <a:latin typeface="华文中宋" pitchFamily="2" charset="-122"/>
                <a:ea typeface="华文中宋" pitchFamily="2" charset="-122"/>
              </a:rPr>
              <a:t>助焊剂：它是</a:t>
            </a:r>
            <a:r>
              <a:rPr lang="zh-CN" altLang="en-US" sz="2400" dirty="0">
                <a:latin typeface="標楷體" pitchFamily="65" charset="-120"/>
                <a:ea typeface="標楷體" pitchFamily="65" charset="-120"/>
              </a:rPr>
              <a:t>由</a:t>
            </a:r>
            <a:r>
              <a:rPr lang="zh-CN" altLang="en-US" sz="2400" dirty="0">
                <a:latin typeface="华文中宋" pitchFamily="2" charset="-122"/>
                <a:ea typeface="华文中宋" pitchFamily="2" charset="-122"/>
              </a:rPr>
              <a:t>挥发性有机化合物组成，易于挥发，在焊接时易生成烟雾</a:t>
            </a:r>
            <a:r>
              <a:rPr lang="en-US" altLang="zh-CN" dirty="0">
                <a:latin typeface="华文中宋" pitchFamily="2" charset="-122"/>
                <a:ea typeface="华文中宋" pitchFamily="2" charset="-122"/>
              </a:rPr>
              <a:t>.</a:t>
            </a:r>
            <a:endParaRPr lang="zh-CN" altLang="en-US" dirty="0">
              <a:latin typeface="华文中宋" pitchFamily="2" charset="-122"/>
              <a:ea typeface="华文中宋" pitchFamily="2" charset="-122"/>
            </a:endParaRPr>
          </a:p>
          <a:p>
            <a:pPr marL="274320" indent="-274320" algn="just">
              <a:spcBef>
                <a:spcPts val="580"/>
              </a:spcBef>
              <a:defRPr/>
            </a:pPr>
            <a:r>
              <a:rPr lang="en-US" altLang="zh-CN" dirty="0">
                <a:latin typeface="华文中宋" pitchFamily="2" charset="-122"/>
                <a:ea typeface="华文中宋" pitchFamily="2" charset="-122"/>
              </a:rPr>
              <a:t>   A．</a:t>
            </a:r>
            <a:r>
              <a:rPr lang="en-US" altLang="zh-CN" dirty="0">
                <a:latin typeface="Arial"/>
                <a:ea typeface="华文中宋" pitchFamily="2" charset="-122"/>
              </a:rPr>
              <a:t> </a:t>
            </a:r>
            <a:r>
              <a:rPr lang="en-US" altLang="zh-CN" dirty="0">
                <a:latin typeface="华文中宋" pitchFamily="2" charset="-122"/>
                <a:ea typeface="华文中宋" pitchFamily="2" charset="-122"/>
              </a:rPr>
              <a:t> </a:t>
            </a:r>
            <a:r>
              <a:rPr lang="zh-CN" altLang="en-US" dirty="0">
                <a:latin typeface="华文中宋" pitchFamily="2" charset="-122"/>
                <a:ea typeface="华文中宋" pitchFamily="2" charset="-122"/>
              </a:rPr>
              <a:t>作用：</a:t>
            </a:r>
          </a:p>
          <a:p>
            <a:pPr marL="274320" indent="-274320" algn="just">
              <a:spcBef>
                <a:spcPts val="580"/>
              </a:spcBef>
              <a:defRPr/>
            </a:pPr>
            <a:r>
              <a:rPr lang="en-US" altLang="zh-CN" dirty="0">
                <a:latin typeface="华文中宋" pitchFamily="2" charset="-122"/>
                <a:ea typeface="华文中宋" pitchFamily="2" charset="-122"/>
              </a:rPr>
              <a:t>       a. </a:t>
            </a:r>
            <a:r>
              <a:rPr lang="zh-CN" altLang="en-US" dirty="0">
                <a:latin typeface="华文中宋" pitchFamily="2" charset="-122"/>
                <a:ea typeface="华文中宋" pitchFamily="2" charset="-122"/>
              </a:rPr>
              <a:t>去氧化物</a:t>
            </a:r>
            <a:r>
              <a:rPr lang="en-US" altLang="zh-CN" dirty="0">
                <a:latin typeface="华文中宋" pitchFamily="2" charset="-122"/>
                <a:ea typeface="华文中宋" pitchFamily="2" charset="-122"/>
              </a:rPr>
              <a:t>&amp;</a:t>
            </a:r>
            <a:r>
              <a:rPr lang="zh-CN" altLang="en-US" dirty="0">
                <a:latin typeface="华文中宋" pitchFamily="2" charset="-122"/>
                <a:ea typeface="华文中宋" pitchFamily="2" charset="-122"/>
              </a:rPr>
              <a:t>清洁焊盘；</a:t>
            </a:r>
          </a:p>
          <a:p>
            <a:pPr marL="274320" indent="-274320" algn="just">
              <a:spcBef>
                <a:spcPts val="580"/>
              </a:spcBef>
              <a:defRPr/>
            </a:pPr>
            <a:r>
              <a:rPr lang="en-US" altLang="zh-CN" dirty="0">
                <a:latin typeface="华文中宋" pitchFamily="2" charset="-122"/>
                <a:ea typeface="华文中宋" pitchFamily="2" charset="-122"/>
              </a:rPr>
              <a:t>       b. </a:t>
            </a:r>
            <a:r>
              <a:rPr lang="zh-CN" altLang="en-US" dirty="0">
                <a:latin typeface="华文中宋" pitchFamily="2" charset="-122"/>
                <a:ea typeface="华文中宋" pitchFamily="2" charset="-122"/>
              </a:rPr>
              <a:t>对表面张力的平衡施加影响，减小接触角，促进焊料漫流；</a:t>
            </a:r>
          </a:p>
          <a:p>
            <a:pPr marL="274320" indent="-274320" algn="just">
              <a:spcBef>
                <a:spcPts val="580"/>
              </a:spcBef>
              <a:defRPr/>
            </a:pPr>
            <a:r>
              <a:rPr lang="en-US" altLang="zh-CN" dirty="0">
                <a:latin typeface="华文中宋" pitchFamily="2" charset="-122"/>
                <a:ea typeface="华文中宋" pitchFamily="2" charset="-122"/>
              </a:rPr>
              <a:t>       c. </a:t>
            </a:r>
            <a:r>
              <a:rPr lang="zh-CN" altLang="en-US" dirty="0">
                <a:latin typeface="华文中宋" pitchFamily="2" charset="-122"/>
                <a:ea typeface="华文中宋" pitchFamily="2" charset="-122"/>
              </a:rPr>
              <a:t>辅助热传导，浸润待焊金属表面。</a:t>
            </a:r>
            <a:endParaRPr lang="en-US" altLang="zh-CN" dirty="0">
              <a:latin typeface="华文中宋" pitchFamily="2" charset="-122"/>
              <a:ea typeface="华文中宋" pitchFamily="2" charset="-122"/>
            </a:endParaRPr>
          </a:p>
          <a:p>
            <a:pPr marL="274320" indent="-274320" algn="just">
              <a:lnSpc>
                <a:spcPct val="90000"/>
              </a:lnSpc>
              <a:spcBef>
                <a:spcPts val="580"/>
              </a:spcBef>
              <a:defRPr/>
            </a:pPr>
            <a:r>
              <a:rPr lang="en-US" altLang="zh-CN" dirty="0">
                <a:latin typeface="华文中宋" pitchFamily="2" charset="-122"/>
                <a:ea typeface="华文中宋" pitchFamily="2" charset="-122"/>
              </a:rPr>
              <a:t>   B．</a:t>
            </a:r>
            <a:r>
              <a:rPr lang="en-US" altLang="zh-CN" dirty="0">
                <a:latin typeface="Arial"/>
                <a:ea typeface="华文中宋" pitchFamily="2" charset="-122"/>
              </a:rPr>
              <a:t> </a:t>
            </a:r>
            <a:r>
              <a:rPr lang="en-US" altLang="zh-CN" dirty="0">
                <a:latin typeface="华文中宋" pitchFamily="2" charset="-122"/>
                <a:ea typeface="华文中宋" pitchFamily="2" charset="-122"/>
              </a:rPr>
              <a:t> </a:t>
            </a:r>
            <a:r>
              <a:rPr lang="zh-CN" altLang="en-US" dirty="0">
                <a:latin typeface="华文中宋" pitchFamily="2" charset="-122"/>
                <a:ea typeface="华文中宋" pitchFamily="2" charset="-122"/>
              </a:rPr>
              <a:t>类型：</a:t>
            </a:r>
          </a:p>
          <a:p>
            <a:pPr marL="274320" indent="-274320" algn="just">
              <a:lnSpc>
                <a:spcPct val="90000"/>
              </a:lnSpc>
              <a:spcBef>
                <a:spcPts val="580"/>
              </a:spcBef>
              <a:defRPr/>
            </a:pPr>
            <a:r>
              <a:rPr lang="en-US" altLang="zh-CN" dirty="0">
                <a:latin typeface="华文中宋" pitchFamily="2" charset="-122"/>
                <a:ea typeface="华文中宋" pitchFamily="2" charset="-122"/>
              </a:rPr>
              <a:t>       a. </a:t>
            </a:r>
            <a:r>
              <a:rPr lang="zh-CN" altLang="en-US" dirty="0">
                <a:latin typeface="华文中宋" pitchFamily="2" charset="-122"/>
                <a:ea typeface="华文中宋" pitchFamily="2" charset="-122"/>
              </a:rPr>
              <a:t>松香型；以松香酸为基体，</a:t>
            </a:r>
          </a:p>
          <a:p>
            <a:pPr marL="274320" indent="-274320" algn="just">
              <a:lnSpc>
                <a:spcPct val="90000"/>
              </a:lnSpc>
              <a:spcBef>
                <a:spcPts val="580"/>
              </a:spcBef>
              <a:defRPr/>
            </a:pPr>
            <a:r>
              <a:rPr lang="en-US" altLang="zh-CN" dirty="0">
                <a:latin typeface="华文中宋" pitchFamily="2" charset="-122"/>
                <a:ea typeface="华文中宋" pitchFamily="2" charset="-122"/>
              </a:rPr>
              <a:t>       b. </a:t>
            </a:r>
            <a:r>
              <a:rPr lang="zh-CN" altLang="en-US" dirty="0">
                <a:latin typeface="华文中宋" pitchFamily="2" charset="-122"/>
                <a:ea typeface="华文中宋" pitchFamily="2" charset="-122"/>
              </a:rPr>
              <a:t>免清洗型；固体含量一般不大于</a:t>
            </a:r>
            <a:r>
              <a:rPr lang="en-US" altLang="zh-CN" dirty="0">
                <a:latin typeface="华文中宋" pitchFamily="2" charset="-122"/>
                <a:ea typeface="华文中宋" pitchFamily="2" charset="-122"/>
              </a:rPr>
              <a:t>5%</a:t>
            </a:r>
            <a:r>
              <a:rPr lang="zh-CN" altLang="en-US" dirty="0">
                <a:latin typeface="华文中宋" pitchFamily="2" charset="-122"/>
                <a:ea typeface="华文中宋" pitchFamily="2" charset="-122"/>
              </a:rPr>
              <a:t>，不含卤素，助焊性扩展</a:t>
            </a:r>
            <a:endParaRPr lang="en-US" altLang="zh-CN" dirty="0">
              <a:latin typeface="华文中宋" pitchFamily="2" charset="-122"/>
              <a:ea typeface="华文中宋" pitchFamily="2" charset="-122"/>
            </a:endParaRPr>
          </a:p>
          <a:p>
            <a:pPr marL="274320" indent="-274320" algn="just">
              <a:lnSpc>
                <a:spcPct val="90000"/>
              </a:lnSpc>
              <a:spcBef>
                <a:spcPts val="580"/>
              </a:spcBef>
              <a:defRPr/>
            </a:pPr>
            <a:r>
              <a:rPr lang="en-US" altLang="zh-CN" dirty="0">
                <a:latin typeface="华文中宋" pitchFamily="2" charset="-122"/>
                <a:ea typeface="华文中宋" pitchFamily="2" charset="-122"/>
              </a:rPr>
              <a:t>          </a:t>
            </a:r>
            <a:r>
              <a:rPr lang="zh-CN" altLang="en-US" dirty="0">
                <a:latin typeface="华文中宋" pitchFamily="2" charset="-122"/>
                <a:ea typeface="华文中宋" pitchFamily="2" charset="-122"/>
              </a:rPr>
              <a:t>应大于80%，免清洗的助焊剂大多采用不含卤素的活化剂，</a:t>
            </a:r>
            <a:endParaRPr lang="en-US" altLang="zh-CN" dirty="0">
              <a:latin typeface="华文中宋" pitchFamily="2" charset="-122"/>
              <a:ea typeface="华文中宋" pitchFamily="2" charset="-122"/>
            </a:endParaRPr>
          </a:p>
          <a:p>
            <a:pPr marL="274320" indent="-274320" algn="just">
              <a:lnSpc>
                <a:spcPct val="90000"/>
              </a:lnSpc>
              <a:spcBef>
                <a:spcPts val="580"/>
              </a:spcBef>
              <a:defRPr/>
            </a:pPr>
            <a:r>
              <a:rPr lang="en-US" altLang="zh-CN" dirty="0">
                <a:latin typeface="华文中宋" pitchFamily="2" charset="-122"/>
                <a:ea typeface="华文中宋" pitchFamily="2" charset="-122"/>
              </a:rPr>
              <a:t>          </a:t>
            </a:r>
            <a:r>
              <a:rPr lang="zh-CN" altLang="en-US" dirty="0">
                <a:latin typeface="华文中宋" pitchFamily="2" charset="-122"/>
                <a:ea typeface="华文中宋" pitchFamily="2" charset="-122"/>
              </a:rPr>
              <a:t>故其活性相对偏弱一些。免清洗助焊剂的预热时间相对要长</a:t>
            </a:r>
            <a:endParaRPr lang="en-US" altLang="zh-CN" dirty="0">
              <a:latin typeface="华文中宋" pitchFamily="2" charset="-122"/>
              <a:ea typeface="华文中宋" pitchFamily="2" charset="-122"/>
            </a:endParaRPr>
          </a:p>
          <a:p>
            <a:pPr marL="274320" indent="-274320" algn="just">
              <a:lnSpc>
                <a:spcPct val="90000"/>
              </a:lnSpc>
              <a:spcBef>
                <a:spcPts val="580"/>
              </a:spcBef>
              <a:defRPr/>
            </a:pPr>
            <a:r>
              <a:rPr lang="en-US" altLang="zh-CN" dirty="0">
                <a:latin typeface="华文中宋" pitchFamily="2" charset="-122"/>
                <a:ea typeface="华文中宋" pitchFamily="2" charset="-122"/>
              </a:rPr>
              <a:t>          </a:t>
            </a:r>
            <a:r>
              <a:rPr lang="zh-CN" altLang="en-US" dirty="0">
                <a:latin typeface="华文中宋" pitchFamily="2" charset="-122"/>
                <a:ea typeface="华文中宋" pitchFamily="2" charset="-122"/>
              </a:rPr>
              <a:t>一些，预热温度要高一些，这样利于</a:t>
            </a:r>
            <a:r>
              <a:rPr lang="en-US" altLang="zh-CN" dirty="0">
                <a:latin typeface="华文中宋" pitchFamily="2" charset="-122"/>
                <a:ea typeface="华文中宋" pitchFamily="2" charset="-122"/>
              </a:rPr>
              <a:t>PCB</a:t>
            </a:r>
            <a:r>
              <a:rPr lang="zh-CN" altLang="en-US" dirty="0">
                <a:latin typeface="华文中宋" pitchFamily="2" charset="-122"/>
                <a:ea typeface="华文中宋" pitchFamily="2" charset="-122"/>
              </a:rPr>
              <a:t>在进入焊料波峰之前</a:t>
            </a:r>
            <a:endParaRPr lang="en-US" altLang="zh-CN" dirty="0">
              <a:latin typeface="华文中宋" pitchFamily="2" charset="-122"/>
              <a:ea typeface="华文中宋" pitchFamily="2" charset="-122"/>
            </a:endParaRPr>
          </a:p>
          <a:p>
            <a:pPr marL="274320" indent="-274320" algn="just">
              <a:lnSpc>
                <a:spcPct val="90000"/>
              </a:lnSpc>
              <a:spcBef>
                <a:spcPts val="580"/>
              </a:spcBef>
              <a:defRPr/>
            </a:pPr>
            <a:r>
              <a:rPr lang="en-US" altLang="zh-CN" dirty="0">
                <a:latin typeface="华文中宋" pitchFamily="2" charset="-122"/>
                <a:ea typeface="华文中宋" pitchFamily="2" charset="-122"/>
              </a:rPr>
              <a:t>          </a:t>
            </a:r>
            <a:r>
              <a:rPr lang="zh-CN" altLang="en-US" dirty="0">
                <a:latin typeface="华文中宋" pitchFamily="2" charset="-122"/>
                <a:ea typeface="华文中宋" pitchFamily="2" charset="-122"/>
              </a:rPr>
              <a:t>活化剂能充分地活化。</a:t>
            </a:r>
          </a:p>
          <a:p>
            <a:pPr marL="274320" indent="-274320" algn="just">
              <a:lnSpc>
                <a:spcPct val="90000"/>
              </a:lnSpc>
              <a:spcBef>
                <a:spcPts val="580"/>
              </a:spcBef>
              <a:defRPr/>
            </a:pPr>
            <a:r>
              <a:rPr lang="en-US" altLang="zh-CN" dirty="0">
                <a:latin typeface="华文中宋" pitchFamily="2" charset="-122"/>
                <a:ea typeface="华文中宋" pitchFamily="2" charset="-122"/>
              </a:rPr>
              <a:t>      c. </a:t>
            </a:r>
            <a:r>
              <a:rPr lang="zh-CN" altLang="en-US" dirty="0">
                <a:latin typeface="华文中宋" pitchFamily="2" charset="-122"/>
                <a:ea typeface="华文中宋" pitchFamily="2" charset="-122"/>
              </a:rPr>
              <a:t>水溶型；组份在水中溶解度大，活性强，助焊性能好，焊后残</a:t>
            </a:r>
            <a:endParaRPr lang="en-US" altLang="zh-CN" dirty="0">
              <a:latin typeface="华文中宋" pitchFamily="2" charset="-122"/>
              <a:ea typeface="华文中宋" pitchFamily="2" charset="-122"/>
            </a:endParaRPr>
          </a:p>
          <a:p>
            <a:pPr marL="274320" indent="-274320" algn="just">
              <a:lnSpc>
                <a:spcPct val="90000"/>
              </a:lnSpc>
              <a:spcBef>
                <a:spcPts val="580"/>
              </a:spcBef>
              <a:defRPr/>
            </a:pPr>
            <a:r>
              <a:rPr lang="en-US" altLang="zh-CN" dirty="0">
                <a:latin typeface="华文中宋" pitchFamily="2" charset="-122"/>
                <a:ea typeface="华文中宋" pitchFamily="2" charset="-122"/>
              </a:rPr>
              <a:t>         </a:t>
            </a:r>
            <a:r>
              <a:rPr lang="zh-CN" altLang="en-US" dirty="0">
                <a:latin typeface="华文中宋" pitchFamily="2" charset="-122"/>
                <a:ea typeface="华文中宋" pitchFamily="2" charset="-122"/>
              </a:rPr>
              <a:t>留物易溶于水。 </a:t>
            </a:r>
          </a:p>
          <a:p>
            <a:pPr marL="274320" indent="-274320" algn="just">
              <a:lnSpc>
                <a:spcPct val="80000"/>
              </a:lnSpc>
              <a:spcBef>
                <a:spcPts val="580"/>
              </a:spcBef>
              <a:defRPr/>
            </a:pPr>
            <a:r>
              <a:rPr lang="zh-CN" altLang="en-US" dirty="0">
                <a:latin typeface="標楷體" pitchFamily="65" charset="-120"/>
                <a:ea typeface="標楷體" pitchFamily="65" charset="-120"/>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00100" y="274638"/>
            <a:ext cx="7498080" cy="939784"/>
          </a:xfrm>
        </p:spPr>
        <p:txBody>
          <a:bodyPr anchor="ctr">
            <a:noAutofit/>
          </a:bodyPr>
          <a:lstStyle/>
          <a:p>
            <a:pPr marL="274320" indent="-274320">
              <a:lnSpc>
                <a:spcPct val="80000"/>
              </a:lnSpc>
              <a:defRPr/>
            </a:pPr>
            <a:r>
              <a:rPr lang="en-US" altLang="zh-TW" sz="3600" dirty="0">
                <a:solidFill>
                  <a:schemeClr val="tx1"/>
                </a:solidFill>
                <a:latin typeface="標楷體" pitchFamily="65" charset="-120"/>
                <a:ea typeface="標楷體" pitchFamily="65" charset="-120"/>
              </a:rPr>
              <a:t>5</a:t>
            </a:r>
            <a:r>
              <a:rPr lang="en-US" altLang="zh-CN" sz="3600" dirty="0">
                <a:solidFill>
                  <a:schemeClr val="tx1"/>
                </a:solidFill>
                <a:latin typeface="標楷體" pitchFamily="65" charset="-120"/>
                <a:ea typeface="標楷體" pitchFamily="65" charset="-120"/>
              </a:rPr>
              <a:t>.</a:t>
            </a:r>
            <a:r>
              <a:rPr lang="zh-CN" altLang="en-US" sz="3600" dirty="0">
                <a:solidFill>
                  <a:schemeClr val="tx1"/>
                </a:solidFill>
                <a:latin typeface="標楷體" pitchFamily="65" charset="-120"/>
                <a:ea typeface="標楷體" pitchFamily="65" charset="-120"/>
              </a:rPr>
              <a:t>导轨宽度</a:t>
            </a:r>
          </a:p>
        </p:txBody>
      </p:sp>
      <p:sp>
        <p:nvSpPr>
          <p:cNvPr id="5" name="標題 1"/>
          <p:cNvSpPr txBox="1">
            <a:spLocks/>
          </p:cNvSpPr>
          <p:nvPr/>
        </p:nvSpPr>
        <p:spPr>
          <a:xfrm>
            <a:off x="1071538" y="1071546"/>
            <a:ext cx="7715304" cy="5500726"/>
          </a:xfrm>
          <a:prstGeom prst="rect">
            <a:avLst/>
          </a:prstGeom>
        </p:spPr>
        <p:txBody>
          <a:bodyPr anchor="t">
            <a:noAutofit/>
          </a:bodyPr>
          <a:lstStyle/>
          <a:p>
            <a:pPr marL="274320" indent="-274320" algn="just">
              <a:spcBef>
                <a:spcPts val="580"/>
              </a:spcBef>
              <a:buFont typeface="Wingdings 2"/>
              <a:buChar char=""/>
              <a:defRPr/>
            </a:pPr>
            <a:r>
              <a:rPr lang="zh-CN" altLang="en-US" sz="2400" dirty="0">
                <a:latin typeface="標楷體" pitchFamily="65" charset="-120"/>
                <a:ea typeface="標楷體" pitchFamily="65" charset="-120"/>
              </a:rPr>
              <a:t>导轨的宽度</a:t>
            </a:r>
            <a:endParaRPr lang="en-US" altLang="zh-CN" sz="2400" dirty="0">
              <a:latin typeface="標楷體" pitchFamily="65" charset="-120"/>
              <a:ea typeface="標楷體" pitchFamily="65" charset="-120"/>
            </a:endParaRPr>
          </a:p>
          <a:p>
            <a:pPr marL="274320" indent="-274320" algn="just">
              <a:spcBef>
                <a:spcPts val="580"/>
              </a:spcBef>
              <a:defRPr/>
            </a:pPr>
            <a:r>
              <a:rPr lang="en-US" altLang="zh-CN" sz="2400" dirty="0">
                <a:latin typeface="標楷體" pitchFamily="65" charset="-120"/>
                <a:ea typeface="標楷體" pitchFamily="65" charset="-120"/>
              </a:rPr>
              <a:t>     </a:t>
            </a:r>
            <a:r>
              <a:rPr lang="zh-CN" altLang="en-US" sz="2400" dirty="0">
                <a:latin typeface="標楷體" pitchFamily="65" charset="-120"/>
                <a:ea typeface="標楷體" pitchFamily="65" charset="-120"/>
              </a:rPr>
              <a:t>在一定程度上影响到焊接的品质。当导轨偏窄时将可能导致</a:t>
            </a:r>
            <a:r>
              <a:rPr lang="en-US" altLang="zh-CN" sz="2400" dirty="0">
                <a:latin typeface="標楷體" pitchFamily="65" charset="-120"/>
                <a:ea typeface="標楷體" pitchFamily="65" charset="-120"/>
              </a:rPr>
              <a:t>PCB</a:t>
            </a:r>
            <a:r>
              <a:rPr lang="zh-CN" altLang="en-US" sz="2400" dirty="0">
                <a:latin typeface="標楷體" pitchFamily="65" charset="-120"/>
                <a:ea typeface="標楷體" pitchFamily="65" charset="-120"/>
              </a:rPr>
              <a:t>板向下凹，致使整片</a:t>
            </a:r>
            <a:r>
              <a:rPr lang="en-US" altLang="zh-CN" sz="2400" dirty="0">
                <a:latin typeface="標楷體" pitchFamily="65" charset="-120"/>
                <a:ea typeface="標楷體" pitchFamily="65" charset="-120"/>
              </a:rPr>
              <a:t>PCB</a:t>
            </a:r>
            <a:r>
              <a:rPr lang="zh-CN" altLang="en-US" sz="2400" dirty="0">
                <a:latin typeface="標楷體" pitchFamily="65" charset="-120"/>
                <a:ea typeface="標楷體" pitchFamily="65" charset="-120"/>
              </a:rPr>
              <a:t>浸入波峰时两边吃锡少中间吃锡多，易造成</a:t>
            </a:r>
            <a:r>
              <a:rPr lang="en-US" altLang="zh-CN" sz="2400" dirty="0">
                <a:latin typeface="標楷體" pitchFamily="65" charset="-120"/>
                <a:ea typeface="標楷體" pitchFamily="65" charset="-120"/>
              </a:rPr>
              <a:t>IC</a:t>
            </a:r>
            <a:r>
              <a:rPr lang="zh-CN" altLang="en-US" sz="2400" dirty="0">
                <a:latin typeface="標楷體" pitchFamily="65" charset="-120"/>
                <a:ea typeface="標楷體" pitchFamily="65" charset="-120"/>
              </a:rPr>
              <a:t>或排插桥连产生，严重的会夹伤</a:t>
            </a:r>
            <a:r>
              <a:rPr lang="en-US" altLang="zh-CN" sz="2400" dirty="0">
                <a:latin typeface="標楷體" pitchFamily="65" charset="-120"/>
                <a:ea typeface="標楷體" pitchFamily="65" charset="-120"/>
              </a:rPr>
              <a:t>PCB</a:t>
            </a:r>
            <a:r>
              <a:rPr lang="zh-CN" altLang="en-US" sz="2400" dirty="0">
                <a:latin typeface="標楷體" pitchFamily="65" charset="-120"/>
                <a:ea typeface="標楷體" pitchFamily="65" charset="-120"/>
              </a:rPr>
              <a:t>板边或引起链爪行走时抖动。若轨距过宽，在喷射助焊剂时将造成</a:t>
            </a:r>
            <a:r>
              <a:rPr lang="en-US" altLang="zh-CN" sz="2400" dirty="0">
                <a:latin typeface="標楷體" pitchFamily="65" charset="-120"/>
                <a:ea typeface="標楷體" pitchFamily="65" charset="-120"/>
              </a:rPr>
              <a:t>PCB</a:t>
            </a:r>
            <a:r>
              <a:rPr lang="zh-CN" altLang="en-US" sz="2400" dirty="0">
                <a:latin typeface="標楷體" pitchFamily="65" charset="-120"/>
                <a:ea typeface="標楷體" pitchFamily="65" charset="-120"/>
              </a:rPr>
              <a:t>板颤动，引起</a:t>
            </a:r>
            <a:r>
              <a:rPr lang="en-US" altLang="zh-CN" sz="2400" dirty="0">
                <a:latin typeface="標楷體" pitchFamily="65" charset="-120"/>
                <a:ea typeface="標楷體" pitchFamily="65" charset="-120"/>
              </a:rPr>
              <a:t>PCB</a:t>
            </a:r>
            <a:r>
              <a:rPr lang="zh-CN" altLang="en-US" sz="2400" dirty="0">
                <a:latin typeface="標楷體" pitchFamily="65" charset="-120"/>
                <a:ea typeface="標楷體" pitchFamily="65" charset="-120"/>
              </a:rPr>
              <a:t>板面的元器件晃动而错位（</a:t>
            </a:r>
            <a:r>
              <a:rPr lang="en-US" altLang="zh-CN" sz="2400" dirty="0">
                <a:latin typeface="標楷體" pitchFamily="65" charset="-120"/>
                <a:ea typeface="標楷體" pitchFamily="65" charset="-120"/>
              </a:rPr>
              <a:t>AI</a:t>
            </a:r>
            <a:r>
              <a:rPr lang="zh-CN" altLang="en-US" sz="2400" dirty="0">
                <a:latin typeface="標楷體" pitchFamily="65" charset="-120"/>
                <a:ea typeface="標楷體" pitchFamily="65" charset="-120"/>
              </a:rPr>
              <a:t>插件除外）。另一方面当</a:t>
            </a:r>
            <a:r>
              <a:rPr lang="en-US" altLang="zh-CN" sz="2400" dirty="0">
                <a:latin typeface="標楷體" pitchFamily="65" charset="-120"/>
                <a:ea typeface="標楷體" pitchFamily="65" charset="-120"/>
              </a:rPr>
              <a:t>PCB</a:t>
            </a:r>
            <a:r>
              <a:rPr lang="zh-CN" altLang="en-US" sz="2400" dirty="0">
                <a:latin typeface="標楷體" pitchFamily="65" charset="-120"/>
                <a:ea typeface="標楷體" pitchFamily="65" charset="-120"/>
              </a:rPr>
              <a:t>穿过波峰时，由于</a:t>
            </a:r>
            <a:r>
              <a:rPr lang="en-US" altLang="zh-CN" sz="2400" dirty="0">
                <a:latin typeface="標楷體" pitchFamily="65" charset="-120"/>
                <a:ea typeface="標楷體" pitchFamily="65" charset="-120"/>
              </a:rPr>
              <a:t>PCB</a:t>
            </a:r>
            <a:r>
              <a:rPr lang="zh-CN" altLang="en-US" sz="2400" dirty="0">
                <a:latin typeface="標楷體" pitchFamily="65" charset="-120"/>
                <a:ea typeface="標楷體" pitchFamily="65" charset="-120"/>
              </a:rPr>
              <a:t>处于松弛状态，波峰产生的浮力将会使</a:t>
            </a:r>
            <a:r>
              <a:rPr lang="en-US" altLang="zh-CN" sz="2400" dirty="0">
                <a:latin typeface="標楷體" pitchFamily="65" charset="-120"/>
                <a:ea typeface="標楷體" pitchFamily="65" charset="-120"/>
              </a:rPr>
              <a:t>PCB</a:t>
            </a:r>
            <a:r>
              <a:rPr lang="zh-CN" altLang="en-US" sz="2400" dirty="0">
                <a:latin typeface="標楷體" pitchFamily="65" charset="-120"/>
                <a:ea typeface="標楷體" pitchFamily="65" charset="-120"/>
              </a:rPr>
              <a:t>在波峰表面浮游，当</a:t>
            </a:r>
            <a:r>
              <a:rPr lang="en-US" altLang="zh-CN" sz="2400" dirty="0">
                <a:latin typeface="標楷體" pitchFamily="65" charset="-120"/>
                <a:ea typeface="標楷體" pitchFamily="65" charset="-120"/>
              </a:rPr>
              <a:t>PCB</a:t>
            </a:r>
            <a:r>
              <a:rPr lang="zh-CN" altLang="en-US" sz="2400" dirty="0">
                <a:latin typeface="標楷體" pitchFamily="65" charset="-120"/>
                <a:ea typeface="標楷體" pitchFamily="65" charset="-120"/>
              </a:rPr>
              <a:t>脱离波峰时，表面元件会因为受外力过大产生脱锡不良，引起一系列的品质不良。</a:t>
            </a:r>
          </a:p>
          <a:p>
            <a:pPr marL="274320" indent="-274320" algn="just">
              <a:spcBef>
                <a:spcPts val="580"/>
              </a:spcBef>
              <a:defRPr/>
            </a:pPr>
            <a:r>
              <a:rPr lang="zh-CN" altLang="en-US" sz="2400" dirty="0">
                <a:latin typeface="標楷體" pitchFamily="65" charset="-120"/>
                <a:ea typeface="標楷體" pitchFamily="65" charset="-120"/>
              </a:rPr>
              <a:t>     正常情况下我们以链爪夹持</a:t>
            </a:r>
            <a:r>
              <a:rPr lang="en-US" altLang="zh-CN" sz="2400" dirty="0">
                <a:latin typeface="標楷體" pitchFamily="65" charset="-120"/>
                <a:ea typeface="標楷體" pitchFamily="65" charset="-120"/>
              </a:rPr>
              <a:t>PCB</a:t>
            </a:r>
            <a:r>
              <a:rPr lang="zh-CN" altLang="en-US" sz="2400" dirty="0">
                <a:latin typeface="標楷體" pitchFamily="65" charset="-120"/>
                <a:ea typeface="標楷體" pitchFamily="65" charset="-120"/>
              </a:rPr>
              <a:t>板以后，</a:t>
            </a:r>
            <a:r>
              <a:rPr lang="en-US" altLang="zh-CN" sz="2400" dirty="0">
                <a:latin typeface="標楷體" pitchFamily="65" charset="-120"/>
                <a:ea typeface="標楷體" pitchFamily="65" charset="-120"/>
              </a:rPr>
              <a:t>PCB</a:t>
            </a:r>
            <a:r>
              <a:rPr lang="zh-CN" altLang="en-US" sz="2400" dirty="0">
                <a:latin typeface="標楷體" pitchFamily="65" charset="-120"/>
                <a:ea typeface="標楷體" pitchFamily="65" charset="-120"/>
              </a:rPr>
              <a:t>板能用手顺利地前后推动且无左右晃动的状态为基准。</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00100" y="274638"/>
            <a:ext cx="7498080" cy="939784"/>
          </a:xfrm>
        </p:spPr>
        <p:txBody>
          <a:bodyPr anchor="ctr">
            <a:noAutofit/>
          </a:bodyPr>
          <a:lstStyle/>
          <a:p>
            <a:pPr marL="274320" indent="-274320">
              <a:lnSpc>
                <a:spcPct val="80000"/>
              </a:lnSpc>
              <a:defRPr/>
            </a:pPr>
            <a:r>
              <a:rPr lang="en-US" altLang="zh-TW" sz="3600" dirty="0">
                <a:solidFill>
                  <a:schemeClr val="tx1"/>
                </a:solidFill>
                <a:latin typeface="標楷體" pitchFamily="65" charset="-120"/>
                <a:ea typeface="標楷體" pitchFamily="65" charset="-120"/>
              </a:rPr>
              <a:t>6</a:t>
            </a:r>
            <a:r>
              <a:rPr lang="en-US" altLang="zh-CN" sz="3600" dirty="0">
                <a:solidFill>
                  <a:schemeClr val="tx1"/>
                </a:solidFill>
                <a:latin typeface="標楷體" pitchFamily="65" charset="-120"/>
                <a:ea typeface="標楷體" pitchFamily="65" charset="-120"/>
              </a:rPr>
              <a:t>.</a:t>
            </a:r>
            <a:r>
              <a:rPr lang="zh-CN" altLang="en-US" sz="3600" dirty="0">
                <a:solidFill>
                  <a:schemeClr val="tx1"/>
                </a:solidFill>
                <a:latin typeface="標楷體" pitchFamily="65" charset="-120"/>
                <a:ea typeface="標楷體" pitchFamily="65" charset="-120"/>
              </a:rPr>
              <a:t>运输速度</a:t>
            </a:r>
          </a:p>
        </p:txBody>
      </p:sp>
      <p:sp>
        <p:nvSpPr>
          <p:cNvPr id="5" name="標題 1"/>
          <p:cNvSpPr txBox="1">
            <a:spLocks/>
          </p:cNvSpPr>
          <p:nvPr/>
        </p:nvSpPr>
        <p:spPr>
          <a:xfrm>
            <a:off x="1071538" y="1071546"/>
            <a:ext cx="7715304" cy="5500726"/>
          </a:xfrm>
          <a:prstGeom prst="rect">
            <a:avLst/>
          </a:prstGeom>
        </p:spPr>
        <p:txBody>
          <a:bodyPr anchor="t">
            <a:noAutofit/>
          </a:bodyPr>
          <a:lstStyle/>
          <a:p>
            <a:pPr marL="274320" indent="-274320" algn="just">
              <a:spcBef>
                <a:spcPts val="580"/>
              </a:spcBef>
              <a:buFont typeface="Wingdings 2"/>
              <a:buChar char=""/>
              <a:defRPr/>
            </a:pPr>
            <a:r>
              <a:rPr lang="zh-CN" altLang="en-US" sz="2400" dirty="0">
                <a:latin typeface="標楷體" pitchFamily="65" charset="-120"/>
                <a:ea typeface="標楷體" pitchFamily="65" charset="-120"/>
              </a:rPr>
              <a:t>运输速度</a:t>
            </a:r>
          </a:p>
          <a:p>
            <a:pPr marL="274320" indent="-274320" algn="just">
              <a:spcBef>
                <a:spcPts val="580"/>
              </a:spcBef>
              <a:defRPr/>
            </a:pPr>
            <a:r>
              <a:rPr lang="zh-CN" altLang="en-US" sz="2400" dirty="0">
                <a:latin typeface="標楷體" pitchFamily="65" charset="-120"/>
                <a:ea typeface="標楷體" pitchFamily="65" charset="-120"/>
              </a:rPr>
              <a:t>     一般我们讲运输速度为0-2</a:t>
            </a:r>
            <a:r>
              <a:rPr lang="en-US" altLang="zh-CN" sz="2400" dirty="0">
                <a:latin typeface="標楷體" pitchFamily="65" charset="-120"/>
                <a:ea typeface="標楷體" pitchFamily="65" charset="-120"/>
              </a:rPr>
              <a:t>m/min</a:t>
            </a:r>
            <a:r>
              <a:rPr lang="zh-CN" altLang="en-US" sz="2400" dirty="0">
                <a:latin typeface="標楷體" pitchFamily="65" charset="-120"/>
                <a:ea typeface="標楷體" pitchFamily="65" charset="-120"/>
              </a:rPr>
              <a:t>可调，但考虑到元件的润湿特性以及焊点脱锡时的平稳性，速度不是越快或越慢最好。每一种基板都有一种最佳的焊接条件：适宜的温度活化适量的助焊剂，波峰适宜的浸润以及稳定的脱锡状态，才能获得良好的焊接品质。(过快过慢的速度将造成桥连和虚焊的产生)</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00100" y="274638"/>
            <a:ext cx="7498080" cy="939784"/>
          </a:xfrm>
        </p:spPr>
        <p:txBody>
          <a:bodyPr anchor="ctr">
            <a:noAutofit/>
          </a:bodyPr>
          <a:lstStyle/>
          <a:p>
            <a:pPr marL="274320" indent="-274320">
              <a:lnSpc>
                <a:spcPct val="80000"/>
              </a:lnSpc>
              <a:defRPr/>
            </a:pPr>
            <a:r>
              <a:rPr lang="en-US" altLang="zh-TW" sz="3600" dirty="0">
                <a:solidFill>
                  <a:schemeClr val="tx1"/>
                </a:solidFill>
                <a:latin typeface="標楷體" pitchFamily="65" charset="-120"/>
                <a:ea typeface="標楷體" pitchFamily="65" charset="-120"/>
              </a:rPr>
              <a:t>7</a:t>
            </a:r>
            <a:r>
              <a:rPr lang="en-US" altLang="zh-CN" sz="3600" dirty="0">
                <a:solidFill>
                  <a:schemeClr val="tx1"/>
                </a:solidFill>
                <a:latin typeface="標楷體" pitchFamily="65" charset="-120"/>
                <a:ea typeface="標楷體" pitchFamily="65" charset="-120"/>
              </a:rPr>
              <a:t>.</a:t>
            </a:r>
            <a:r>
              <a:rPr lang="zh-CN" altLang="en-US" sz="3600" dirty="0">
                <a:solidFill>
                  <a:schemeClr val="tx1"/>
                </a:solidFill>
                <a:latin typeface="標楷體" pitchFamily="65" charset="-120"/>
                <a:ea typeface="標楷體" pitchFamily="65" charset="-120"/>
              </a:rPr>
              <a:t>预热温度</a:t>
            </a:r>
          </a:p>
        </p:txBody>
      </p:sp>
      <p:sp>
        <p:nvSpPr>
          <p:cNvPr id="5" name="標題 1"/>
          <p:cNvSpPr txBox="1">
            <a:spLocks/>
          </p:cNvSpPr>
          <p:nvPr/>
        </p:nvSpPr>
        <p:spPr>
          <a:xfrm>
            <a:off x="1071538" y="1071546"/>
            <a:ext cx="7715304" cy="5500726"/>
          </a:xfrm>
          <a:prstGeom prst="rect">
            <a:avLst/>
          </a:prstGeom>
        </p:spPr>
        <p:txBody>
          <a:bodyPr anchor="t">
            <a:noAutofit/>
          </a:bodyPr>
          <a:lstStyle/>
          <a:p>
            <a:pPr marL="274320" indent="-274320" algn="just">
              <a:spcBef>
                <a:spcPts val="580"/>
              </a:spcBef>
              <a:buFont typeface="Wingdings 2"/>
              <a:buChar char=""/>
              <a:defRPr/>
            </a:pPr>
            <a:r>
              <a:rPr lang="zh-CN" altLang="en-US" sz="2400" dirty="0">
                <a:latin typeface="標楷體" pitchFamily="65" charset="-120"/>
                <a:ea typeface="標楷體" pitchFamily="65" charset="-120"/>
              </a:rPr>
              <a:t>预热温度</a:t>
            </a:r>
          </a:p>
          <a:p>
            <a:pPr marL="274320" indent="-274320" algn="just">
              <a:spcBef>
                <a:spcPts val="580"/>
              </a:spcBef>
              <a:defRPr/>
            </a:pPr>
            <a:r>
              <a:rPr lang="zh-CN" altLang="en-US" sz="2000" dirty="0">
                <a:latin typeface="標楷體" pitchFamily="65" charset="-120"/>
                <a:ea typeface="標楷體" pitchFamily="65" charset="-120"/>
              </a:rPr>
              <a:t>    焊接工艺里预热条件是焊接品质好坏的前提条件。当助焊剂被均匀的涂覆到</a:t>
            </a:r>
            <a:r>
              <a:rPr lang="en-US" altLang="zh-CN" sz="2000" dirty="0">
                <a:latin typeface="標楷體" pitchFamily="65" charset="-120"/>
                <a:ea typeface="標楷體" pitchFamily="65" charset="-120"/>
              </a:rPr>
              <a:t>PCB</a:t>
            </a:r>
            <a:r>
              <a:rPr lang="zh-CN" altLang="en-US" sz="2000" dirty="0">
                <a:latin typeface="標楷體" pitchFamily="65" charset="-120"/>
                <a:ea typeface="標楷體" pitchFamily="65" charset="-120"/>
              </a:rPr>
              <a:t>板以后，需要提供适当的温度去激发助活剂的活性，此过程将在预热区实现。有铅焊接时预热温度大约维持在</a:t>
            </a:r>
            <a:r>
              <a:rPr lang="en-US" altLang="zh-CN" sz="2000" dirty="0">
                <a:latin typeface="標楷體" pitchFamily="65" charset="-120"/>
                <a:ea typeface="標楷體" pitchFamily="65" charset="-120"/>
              </a:rPr>
              <a:t>85-110℃</a:t>
            </a:r>
            <a:r>
              <a:rPr lang="zh-CN" altLang="en-US" sz="2000" dirty="0">
                <a:latin typeface="標楷體" pitchFamily="65" charset="-120"/>
                <a:ea typeface="標楷體" pitchFamily="65" charset="-120"/>
              </a:rPr>
              <a:t>之间，而无铅免洗的助焊剂由于活性低需在高温下才能激化活性，故其活化温度维持在</a:t>
            </a:r>
            <a:r>
              <a:rPr lang="en-US" altLang="zh-CN" sz="2000" dirty="0">
                <a:latin typeface="標楷體" pitchFamily="65" charset="-120"/>
                <a:ea typeface="標楷體" pitchFamily="65" charset="-120"/>
              </a:rPr>
              <a:t>120℃</a:t>
            </a:r>
            <a:r>
              <a:rPr lang="zh-CN" altLang="en-US" sz="2000" dirty="0">
                <a:latin typeface="標楷體" pitchFamily="65" charset="-120"/>
                <a:ea typeface="標楷體" pitchFamily="65" charset="-120"/>
              </a:rPr>
              <a:t>左右。在能保证温度能达到以上要求以及保持元器件的升温速率（</a:t>
            </a:r>
            <a:r>
              <a:rPr lang="en-US" altLang="zh-CN" sz="2000" dirty="0">
                <a:latin typeface="標楷體" pitchFamily="65" charset="-120"/>
                <a:ea typeface="標楷體" pitchFamily="65" charset="-120"/>
              </a:rPr>
              <a:t>2℃/</a:t>
            </a:r>
            <a:r>
              <a:rPr lang="zh-CN" altLang="en-US" sz="2000" dirty="0">
                <a:latin typeface="標楷體" pitchFamily="65" charset="-120"/>
                <a:ea typeface="標楷體" pitchFamily="65" charset="-120"/>
              </a:rPr>
              <a:t>以内）情况下，此过程所处的时间为1分半钟左右。若超过界限，可能使助焊剂活化不足或焦化失去活性引起焊接不良，产生桥连或虚焊。</a:t>
            </a:r>
          </a:p>
          <a:p>
            <a:pPr marL="274320" indent="-274320" algn="just">
              <a:spcBef>
                <a:spcPts val="580"/>
              </a:spcBef>
              <a:defRPr/>
            </a:pPr>
            <a:r>
              <a:rPr lang="zh-CN" altLang="en-US" sz="2000" dirty="0">
                <a:latin typeface="標楷體" pitchFamily="65" charset="-120"/>
                <a:ea typeface="標楷體" pitchFamily="65" charset="-120"/>
              </a:rPr>
              <a:t>     另一方面当</a:t>
            </a:r>
            <a:r>
              <a:rPr lang="en-US" altLang="zh-CN" sz="2000" dirty="0">
                <a:latin typeface="標楷體" pitchFamily="65" charset="-120"/>
                <a:ea typeface="標楷體" pitchFamily="65" charset="-120"/>
              </a:rPr>
              <a:t>PCB</a:t>
            </a:r>
            <a:r>
              <a:rPr lang="zh-CN" altLang="en-US" sz="2000" dirty="0">
                <a:latin typeface="標楷體" pitchFamily="65" charset="-120"/>
                <a:ea typeface="標楷體" pitchFamily="65" charset="-120"/>
              </a:rPr>
              <a:t>从低温升入高温时如果升温过快有可能使</a:t>
            </a:r>
            <a:r>
              <a:rPr lang="en-US" altLang="zh-CN" sz="2000" dirty="0">
                <a:latin typeface="標楷體" pitchFamily="65" charset="-120"/>
                <a:ea typeface="標楷體" pitchFamily="65" charset="-120"/>
              </a:rPr>
              <a:t>PCB</a:t>
            </a:r>
            <a:r>
              <a:rPr lang="zh-CN" altLang="en-US" sz="2000" dirty="0">
                <a:latin typeface="標楷體" pitchFamily="65" charset="-120"/>
                <a:ea typeface="標楷體" pitchFamily="65" charset="-120"/>
              </a:rPr>
              <a:t>板面变形弯曲,预热区的缓慢升温可缓减</a:t>
            </a:r>
            <a:r>
              <a:rPr lang="en-US" altLang="zh-CN" sz="2000" dirty="0">
                <a:latin typeface="標楷體" pitchFamily="65" charset="-120"/>
                <a:ea typeface="標楷體" pitchFamily="65" charset="-120"/>
              </a:rPr>
              <a:t>PCB</a:t>
            </a:r>
            <a:r>
              <a:rPr lang="zh-CN" altLang="en-US" sz="2000" dirty="0">
                <a:latin typeface="標楷體" pitchFamily="65" charset="-120"/>
                <a:ea typeface="標楷體" pitchFamily="65" charset="-120"/>
              </a:rPr>
              <a:t>因快速升温产生应力所导致的</a:t>
            </a:r>
            <a:r>
              <a:rPr lang="en-US" altLang="zh-CN" sz="2000" dirty="0">
                <a:latin typeface="標楷體" pitchFamily="65" charset="-120"/>
                <a:ea typeface="標楷體" pitchFamily="65" charset="-120"/>
              </a:rPr>
              <a:t>PCB</a:t>
            </a:r>
            <a:r>
              <a:rPr lang="zh-CN" altLang="en-US" sz="2000" dirty="0">
                <a:latin typeface="標楷體" pitchFamily="65" charset="-120"/>
                <a:ea typeface="標楷體" pitchFamily="65" charset="-120"/>
              </a:rPr>
              <a:t>变形，可有效地避免焊接不良的产生。</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00100" y="274638"/>
            <a:ext cx="7498080" cy="939784"/>
          </a:xfrm>
        </p:spPr>
        <p:txBody>
          <a:bodyPr anchor="ctr">
            <a:noAutofit/>
          </a:bodyPr>
          <a:lstStyle/>
          <a:p>
            <a:pPr marL="274320" indent="-274320">
              <a:lnSpc>
                <a:spcPct val="80000"/>
              </a:lnSpc>
              <a:defRPr/>
            </a:pPr>
            <a:r>
              <a:rPr lang="en-US" altLang="zh-TW" sz="3600" dirty="0">
                <a:solidFill>
                  <a:schemeClr val="tx1"/>
                </a:solidFill>
                <a:latin typeface="標楷體" pitchFamily="65" charset="-120"/>
                <a:ea typeface="標楷體" pitchFamily="65" charset="-120"/>
              </a:rPr>
              <a:t>8</a:t>
            </a:r>
            <a:r>
              <a:rPr lang="en-US" altLang="zh-CN" sz="3600" dirty="0">
                <a:solidFill>
                  <a:schemeClr val="tx1"/>
                </a:solidFill>
                <a:latin typeface="標楷體" pitchFamily="65" charset="-120"/>
                <a:ea typeface="標楷體" pitchFamily="65" charset="-120"/>
              </a:rPr>
              <a:t>.</a:t>
            </a:r>
            <a:r>
              <a:rPr lang="zh-CN" altLang="en-US" sz="3600" dirty="0">
                <a:solidFill>
                  <a:schemeClr val="tx1"/>
                </a:solidFill>
                <a:latin typeface="標楷體" pitchFamily="65" charset="-120"/>
                <a:ea typeface="標楷體" pitchFamily="65" charset="-120"/>
              </a:rPr>
              <a:t>锡炉温度</a:t>
            </a:r>
          </a:p>
        </p:txBody>
      </p:sp>
      <p:sp>
        <p:nvSpPr>
          <p:cNvPr id="5" name="標題 1"/>
          <p:cNvSpPr txBox="1">
            <a:spLocks/>
          </p:cNvSpPr>
          <p:nvPr/>
        </p:nvSpPr>
        <p:spPr>
          <a:xfrm>
            <a:off x="1071538" y="1071546"/>
            <a:ext cx="7715304" cy="5500726"/>
          </a:xfrm>
          <a:prstGeom prst="rect">
            <a:avLst/>
          </a:prstGeom>
        </p:spPr>
        <p:txBody>
          <a:bodyPr anchor="t">
            <a:noAutofit/>
          </a:bodyPr>
          <a:lstStyle/>
          <a:p>
            <a:pPr marL="274320" indent="-274320" algn="just">
              <a:spcBef>
                <a:spcPts val="580"/>
              </a:spcBef>
              <a:buFont typeface="Wingdings 2"/>
              <a:buChar char=""/>
              <a:defRPr/>
            </a:pPr>
            <a:r>
              <a:rPr lang="zh-CN" altLang="en-US" sz="2400" dirty="0">
                <a:latin typeface="標楷體" pitchFamily="65" charset="-120"/>
                <a:ea typeface="標楷體" pitchFamily="65" charset="-120"/>
              </a:rPr>
              <a:t>预锡炉温度</a:t>
            </a:r>
          </a:p>
          <a:p>
            <a:pPr marL="274320" indent="-274320">
              <a:spcBef>
                <a:spcPts val="580"/>
              </a:spcBef>
              <a:defRPr/>
            </a:pPr>
            <a:r>
              <a:rPr lang="zh-CN" altLang="en-US" sz="2400" dirty="0">
                <a:latin typeface="標楷體" pitchFamily="65" charset="-120"/>
                <a:ea typeface="標楷體" pitchFamily="65" charset="-120"/>
              </a:rPr>
              <a:t>     炉温是整个焊接系统的关键。无铅焊料需在</a:t>
            </a:r>
            <a:r>
              <a:rPr lang="en-US" altLang="zh-CN" sz="2400" dirty="0">
                <a:latin typeface="標楷體" pitchFamily="65" charset="-120"/>
                <a:ea typeface="標楷體" pitchFamily="65" charset="-120"/>
              </a:rPr>
              <a:t>250</a:t>
            </a:r>
            <a:r>
              <a:rPr lang="zh-CN" altLang="en-US" sz="2400" dirty="0">
                <a:latin typeface="標楷體" pitchFamily="65" charset="-120"/>
                <a:ea typeface="標楷體" pitchFamily="65" charset="-120"/>
              </a:rPr>
              <a:t>才能润湿。太低的锡温将导致润湿不良，或引起流动性变差，产生桥连或上锡不良。过高的锡温则导致焊料本身氧化严重，流动性变差，严重地将损伤元器件或</a:t>
            </a:r>
            <a:r>
              <a:rPr lang="en-US" altLang="zh-CN" sz="2400" dirty="0">
                <a:latin typeface="標楷體" pitchFamily="65" charset="-120"/>
                <a:ea typeface="標楷體" pitchFamily="65" charset="-120"/>
              </a:rPr>
              <a:t>PCB</a:t>
            </a:r>
            <a:r>
              <a:rPr lang="zh-CN" altLang="en-US" sz="2400" dirty="0">
                <a:latin typeface="標楷體" pitchFamily="65" charset="-120"/>
                <a:ea typeface="標楷體" pitchFamily="65" charset="-120"/>
              </a:rPr>
              <a:t>表面的铜箔。由于各处的设定温度与</a:t>
            </a:r>
            <a:r>
              <a:rPr lang="en-US" altLang="zh-CN" sz="2400" dirty="0">
                <a:latin typeface="標楷體" pitchFamily="65" charset="-120"/>
                <a:ea typeface="標楷體" pitchFamily="65" charset="-120"/>
              </a:rPr>
              <a:t>PCB</a:t>
            </a:r>
            <a:r>
              <a:rPr lang="zh-CN" altLang="en-US" sz="2400" dirty="0">
                <a:latin typeface="標楷體" pitchFamily="65" charset="-120"/>
                <a:ea typeface="標楷體" pitchFamily="65" charset="-120"/>
              </a:rPr>
              <a:t>板面实测温度存在差异，并且焊接时受元件表面温度的限制，无铅焊接的温度大约设定在</a:t>
            </a:r>
            <a:r>
              <a:rPr lang="en-US" altLang="zh-CN" sz="2400" dirty="0">
                <a:latin typeface="標楷體" pitchFamily="65" charset="-120"/>
                <a:ea typeface="標楷體" pitchFamily="65" charset="-120"/>
              </a:rPr>
              <a:t>260-275℃</a:t>
            </a:r>
            <a:r>
              <a:rPr lang="zh-CN" altLang="en-US" sz="2400" dirty="0">
                <a:latin typeface="標楷體" pitchFamily="65" charset="-120"/>
                <a:ea typeface="標楷體" pitchFamily="65" charset="-120"/>
              </a:rPr>
              <a:t>之间。在此温度下</a:t>
            </a:r>
            <a:r>
              <a:rPr lang="en-US" altLang="zh-CN" sz="2400" dirty="0">
                <a:latin typeface="標楷體" pitchFamily="65" charset="-120"/>
                <a:ea typeface="標楷體" pitchFamily="65" charset="-120"/>
              </a:rPr>
              <a:t>PCB</a:t>
            </a:r>
            <a:r>
              <a:rPr lang="zh-CN" altLang="en-US" sz="2400" dirty="0">
                <a:latin typeface="標楷體" pitchFamily="65" charset="-120"/>
                <a:ea typeface="標楷體" pitchFamily="65" charset="-120"/>
              </a:rPr>
              <a:t>焊点钎接时都可以达到上述的润湿条件</a:t>
            </a:r>
            <a:endParaRPr lang="zh-CN" altLang="en-US" sz="2000" dirty="0">
              <a:latin typeface="標楷體" pitchFamily="65" charset="-120"/>
              <a:ea typeface="標楷體" pitchFamily="65" charset="-12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00100" y="274638"/>
            <a:ext cx="7498080" cy="939784"/>
          </a:xfrm>
        </p:spPr>
        <p:txBody>
          <a:bodyPr anchor="ctr">
            <a:noAutofit/>
          </a:bodyPr>
          <a:lstStyle/>
          <a:p>
            <a:pPr marL="274320" indent="-274320">
              <a:lnSpc>
                <a:spcPct val="80000"/>
              </a:lnSpc>
              <a:defRPr/>
            </a:pPr>
            <a:r>
              <a:rPr lang="en-US" altLang="zh-TW" sz="3600" dirty="0">
                <a:solidFill>
                  <a:schemeClr val="tx1"/>
                </a:solidFill>
                <a:latin typeface="標楷體" pitchFamily="65" charset="-120"/>
                <a:ea typeface="標楷體" pitchFamily="65" charset="-120"/>
              </a:rPr>
              <a:t>9</a:t>
            </a:r>
            <a:r>
              <a:rPr lang="en-US" altLang="zh-CN" sz="3600" dirty="0">
                <a:solidFill>
                  <a:schemeClr val="tx1"/>
                </a:solidFill>
                <a:latin typeface="標楷體" pitchFamily="65" charset="-120"/>
                <a:ea typeface="標楷體" pitchFamily="65" charset="-120"/>
              </a:rPr>
              <a:t>.</a:t>
            </a:r>
            <a:r>
              <a:rPr lang="zh-CN" altLang="en-US" sz="3600" dirty="0">
                <a:solidFill>
                  <a:schemeClr val="tx1"/>
                </a:solidFill>
                <a:latin typeface="標楷體" pitchFamily="65" charset="-120"/>
                <a:ea typeface="標楷體" pitchFamily="65" charset="-120"/>
              </a:rPr>
              <a:t>焊料波峰的形态</a:t>
            </a:r>
          </a:p>
        </p:txBody>
      </p:sp>
      <p:sp>
        <p:nvSpPr>
          <p:cNvPr id="6" name="標題 1"/>
          <p:cNvSpPr txBox="1">
            <a:spLocks/>
          </p:cNvSpPr>
          <p:nvPr/>
        </p:nvSpPr>
        <p:spPr>
          <a:xfrm>
            <a:off x="1071538" y="1071546"/>
            <a:ext cx="7715304" cy="5500726"/>
          </a:xfrm>
          <a:prstGeom prst="rect">
            <a:avLst/>
          </a:prstGeom>
        </p:spPr>
        <p:txBody>
          <a:bodyPr anchor="t">
            <a:noAutofit/>
          </a:bodyPr>
          <a:lstStyle/>
          <a:p>
            <a:pPr marL="274320" indent="-274320" algn="just">
              <a:spcBef>
                <a:spcPts val="580"/>
              </a:spcBef>
              <a:buFont typeface="Wingdings 2"/>
              <a:buChar char=""/>
              <a:defRPr/>
            </a:pPr>
            <a:r>
              <a:rPr lang="zh-CN" altLang="en-US" sz="2400" dirty="0">
                <a:latin typeface="华文中宋" pitchFamily="2" charset="-122"/>
                <a:ea typeface="华文中宋" pitchFamily="2" charset="-122"/>
              </a:rPr>
              <a:t>焊料波峰的形态</a:t>
            </a:r>
            <a:endParaRPr lang="en-US" altLang="zh-CN" sz="2400" dirty="0">
              <a:latin typeface="华文中宋" pitchFamily="2" charset="-122"/>
              <a:ea typeface="华文中宋" pitchFamily="2" charset="-122"/>
            </a:endParaRPr>
          </a:p>
          <a:p>
            <a:pPr algn="just"/>
            <a:r>
              <a:rPr lang="zh-CN" altLang="en-US" dirty="0">
                <a:latin typeface="標楷體" pitchFamily="65" charset="-120"/>
                <a:ea typeface="標楷體" pitchFamily="65" charset="-120"/>
              </a:rPr>
              <a:t>   元件与</a:t>
            </a:r>
            <a:r>
              <a:rPr lang="en-US" altLang="zh-CN" dirty="0">
                <a:latin typeface="標楷體" pitchFamily="65" charset="-120"/>
                <a:ea typeface="標楷體" pitchFamily="65" charset="-120"/>
              </a:rPr>
              <a:t>PCB</a:t>
            </a:r>
            <a:r>
              <a:rPr lang="zh-CN" altLang="en-US" dirty="0">
                <a:latin typeface="標楷體" pitchFamily="65" charset="-120"/>
                <a:ea typeface="標楷體" pitchFamily="65" charset="-120"/>
              </a:rPr>
              <a:t>在焊料中焊接后，脱离波峰时需要波峰提供一个相对稳定，无外界干扰的平衡状态。对于简单的</a:t>
            </a:r>
            <a:r>
              <a:rPr lang="en-US" altLang="zh-CN" dirty="0">
                <a:latin typeface="標楷體" pitchFamily="65" charset="-120"/>
                <a:ea typeface="標楷體" pitchFamily="65" charset="-120"/>
              </a:rPr>
              <a:t>PCB</a:t>
            </a:r>
            <a:r>
              <a:rPr lang="zh-CN" altLang="en-US" dirty="0">
                <a:latin typeface="標楷體" pitchFamily="65" charset="-120"/>
                <a:ea typeface="標楷體" pitchFamily="65" charset="-120"/>
              </a:rPr>
              <a:t>来讲，若没有细间距的设计元件，波峰表面的稳定程度不会对焊接造成不良影响。但对于细间距引脚的元器件来讲，当元件引脚脱离波峰时，受毛细作用影响，焊料被焊盘和引线在“某一相对平衡的点”分离出焊料波，（“某一相对平衡的点“指的是元件脱锡的瞬间，波峰的前流与后流及运输速度是一组平衡力，且波峰表面无扰动及横流状态的存在。）焊料将在毛细功能作用下润湿在待焊面上。我们调节不同的波峰形状本质上就是为了找出这个 “平衡点”来适应不同的客户需求。</a:t>
            </a:r>
            <a:endParaRPr lang="en-US" altLang="zh-CN" dirty="0">
              <a:latin typeface="標楷體" pitchFamily="65" charset="-120"/>
              <a:ea typeface="標楷體" pitchFamily="65" charset="-120"/>
            </a:endParaRPr>
          </a:p>
          <a:p>
            <a:pPr algn="just"/>
            <a:endParaRPr lang="en-US" altLang="zh-CN" dirty="0">
              <a:latin typeface="標楷體" pitchFamily="65" charset="-120"/>
              <a:ea typeface="標楷體" pitchFamily="65" charset="-120"/>
            </a:endParaRPr>
          </a:p>
          <a:p>
            <a:pPr algn="just"/>
            <a:r>
              <a:rPr lang="zh-CN" altLang="en-US" dirty="0">
                <a:latin typeface="標楷體" pitchFamily="65" charset="-120"/>
                <a:ea typeface="標楷體" pitchFamily="65" charset="-120"/>
              </a:rPr>
              <a:t>   大致来讲简单的</a:t>
            </a:r>
            <a:r>
              <a:rPr lang="en-US" altLang="zh-CN" dirty="0">
                <a:latin typeface="標楷體" pitchFamily="65" charset="-120"/>
                <a:ea typeface="標楷體" pitchFamily="65" charset="-120"/>
              </a:rPr>
              <a:t>PCB</a:t>
            </a:r>
            <a:r>
              <a:rPr lang="zh-CN" altLang="en-US" dirty="0">
                <a:latin typeface="標楷體" pitchFamily="65" charset="-120"/>
                <a:ea typeface="標楷體" pitchFamily="65" charset="-120"/>
              </a:rPr>
              <a:t>对波峰要求不会太高，设计复杂的</a:t>
            </a:r>
            <a:r>
              <a:rPr lang="en-US" altLang="zh-CN" dirty="0">
                <a:latin typeface="標楷體" pitchFamily="65" charset="-120"/>
                <a:ea typeface="標楷體" pitchFamily="65" charset="-120"/>
              </a:rPr>
              <a:t>PCB</a:t>
            </a:r>
            <a:r>
              <a:rPr lang="zh-CN" altLang="en-US" dirty="0">
                <a:latin typeface="標楷體" pitchFamily="65" charset="-120"/>
                <a:ea typeface="標楷體" pitchFamily="65" charset="-120"/>
              </a:rPr>
              <a:t>板对波峰提出严格的要求。就高密的混装板来讲，</a:t>
            </a:r>
            <a:r>
              <a:rPr lang="en-US" altLang="zh-CN" dirty="0">
                <a:latin typeface="標楷體" pitchFamily="65" charset="-120"/>
                <a:ea typeface="標楷體" pitchFamily="65" charset="-120"/>
              </a:rPr>
              <a:t>SMT</a:t>
            </a:r>
            <a:r>
              <a:rPr lang="zh-CN" altLang="en-US" dirty="0">
                <a:latin typeface="標楷體" pitchFamily="65" charset="-120"/>
                <a:ea typeface="標楷體" pitchFamily="65" charset="-120"/>
              </a:rPr>
              <a:t>元件要求第一波峰能够提供可焊接2秒钟的梯形高冲击波来对应遮蔽效应；封装体及排插类元件则要求提供可焊接时间在3-</a:t>
            </a:r>
            <a:r>
              <a:rPr lang="en-US" altLang="zh-CN" dirty="0">
                <a:latin typeface="標楷體" pitchFamily="65" charset="-120"/>
                <a:ea typeface="標楷體" pitchFamily="65" charset="-120"/>
              </a:rPr>
              <a:t>5</a:t>
            </a:r>
            <a:r>
              <a:rPr lang="zh-CN" altLang="en-US" dirty="0">
                <a:latin typeface="標楷體" pitchFamily="65" charset="-120"/>
                <a:ea typeface="標楷體" pitchFamily="65" charset="-120"/>
              </a:rPr>
              <a:t>秒钟的“稳定波峰”。每种元件根据自己本身的特性，基本上对焊料波峰也提出了要求，大热容量的封装体和排插适应于平流波，而类似于封装体的小热容易的排插则适应于弧形波</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00100" y="274638"/>
            <a:ext cx="7498080" cy="939784"/>
          </a:xfrm>
        </p:spPr>
        <p:txBody>
          <a:bodyPr anchor="ctr">
            <a:noAutofit/>
          </a:bodyPr>
          <a:lstStyle/>
          <a:p>
            <a:pPr marL="274320" indent="-274320">
              <a:spcBef>
                <a:spcPts val="580"/>
              </a:spcBef>
              <a:defRPr/>
            </a:pPr>
            <a:r>
              <a:rPr lang="en-US" altLang="zh-TW" sz="3600" dirty="0">
                <a:solidFill>
                  <a:schemeClr val="tx1"/>
                </a:solidFill>
                <a:latin typeface="標楷體" pitchFamily="65" charset="-120"/>
                <a:ea typeface="標楷體" pitchFamily="65" charset="-120"/>
              </a:rPr>
              <a:t>10</a:t>
            </a:r>
            <a:r>
              <a:rPr lang="en-US" altLang="zh-CN" sz="3600" dirty="0">
                <a:solidFill>
                  <a:schemeClr val="tx1"/>
                </a:solidFill>
                <a:latin typeface="標楷體" pitchFamily="65" charset="-120"/>
                <a:ea typeface="標楷體" pitchFamily="65" charset="-120"/>
              </a:rPr>
              <a:t>.</a:t>
            </a:r>
            <a:r>
              <a:rPr lang="zh-CN" altLang="en-US" sz="3600" dirty="0">
                <a:solidFill>
                  <a:schemeClr val="tx1"/>
                </a:solidFill>
                <a:latin typeface="標楷體" pitchFamily="65" charset="-120"/>
                <a:ea typeface="標楷體" pitchFamily="65" charset="-120"/>
              </a:rPr>
              <a:t>传送角度</a:t>
            </a:r>
            <a:endParaRPr lang="en-US" altLang="zh-CN" sz="3600" dirty="0">
              <a:solidFill>
                <a:schemeClr val="tx1"/>
              </a:solidFill>
              <a:latin typeface="標楷體" pitchFamily="65" charset="-120"/>
              <a:ea typeface="標楷體" pitchFamily="65" charset="-120"/>
            </a:endParaRPr>
          </a:p>
        </p:txBody>
      </p:sp>
      <p:sp>
        <p:nvSpPr>
          <p:cNvPr id="6" name="標題 1"/>
          <p:cNvSpPr txBox="1">
            <a:spLocks/>
          </p:cNvSpPr>
          <p:nvPr/>
        </p:nvSpPr>
        <p:spPr>
          <a:xfrm>
            <a:off x="1071538" y="1071546"/>
            <a:ext cx="7715304" cy="5500726"/>
          </a:xfrm>
          <a:prstGeom prst="rect">
            <a:avLst/>
          </a:prstGeom>
        </p:spPr>
        <p:txBody>
          <a:bodyPr anchor="t">
            <a:noAutofit/>
          </a:bodyPr>
          <a:lstStyle/>
          <a:p>
            <a:pPr marL="274320" indent="-274320" algn="just">
              <a:spcBef>
                <a:spcPts val="580"/>
              </a:spcBef>
              <a:buFont typeface="Wingdings 2"/>
              <a:buChar char=""/>
              <a:defRPr/>
            </a:pPr>
            <a:r>
              <a:rPr lang="zh-CN" altLang="en-US" sz="2400" dirty="0">
                <a:latin typeface="標楷體" pitchFamily="65" charset="-120"/>
                <a:ea typeface="標楷體" pitchFamily="65" charset="-120"/>
              </a:rPr>
              <a:t>传送角度</a:t>
            </a:r>
            <a:endParaRPr lang="en-US" altLang="zh-CN" sz="2400" dirty="0">
              <a:latin typeface="標楷體" pitchFamily="65" charset="-120"/>
              <a:ea typeface="標楷體" pitchFamily="65" charset="-120"/>
            </a:endParaRPr>
          </a:p>
          <a:p>
            <a:pPr algn="just"/>
            <a:r>
              <a:rPr lang="zh-CN" altLang="en-US" dirty="0">
                <a:latin typeface="標楷體" pitchFamily="65" charset="-120"/>
                <a:ea typeface="標楷體" pitchFamily="65" charset="-120"/>
              </a:rPr>
              <a:t>     </a:t>
            </a:r>
            <a:r>
              <a:rPr lang="zh-CN" altLang="en-US" sz="2000" dirty="0">
                <a:latin typeface="標楷體" pitchFamily="65" charset="-120"/>
                <a:ea typeface="標楷體" pitchFamily="65" charset="-120"/>
              </a:rPr>
              <a:t>传送角度指的是轨道的倾角,焊接造成的不良常见于桥连。调节角度的根本性质是避免相邻两个焊点在脱锡时同时处于焊料的可能性。一般在生产中出现桥连时可通过调节角度或助焊剂的量或浸锡时间或</a:t>
            </a:r>
            <a:r>
              <a:rPr lang="en-US" altLang="zh-CN" sz="2000" dirty="0">
                <a:latin typeface="標楷體" pitchFamily="65" charset="-120"/>
                <a:ea typeface="標楷體" pitchFamily="65" charset="-120"/>
              </a:rPr>
              <a:t>PCB</a:t>
            </a:r>
            <a:r>
              <a:rPr lang="zh-CN" altLang="en-US" sz="2000" dirty="0">
                <a:latin typeface="標楷體" pitchFamily="65" charset="-120"/>
                <a:ea typeface="標楷體" pitchFamily="65" charset="-120"/>
              </a:rPr>
              <a:t>板的浸锡深度等相关因素。在调节上述几个因素时若只调节某一环节，势必会改变</a:t>
            </a:r>
            <a:r>
              <a:rPr lang="en-US" altLang="zh-CN" sz="2000" dirty="0">
                <a:latin typeface="標楷體" pitchFamily="65" charset="-120"/>
                <a:ea typeface="標楷體" pitchFamily="65" charset="-120"/>
              </a:rPr>
              <a:t>PCB</a:t>
            </a:r>
            <a:r>
              <a:rPr lang="zh-CN" altLang="en-US" sz="2000" dirty="0">
                <a:latin typeface="標楷體" pitchFamily="65" charset="-120"/>
                <a:ea typeface="標楷體" pitchFamily="65" charset="-120"/>
              </a:rPr>
              <a:t>的浸锡时间，在不影响</a:t>
            </a:r>
            <a:r>
              <a:rPr lang="en-US" altLang="zh-CN" sz="2000" dirty="0">
                <a:latin typeface="標楷體" pitchFamily="65" charset="-120"/>
                <a:ea typeface="標楷體" pitchFamily="65" charset="-120"/>
              </a:rPr>
              <a:t>PCB</a:t>
            </a:r>
            <a:r>
              <a:rPr lang="zh-CN" altLang="en-US" sz="2000" dirty="0">
                <a:latin typeface="標楷體" pitchFamily="65" charset="-120"/>
                <a:ea typeface="標楷體" pitchFamily="65" charset="-120"/>
              </a:rPr>
              <a:t>表面清洁度的状态下，尽量将助焊剂的量适当多给，可防止桥连的产生（适宜角度在4-</a:t>
            </a:r>
            <a:r>
              <a:rPr lang="en-US" altLang="zh-CN" sz="2000" dirty="0">
                <a:latin typeface="標楷體" pitchFamily="65" charset="-120"/>
                <a:ea typeface="標楷體" pitchFamily="65" charset="-120"/>
              </a:rPr>
              <a:t>6</a:t>
            </a:r>
            <a:r>
              <a:rPr lang="zh-CN" altLang="en-US" sz="2000" dirty="0">
                <a:latin typeface="標楷體" pitchFamily="65" charset="-120"/>
                <a:ea typeface="標楷體" pitchFamily="65" charset="-120"/>
              </a:rPr>
              <a:t>度之间，目前一些公司大致采用</a:t>
            </a:r>
            <a:r>
              <a:rPr lang="en-US" altLang="zh-CN" sz="2000" dirty="0">
                <a:latin typeface="標楷體" pitchFamily="65" charset="-120"/>
                <a:ea typeface="標楷體" pitchFamily="65" charset="-120"/>
              </a:rPr>
              <a:t>5.5</a:t>
            </a:r>
            <a:r>
              <a:rPr lang="zh-CN" altLang="en-US" sz="2000" dirty="0">
                <a:latin typeface="標楷體" pitchFamily="65" charset="-120"/>
                <a:ea typeface="標楷體" pitchFamily="65" charset="-120"/>
              </a:rPr>
              <a:t>度）</a:t>
            </a:r>
          </a:p>
        </p:txBody>
      </p:sp>
      <p:grpSp>
        <p:nvGrpSpPr>
          <p:cNvPr id="4" name="群組 3"/>
          <p:cNvGrpSpPr/>
          <p:nvPr/>
        </p:nvGrpSpPr>
        <p:grpSpPr>
          <a:xfrm>
            <a:off x="4929190" y="4286256"/>
            <a:ext cx="3276600" cy="1828800"/>
            <a:chOff x="4572000" y="4038600"/>
            <a:chExt cx="3276600" cy="1828800"/>
          </a:xfrm>
        </p:grpSpPr>
        <p:sp>
          <p:nvSpPr>
            <p:cNvPr id="5" name="Rectangle 4"/>
            <p:cNvSpPr>
              <a:spLocks noChangeArrowheads="1"/>
            </p:cNvSpPr>
            <p:nvPr/>
          </p:nvSpPr>
          <p:spPr bwMode="auto">
            <a:xfrm rot="20317726">
              <a:off x="5867400" y="4495800"/>
              <a:ext cx="76200" cy="533400"/>
            </a:xfrm>
            <a:prstGeom prst="rect">
              <a:avLst/>
            </a:prstGeom>
            <a:solidFill>
              <a:schemeClr val="accent1"/>
            </a:solidFill>
            <a:ln w="9525">
              <a:solidFill>
                <a:schemeClr val="tx1"/>
              </a:solidFill>
              <a:miter lim="800000"/>
              <a:headEnd/>
              <a:tailEnd/>
            </a:ln>
          </p:spPr>
          <p:txBody>
            <a:bodyPr wrap="none" anchor="ctr"/>
            <a:lstStyle/>
            <a:p>
              <a:endParaRPr lang="zh-TW" altLang="en-US"/>
            </a:p>
          </p:txBody>
        </p:sp>
        <p:sp>
          <p:nvSpPr>
            <p:cNvPr id="7" name="Rectangle 5"/>
            <p:cNvSpPr>
              <a:spLocks noChangeArrowheads="1"/>
            </p:cNvSpPr>
            <p:nvPr/>
          </p:nvSpPr>
          <p:spPr bwMode="auto">
            <a:xfrm rot="20345743">
              <a:off x="4572000" y="4572000"/>
              <a:ext cx="3276600" cy="152400"/>
            </a:xfrm>
            <a:prstGeom prst="rect">
              <a:avLst/>
            </a:prstGeom>
            <a:solidFill>
              <a:schemeClr val="accent1"/>
            </a:solidFill>
            <a:ln w="9525">
              <a:solidFill>
                <a:schemeClr val="tx1"/>
              </a:solidFill>
              <a:miter lim="800000"/>
              <a:headEnd/>
              <a:tailEnd/>
            </a:ln>
          </p:spPr>
          <p:txBody>
            <a:bodyPr wrap="none" anchor="ctr"/>
            <a:lstStyle/>
            <a:p>
              <a:endParaRPr lang="zh-TW" altLang="en-US"/>
            </a:p>
          </p:txBody>
        </p:sp>
        <p:sp>
          <p:nvSpPr>
            <p:cNvPr id="8" name="Rectangle 6"/>
            <p:cNvSpPr>
              <a:spLocks noChangeArrowheads="1"/>
            </p:cNvSpPr>
            <p:nvPr/>
          </p:nvSpPr>
          <p:spPr bwMode="auto">
            <a:xfrm rot="20304079">
              <a:off x="6137275" y="4333875"/>
              <a:ext cx="76200" cy="533400"/>
            </a:xfrm>
            <a:prstGeom prst="rect">
              <a:avLst/>
            </a:prstGeom>
            <a:solidFill>
              <a:schemeClr val="accent1"/>
            </a:solidFill>
            <a:ln w="9525">
              <a:solidFill>
                <a:schemeClr val="tx1"/>
              </a:solidFill>
              <a:miter lim="800000"/>
              <a:headEnd/>
              <a:tailEnd/>
            </a:ln>
          </p:spPr>
          <p:txBody>
            <a:bodyPr wrap="none" anchor="ctr"/>
            <a:lstStyle/>
            <a:p>
              <a:endParaRPr lang="zh-TW" altLang="en-US"/>
            </a:p>
          </p:txBody>
        </p:sp>
        <p:sp>
          <p:nvSpPr>
            <p:cNvPr id="9" name="AutoShape 7"/>
            <p:cNvSpPr>
              <a:spLocks noChangeArrowheads="1"/>
            </p:cNvSpPr>
            <p:nvPr/>
          </p:nvSpPr>
          <p:spPr bwMode="auto">
            <a:xfrm>
              <a:off x="4953000" y="5181600"/>
              <a:ext cx="2819400" cy="685800"/>
            </a:xfrm>
            <a:prstGeom prst="cube">
              <a:avLst>
                <a:gd name="adj" fmla="val 25000"/>
              </a:avLst>
            </a:prstGeom>
            <a:solidFill>
              <a:schemeClr val="accent2"/>
            </a:solidFill>
            <a:ln w="9525">
              <a:solidFill>
                <a:schemeClr val="tx1"/>
              </a:solidFill>
              <a:miter lim="800000"/>
              <a:headEnd/>
              <a:tailEnd/>
            </a:ln>
          </p:spPr>
          <p:txBody>
            <a:bodyPr wrap="none" anchor="ctr"/>
            <a:lstStyle/>
            <a:p>
              <a:endParaRPr lang="zh-TW" altLang="en-US"/>
            </a:p>
          </p:txBody>
        </p:sp>
        <p:sp>
          <p:nvSpPr>
            <p:cNvPr id="10" name="AutoShape 8"/>
            <p:cNvSpPr>
              <a:spLocks noChangeArrowheads="1"/>
            </p:cNvSpPr>
            <p:nvPr/>
          </p:nvSpPr>
          <p:spPr bwMode="auto">
            <a:xfrm rot="20283990">
              <a:off x="5562600" y="4038600"/>
              <a:ext cx="609600" cy="457200"/>
            </a:xfrm>
            <a:prstGeom prst="can">
              <a:avLst>
                <a:gd name="adj" fmla="val 50000"/>
              </a:avLst>
            </a:prstGeom>
            <a:solidFill>
              <a:schemeClr val="tx1"/>
            </a:solidFill>
            <a:ln w="9525">
              <a:solidFill>
                <a:schemeClr val="tx1"/>
              </a:solidFill>
              <a:round/>
              <a:headEnd/>
              <a:tailEnd/>
            </a:ln>
          </p:spPr>
          <p:txBody>
            <a:bodyPr wrap="none" anchor="ctr"/>
            <a:lstStyle/>
            <a:p>
              <a:endParaRPr lang="zh-TW" altLang="en-US"/>
            </a:p>
          </p:txBody>
        </p:sp>
        <p:sp>
          <p:nvSpPr>
            <p:cNvPr id="11" name="Freeform 9"/>
            <p:cNvSpPr>
              <a:spLocks/>
            </p:cNvSpPr>
            <p:nvPr/>
          </p:nvSpPr>
          <p:spPr bwMode="auto">
            <a:xfrm>
              <a:off x="5486400" y="4800600"/>
              <a:ext cx="1638300" cy="914400"/>
            </a:xfrm>
            <a:custGeom>
              <a:avLst/>
              <a:gdLst>
                <a:gd name="T0" fmla="*/ 60483746 w 1032"/>
                <a:gd name="T1" fmla="*/ 1249997367 h 576"/>
                <a:gd name="T2" fmla="*/ 60483746 w 1032"/>
                <a:gd name="T3" fmla="*/ 645159925 h 576"/>
                <a:gd name="T4" fmla="*/ 302418706 w 1032"/>
                <a:gd name="T5" fmla="*/ 282257480 h 576"/>
                <a:gd name="T6" fmla="*/ 1874996157 w 1032"/>
                <a:gd name="T7" fmla="*/ 161289981 h 576"/>
                <a:gd name="T8" fmla="*/ 2147483647 w 1032"/>
                <a:gd name="T9" fmla="*/ 1249997367 h 576"/>
                <a:gd name="T10" fmla="*/ 2147483647 w 1032"/>
                <a:gd name="T11" fmla="*/ 1370964816 h 576"/>
                <a:gd name="T12" fmla="*/ 0 60000 65536"/>
                <a:gd name="T13" fmla="*/ 0 60000 65536"/>
                <a:gd name="T14" fmla="*/ 0 60000 65536"/>
                <a:gd name="T15" fmla="*/ 0 60000 65536"/>
                <a:gd name="T16" fmla="*/ 0 60000 65536"/>
                <a:gd name="T17" fmla="*/ 0 60000 65536"/>
                <a:gd name="T18" fmla="*/ 0 w 1032"/>
                <a:gd name="T19" fmla="*/ 0 h 576"/>
                <a:gd name="T20" fmla="*/ 1032 w 1032"/>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1032" h="576">
                  <a:moveTo>
                    <a:pt x="24" y="496"/>
                  </a:moveTo>
                  <a:cubicBezTo>
                    <a:pt x="16" y="408"/>
                    <a:pt x="8" y="320"/>
                    <a:pt x="24" y="256"/>
                  </a:cubicBezTo>
                  <a:cubicBezTo>
                    <a:pt x="40" y="192"/>
                    <a:pt x="0" y="144"/>
                    <a:pt x="120" y="112"/>
                  </a:cubicBezTo>
                  <a:cubicBezTo>
                    <a:pt x="240" y="80"/>
                    <a:pt x="600" y="0"/>
                    <a:pt x="744" y="64"/>
                  </a:cubicBezTo>
                  <a:cubicBezTo>
                    <a:pt x="888" y="128"/>
                    <a:pt x="936" y="416"/>
                    <a:pt x="984" y="496"/>
                  </a:cubicBezTo>
                  <a:cubicBezTo>
                    <a:pt x="1032" y="576"/>
                    <a:pt x="1024" y="544"/>
                    <a:pt x="1032" y="544"/>
                  </a:cubicBezTo>
                </a:path>
              </a:pathLst>
            </a:custGeom>
            <a:solidFill>
              <a:schemeClr val="hlink"/>
            </a:solidFill>
            <a:ln w="9525">
              <a:solidFill>
                <a:schemeClr val="tx1"/>
              </a:solidFill>
              <a:round/>
              <a:headEnd/>
              <a:tailEnd/>
            </a:ln>
          </p:spPr>
          <p:txBody>
            <a:bodyPr/>
            <a:lstStyle/>
            <a:p>
              <a:endParaRPr lang="zh-TW" altLang="en-US"/>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00100" y="274638"/>
            <a:ext cx="7498080" cy="939784"/>
          </a:xfrm>
        </p:spPr>
        <p:txBody>
          <a:bodyPr anchor="ctr">
            <a:noAutofit/>
          </a:bodyPr>
          <a:lstStyle/>
          <a:p>
            <a:pPr marL="274320" indent="-274320">
              <a:spcBef>
                <a:spcPts val="580"/>
              </a:spcBef>
              <a:defRPr/>
            </a:pPr>
            <a:r>
              <a:rPr lang="en-US" altLang="zh-TW" sz="3600" dirty="0">
                <a:solidFill>
                  <a:schemeClr val="tx1"/>
                </a:solidFill>
                <a:latin typeface="標楷體" pitchFamily="65" charset="-120"/>
                <a:ea typeface="標楷體" pitchFamily="65" charset="-120"/>
              </a:rPr>
              <a:t>11</a:t>
            </a:r>
            <a:r>
              <a:rPr lang="en-US" altLang="zh-CN" sz="3600" dirty="0">
                <a:solidFill>
                  <a:schemeClr val="tx1"/>
                </a:solidFill>
                <a:latin typeface="標楷體" pitchFamily="65" charset="-120"/>
                <a:ea typeface="標楷體" pitchFamily="65" charset="-120"/>
              </a:rPr>
              <a:t>.</a:t>
            </a:r>
            <a:r>
              <a:rPr lang="en-US" altLang="zh-CN" sz="3600" dirty="0">
                <a:latin typeface="標楷體" pitchFamily="65" charset="-120"/>
                <a:ea typeface="標楷體" pitchFamily="65" charset="-120"/>
              </a:rPr>
              <a:t> </a:t>
            </a:r>
            <a:r>
              <a:rPr lang="en-US" altLang="zh-CN" sz="3600" dirty="0">
                <a:solidFill>
                  <a:schemeClr val="tx1"/>
                </a:solidFill>
                <a:latin typeface="標楷體" pitchFamily="65" charset="-120"/>
                <a:ea typeface="標楷體" pitchFamily="65" charset="-120"/>
              </a:rPr>
              <a:t>PCB</a:t>
            </a:r>
            <a:r>
              <a:rPr lang="zh-CN" altLang="en-US" sz="3600" dirty="0">
                <a:solidFill>
                  <a:schemeClr val="tx1"/>
                </a:solidFill>
                <a:latin typeface="標楷體" pitchFamily="65" charset="-120"/>
                <a:ea typeface="標楷體" pitchFamily="65" charset="-120"/>
              </a:rPr>
              <a:t>吃锡深度</a:t>
            </a:r>
            <a:endParaRPr lang="en-US" altLang="zh-CN" sz="3600" dirty="0">
              <a:solidFill>
                <a:schemeClr val="tx1"/>
              </a:solidFill>
              <a:latin typeface="標楷體" pitchFamily="65" charset="-120"/>
              <a:ea typeface="標楷體" pitchFamily="65" charset="-120"/>
            </a:endParaRPr>
          </a:p>
        </p:txBody>
      </p:sp>
      <p:sp>
        <p:nvSpPr>
          <p:cNvPr id="6" name="標題 1"/>
          <p:cNvSpPr txBox="1">
            <a:spLocks/>
          </p:cNvSpPr>
          <p:nvPr/>
        </p:nvSpPr>
        <p:spPr>
          <a:xfrm>
            <a:off x="1071538" y="1071546"/>
            <a:ext cx="7715304" cy="5500726"/>
          </a:xfrm>
          <a:prstGeom prst="rect">
            <a:avLst/>
          </a:prstGeom>
        </p:spPr>
        <p:txBody>
          <a:bodyPr anchor="t">
            <a:noAutofit/>
          </a:bodyPr>
          <a:lstStyle/>
          <a:p>
            <a:pPr marL="274320" indent="-274320" algn="just">
              <a:spcBef>
                <a:spcPts val="580"/>
              </a:spcBef>
              <a:buFont typeface="Wingdings 2"/>
              <a:buChar char=""/>
              <a:defRPr/>
            </a:pPr>
            <a:r>
              <a:rPr lang="en-US" altLang="zh-CN" sz="2400" dirty="0">
                <a:latin typeface="標楷體" pitchFamily="65" charset="-120"/>
                <a:ea typeface="標楷體" pitchFamily="65" charset="-120"/>
              </a:rPr>
              <a:t>PCB</a:t>
            </a:r>
            <a:r>
              <a:rPr lang="zh-CN" altLang="en-US" sz="2400" dirty="0">
                <a:latin typeface="標楷體" pitchFamily="65" charset="-120"/>
                <a:ea typeface="標楷體" pitchFamily="65" charset="-120"/>
              </a:rPr>
              <a:t>吃锡深度</a:t>
            </a:r>
            <a:endParaRPr lang="en-US" altLang="zh-CN" sz="2400" dirty="0">
              <a:latin typeface="標楷體" pitchFamily="65" charset="-120"/>
              <a:ea typeface="標楷體" pitchFamily="65" charset="-120"/>
            </a:endParaRPr>
          </a:p>
          <a:p>
            <a:pPr algn="just"/>
            <a:r>
              <a:rPr lang="zh-CN" altLang="en-US" sz="2000" dirty="0">
                <a:latin typeface="標楷體" pitchFamily="65" charset="-120"/>
                <a:ea typeface="標楷體" pitchFamily="65" charset="-120"/>
              </a:rPr>
              <a:t>    由于焊料在浸润的过程中有大量的热将被</a:t>
            </a:r>
            <a:r>
              <a:rPr lang="en-US" altLang="zh-CN" sz="2000" dirty="0">
                <a:latin typeface="標楷體" pitchFamily="65" charset="-120"/>
                <a:ea typeface="標楷體" pitchFamily="65" charset="-120"/>
              </a:rPr>
              <a:t>PCB</a:t>
            </a:r>
            <a:r>
              <a:rPr lang="zh-CN" altLang="en-US" sz="2000" dirty="0">
                <a:latin typeface="標楷體" pitchFamily="65" charset="-120"/>
                <a:ea typeface="標楷體" pitchFamily="65" charset="-120"/>
              </a:rPr>
              <a:t>吸收，若焊料在焊接过程中出现温度不足将导致无法透锡或因漫流性减弱造成其它不良，常见于桥连或空焊（助焊剂的高沸物质附在焊盘表面无法挥发），为了获得足够的热量，应根据不同的</a:t>
            </a:r>
            <a:r>
              <a:rPr lang="en-US" altLang="zh-CN" sz="2000" dirty="0">
                <a:latin typeface="標楷體" pitchFamily="65" charset="-120"/>
                <a:ea typeface="標楷體" pitchFamily="65" charset="-120"/>
              </a:rPr>
              <a:t>PCB</a:t>
            </a:r>
            <a:r>
              <a:rPr lang="zh-CN" altLang="en-US" sz="2000" dirty="0">
                <a:latin typeface="標楷體" pitchFamily="65" charset="-120"/>
                <a:ea typeface="標楷體" pitchFamily="65" charset="-120"/>
              </a:rPr>
              <a:t>板将吃锡深度调节好，对应原则大致如下：</a:t>
            </a:r>
            <a:endParaRPr lang="en-US" altLang="zh-CN" sz="2000" dirty="0">
              <a:latin typeface="標楷體" pitchFamily="65" charset="-120"/>
              <a:ea typeface="標楷體" pitchFamily="65" charset="-120"/>
            </a:endParaRPr>
          </a:p>
          <a:p>
            <a:pPr algn="just"/>
            <a:endParaRPr lang="zh-CN" altLang="en-US" sz="2000" dirty="0">
              <a:latin typeface="標楷體" pitchFamily="65" charset="-120"/>
              <a:ea typeface="標楷體" pitchFamily="65" charset="-120"/>
            </a:endParaRPr>
          </a:p>
          <a:p>
            <a:pPr algn="just"/>
            <a:r>
              <a:rPr lang="zh-CN" altLang="en-US" sz="2000" dirty="0">
                <a:latin typeface="標楷體" pitchFamily="65" charset="-120"/>
                <a:ea typeface="標楷體" pitchFamily="65" charset="-120"/>
              </a:rPr>
              <a:t>单面板为1/3板厚，</a:t>
            </a:r>
          </a:p>
          <a:p>
            <a:pPr algn="just"/>
            <a:r>
              <a:rPr lang="zh-CN" altLang="en-US" sz="2000" dirty="0">
                <a:latin typeface="標楷體" pitchFamily="65" charset="-120"/>
                <a:ea typeface="標楷體" pitchFamily="65" charset="-120"/>
              </a:rPr>
              <a:t>双面板为1/2板厚，</a:t>
            </a:r>
          </a:p>
          <a:p>
            <a:pPr algn="just"/>
            <a:r>
              <a:rPr lang="zh-CN" altLang="en-US" sz="2000" dirty="0">
                <a:latin typeface="標楷體" pitchFamily="65" charset="-120"/>
                <a:ea typeface="標楷體" pitchFamily="65" charset="-120"/>
              </a:rPr>
              <a:t>多层板为2/3-3/4板厚</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p:cNvSpPr txBox="1">
            <a:spLocks/>
          </p:cNvSpPr>
          <p:nvPr/>
        </p:nvSpPr>
        <p:spPr>
          <a:xfrm>
            <a:off x="1000100" y="142852"/>
            <a:ext cx="7498080" cy="1143000"/>
          </a:xfrm>
          <a:prstGeom prst="rect">
            <a:avLst/>
          </a:prstGeom>
        </p:spPr>
        <p:txBody>
          <a:bodyPr anchor="ctr">
            <a:noAutofit/>
          </a:bodyPr>
          <a:lstStyle/>
          <a:p>
            <a:pPr lvl="0">
              <a:spcBef>
                <a:spcPct val="0"/>
              </a:spcBef>
            </a:pPr>
            <a:r>
              <a:rPr kumimoji="0" lang="zh-CN" altLang="en-US" sz="4000" b="0" i="0" u="none" strike="noStrike" kern="1200" cap="none" spc="0" normalizeH="0" baseline="0" noProof="0" dirty="0">
                <a:ln>
                  <a:noFill/>
                </a:ln>
                <a:solidFill>
                  <a:schemeClr val="tx1"/>
                </a:solidFill>
                <a:effectLst>
                  <a:outerShdw blurRad="50000" dist="30000" dir="5400000" algn="tl" rotWithShape="0">
                    <a:srgbClr val="000000">
                      <a:alpha val="30000"/>
                    </a:srgbClr>
                  </a:outerShdw>
                </a:effectLst>
                <a:uLnTx/>
                <a:uFillTx/>
                <a:latin typeface="標楷體" pitchFamily="65" charset="-120"/>
                <a:ea typeface="標楷體" pitchFamily="65" charset="-120"/>
                <a:cs typeface="+mj-cs"/>
              </a:rPr>
              <a:t>二</a:t>
            </a:r>
            <a:r>
              <a:rPr kumimoji="0" lang="en-US" altLang="zh-TW" sz="4000" b="0" i="0" u="none" strike="noStrike" kern="1200" cap="none" spc="0" normalizeH="0" baseline="0" noProof="0" dirty="0">
                <a:ln>
                  <a:noFill/>
                </a:ln>
                <a:solidFill>
                  <a:schemeClr val="tx1"/>
                </a:solidFill>
                <a:effectLst>
                  <a:outerShdw blurRad="50000" dist="30000" dir="5400000" algn="tl" rotWithShape="0">
                    <a:srgbClr val="000000">
                      <a:alpha val="30000"/>
                    </a:srgbClr>
                  </a:outerShdw>
                </a:effectLst>
                <a:uLnTx/>
                <a:uFillTx/>
                <a:latin typeface="標楷體" pitchFamily="65" charset="-120"/>
                <a:ea typeface="標楷體" pitchFamily="65" charset="-120"/>
                <a:cs typeface="+mj-cs"/>
              </a:rPr>
              <a:t>.</a:t>
            </a:r>
            <a:r>
              <a:rPr lang="zh-TW" altLang="en-US" sz="4000" dirty="0">
                <a:effectLst>
                  <a:outerShdw blurRad="50000" dist="30000" dir="5400000" algn="tl" rotWithShape="0">
                    <a:srgbClr val="000000">
                      <a:alpha val="30000"/>
                    </a:srgbClr>
                  </a:outerShdw>
                </a:effectLst>
                <a:latin typeface="標楷體" pitchFamily="65" charset="-120"/>
                <a:ea typeface="標楷體" pitchFamily="65" charset="-120"/>
                <a:cs typeface="+mj-cs"/>
              </a:rPr>
              <a:t>波峰焊群焊</a:t>
            </a:r>
            <a:r>
              <a:rPr lang="zh-CN" altLang="en-US" sz="4000" dirty="0">
                <a:effectLst>
                  <a:outerShdw blurRad="50000" dist="30000" dir="5400000" algn="tl" rotWithShape="0">
                    <a:srgbClr val="000000">
                      <a:alpha val="30000"/>
                    </a:srgbClr>
                  </a:outerShdw>
                </a:effectLst>
                <a:latin typeface="標楷體" pitchFamily="65" charset="-120"/>
                <a:ea typeface="標楷體" pitchFamily="65" charset="-120"/>
                <a:cs typeface="+mj-cs"/>
              </a:rPr>
              <a:t>工艺温度曲线</a:t>
            </a:r>
            <a:endParaRPr lang="en-US" altLang="zh-CN" sz="4000" dirty="0">
              <a:effectLst>
                <a:outerShdw blurRad="50000" dist="30000" dir="5400000" algn="tl" rotWithShape="0">
                  <a:srgbClr val="000000">
                    <a:alpha val="30000"/>
                  </a:srgbClr>
                </a:outerShdw>
              </a:effectLst>
              <a:latin typeface="標楷體" pitchFamily="65" charset="-120"/>
              <a:ea typeface="標楷體" pitchFamily="65" charset="-120"/>
              <a:cs typeface="+mj-cs"/>
            </a:endParaRPr>
          </a:p>
          <a:p>
            <a:pPr lvl="0">
              <a:spcBef>
                <a:spcPct val="0"/>
              </a:spcBef>
            </a:pPr>
            <a:r>
              <a:rPr lang="zh-CN" altLang="en-US" sz="4000" dirty="0">
                <a:effectLst>
                  <a:outerShdw blurRad="50000" dist="30000" dir="5400000" algn="tl" rotWithShape="0">
                    <a:srgbClr val="000000">
                      <a:alpha val="30000"/>
                    </a:srgbClr>
                  </a:outerShdw>
                </a:effectLst>
                <a:latin typeface="標楷體" pitchFamily="65" charset="-120"/>
                <a:ea typeface="標楷體" pitchFamily="65" charset="-120"/>
              </a:rPr>
              <a:t>  （内容引自</a:t>
            </a:r>
            <a:r>
              <a:rPr lang="en-US" sz="4000" dirty="0">
                <a:latin typeface="標楷體" pitchFamily="65" charset="-120"/>
                <a:ea typeface="標楷體" pitchFamily="65" charset="-120"/>
              </a:rPr>
              <a:t>IPC-7530</a:t>
            </a:r>
            <a:r>
              <a:rPr lang="zh-CN" altLang="en-US" sz="4000" dirty="0">
                <a:latin typeface="標楷體" pitchFamily="65" charset="-120"/>
                <a:ea typeface="標楷體" pitchFamily="65" charset="-120"/>
              </a:rPr>
              <a:t>）</a:t>
            </a:r>
            <a:endParaRPr lang="zh-TW" altLang="en-US" sz="4000" dirty="0">
              <a:effectLst>
                <a:outerShdw blurRad="50000" dist="30000" dir="5400000" algn="tl" rotWithShape="0">
                  <a:srgbClr val="000000">
                    <a:alpha val="30000"/>
                  </a:srgbClr>
                </a:outerShdw>
              </a:effectLst>
              <a:latin typeface="標楷體" pitchFamily="65" charset="-120"/>
              <a:ea typeface="標楷體" pitchFamily="65" charset="-120"/>
              <a:cs typeface="+mj-cs"/>
            </a:endParaRPr>
          </a:p>
        </p:txBody>
      </p:sp>
      <p:sp>
        <p:nvSpPr>
          <p:cNvPr id="6" name="矩形 5"/>
          <p:cNvSpPr/>
          <p:nvPr/>
        </p:nvSpPr>
        <p:spPr>
          <a:xfrm>
            <a:off x="1071506" y="1309293"/>
            <a:ext cx="8072494" cy="5262979"/>
          </a:xfrm>
          <a:prstGeom prst="rect">
            <a:avLst/>
          </a:prstGeom>
        </p:spPr>
        <p:txBody>
          <a:bodyPr wrap="square">
            <a:spAutoFit/>
          </a:bodyPr>
          <a:lstStyle/>
          <a:p>
            <a:r>
              <a:rPr lang="en-US" altLang="zh-CN" sz="2400" dirty="0">
                <a:latin typeface="標楷體" pitchFamily="65" charset="-120"/>
                <a:ea typeface="標楷體" pitchFamily="65" charset="-120"/>
              </a:rPr>
              <a:t>1 </a:t>
            </a:r>
            <a:r>
              <a:rPr lang="zh-CN" altLang="en-US" sz="2400" dirty="0">
                <a:latin typeface="標楷體" pitchFamily="65" charset="-120"/>
                <a:ea typeface="標楷體" pitchFamily="65" charset="-120"/>
              </a:rPr>
              <a:t>波峰焊温度曲线监控：</a:t>
            </a:r>
            <a:endParaRPr lang="en-US" altLang="zh-CN" sz="2400" dirty="0">
              <a:latin typeface="標楷體" pitchFamily="65" charset="-120"/>
              <a:ea typeface="標楷體" pitchFamily="65" charset="-120"/>
            </a:endParaRPr>
          </a:p>
          <a:p>
            <a:r>
              <a:rPr lang="en-US" altLang="zh-CN" sz="2400" dirty="0">
                <a:latin typeface="標楷體" pitchFamily="65" charset="-120"/>
                <a:ea typeface="標楷體" pitchFamily="65" charset="-120"/>
              </a:rPr>
              <a:t>   </a:t>
            </a:r>
            <a:r>
              <a:rPr lang="zh-CN" altLang="en-US" sz="2400" dirty="0">
                <a:latin typeface="標楷體" pitchFamily="65" charset="-120"/>
                <a:ea typeface="標楷體" pitchFamily="65" charset="-120"/>
              </a:rPr>
              <a:t>波峰焊组装时</a:t>
            </a:r>
            <a:r>
              <a:rPr lang="en-US" altLang="zh-CN" sz="2400" dirty="0">
                <a:latin typeface="標楷體" pitchFamily="65" charset="-120"/>
                <a:ea typeface="標楷體" pitchFamily="65" charset="-120"/>
              </a:rPr>
              <a:t>, </a:t>
            </a:r>
            <a:r>
              <a:rPr lang="zh-CN" altLang="en-US" sz="2400" dirty="0">
                <a:latin typeface="標楷體" pitchFamily="65" charset="-120"/>
                <a:ea typeface="標楷體" pitchFamily="65" charset="-120"/>
              </a:rPr>
              <a:t>温度曲线应当对以下几个方面进行监控</a:t>
            </a:r>
            <a:endParaRPr lang="en-US" altLang="zh-CN" sz="2400" dirty="0">
              <a:latin typeface="標楷體" pitchFamily="65" charset="-120"/>
              <a:ea typeface="標楷體" pitchFamily="65" charset="-120"/>
            </a:endParaRPr>
          </a:p>
          <a:p>
            <a:endParaRPr lang="en-US" altLang="zh-CN" sz="2400" dirty="0">
              <a:latin typeface="標楷體" pitchFamily="65" charset="-120"/>
              <a:ea typeface="標楷體" pitchFamily="65" charset="-120"/>
            </a:endParaRPr>
          </a:p>
          <a:p>
            <a:r>
              <a:rPr lang="zh-CN" altLang="en-US" sz="2400" dirty="0">
                <a:latin typeface="標楷體" pitchFamily="65" charset="-120"/>
                <a:ea typeface="標楷體" pitchFamily="65" charset="-120"/>
              </a:rPr>
              <a:t>   </a:t>
            </a:r>
            <a:r>
              <a:rPr lang="en-US" altLang="zh-CN" sz="2400" dirty="0">
                <a:latin typeface="標楷體" pitchFamily="65" charset="-120"/>
                <a:ea typeface="標楷體" pitchFamily="65" charset="-120"/>
              </a:rPr>
              <a:t>a.</a:t>
            </a:r>
            <a:r>
              <a:rPr lang="zh-CN" altLang="en-US" sz="2400" dirty="0">
                <a:latin typeface="標楷體" pitchFamily="65" charset="-120"/>
                <a:ea typeface="標楷體" pitchFamily="65" charset="-120"/>
              </a:rPr>
              <a:t>升温：控制升温速率是为了确保印制线路板、元器件和 助焊剂有足够的时间来达到焊接温度而不会下降。</a:t>
            </a:r>
            <a:endParaRPr lang="en-US" altLang="zh-CN" sz="2400" dirty="0">
              <a:latin typeface="標楷體" pitchFamily="65" charset="-120"/>
              <a:ea typeface="標楷體" pitchFamily="65" charset="-120"/>
            </a:endParaRPr>
          </a:p>
          <a:p>
            <a:endParaRPr lang="en-US" altLang="zh-CN" sz="2400" dirty="0">
              <a:latin typeface="標楷體" pitchFamily="65" charset="-120"/>
              <a:ea typeface="標楷體" pitchFamily="65" charset="-120"/>
            </a:endParaRPr>
          </a:p>
          <a:p>
            <a:r>
              <a:rPr lang="zh-CN" altLang="en-US" sz="2400" dirty="0">
                <a:latin typeface="標楷體" pitchFamily="65" charset="-120"/>
                <a:ea typeface="標楷體" pitchFamily="65" charset="-120"/>
              </a:rPr>
              <a:t>   </a:t>
            </a:r>
            <a:r>
              <a:rPr lang="en-US" altLang="zh-CN" sz="2400" dirty="0">
                <a:latin typeface="標楷體" pitchFamily="65" charset="-120"/>
                <a:ea typeface="標楷體" pitchFamily="65" charset="-120"/>
              </a:rPr>
              <a:t>b.</a:t>
            </a:r>
            <a:r>
              <a:rPr lang="zh-CN" altLang="en-US" sz="2400" dirty="0">
                <a:latin typeface="標楷體" pitchFamily="65" charset="-120"/>
                <a:ea typeface="標楷體" pitchFamily="65" charset="-120"/>
              </a:rPr>
              <a:t>峰值温度：测量峰值温度是为了确保元器件不会受到过多的冲击而导致损坏。</a:t>
            </a:r>
            <a:endParaRPr lang="en-US" altLang="zh-CN" sz="2400" dirty="0">
              <a:latin typeface="標楷體" pitchFamily="65" charset="-120"/>
              <a:ea typeface="標楷體" pitchFamily="65" charset="-120"/>
            </a:endParaRPr>
          </a:p>
          <a:p>
            <a:endParaRPr lang="en-US" altLang="zh-CN" sz="2400" dirty="0">
              <a:latin typeface="標楷體" pitchFamily="65" charset="-120"/>
              <a:ea typeface="標楷體" pitchFamily="65" charset="-120"/>
            </a:endParaRPr>
          </a:p>
          <a:p>
            <a:r>
              <a:rPr lang="zh-CN" altLang="en-US" sz="2400" dirty="0">
                <a:latin typeface="標楷體" pitchFamily="65" charset="-120"/>
                <a:ea typeface="標楷體" pitchFamily="65" charset="-120"/>
              </a:rPr>
              <a:t>   </a:t>
            </a:r>
            <a:r>
              <a:rPr lang="en-US" altLang="zh-CN" sz="2400" dirty="0">
                <a:latin typeface="標楷體" pitchFamily="65" charset="-120"/>
                <a:ea typeface="標楷體" pitchFamily="65" charset="-120"/>
              </a:rPr>
              <a:t>c.</a:t>
            </a:r>
            <a:r>
              <a:rPr lang="zh-CN" altLang="en-US" sz="2400" dirty="0">
                <a:latin typeface="標楷體" pitchFamily="65" charset="-120"/>
                <a:ea typeface="標楷體" pitchFamily="65" charset="-120"/>
              </a:rPr>
              <a:t>驻留时间：测量驻留时间是为了确保焊接不会持续过长时间从而导致元器件损伤和助焊剂能力下降。</a:t>
            </a:r>
            <a:endParaRPr lang="en-US" altLang="zh-CN" sz="2400" dirty="0">
              <a:latin typeface="標楷體" pitchFamily="65" charset="-120"/>
              <a:ea typeface="標楷體" pitchFamily="65" charset="-120"/>
            </a:endParaRPr>
          </a:p>
          <a:p>
            <a:endParaRPr lang="en-US" altLang="zh-CN" sz="2400" dirty="0">
              <a:latin typeface="標楷體" pitchFamily="65" charset="-120"/>
              <a:ea typeface="標楷體" pitchFamily="65" charset="-120"/>
            </a:endParaRPr>
          </a:p>
          <a:p>
            <a:r>
              <a:rPr lang="en-US" altLang="zh-CN" sz="2400" dirty="0">
                <a:latin typeface="標楷體" pitchFamily="65" charset="-120"/>
                <a:ea typeface="標楷體" pitchFamily="65" charset="-120"/>
              </a:rPr>
              <a:t>   d.</a:t>
            </a:r>
            <a:r>
              <a:rPr lang="zh-CN" altLang="en-US" sz="2400" dirty="0">
                <a:latin typeface="標楷體" pitchFamily="65" charset="-120"/>
                <a:ea typeface="標楷體" pitchFamily="65" charset="-120"/>
              </a:rPr>
              <a:t>顶部最高温度：监控顶部最高温度是为了确保再流焊时形成的焊点不会回复到液相状态</a:t>
            </a:r>
            <a:endParaRPr lang="en-US" altLang="zh-CN" sz="2400" dirty="0">
              <a:latin typeface="標楷體" pitchFamily="65" charset="-120"/>
              <a:ea typeface="標楷體" pitchFamily="65" charset="-12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00100" y="571480"/>
            <a:ext cx="7643866" cy="830997"/>
          </a:xfrm>
          <a:prstGeom prst="rect">
            <a:avLst/>
          </a:prstGeom>
        </p:spPr>
        <p:txBody>
          <a:bodyPr wrap="square">
            <a:spAutoFit/>
          </a:bodyPr>
          <a:lstStyle/>
          <a:p>
            <a:r>
              <a:rPr lang="zh-CN" altLang="en-US" sz="2400" dirty="0">
                <a:latin typeface="標楷體" pitchFamily="65" charset="-120"/>
                <a:ea typeface="標楷體" pitchFamily="65" charset="-120"/>
              </a:rPr>
              <a:t>波峰焊曲线图 ：</a:t>
            </a:r>
            <a:endParaRPr lang="en-US" altLang="zh-CN" sz="2400" dirty="0">
              <a:latin typeface="標楷體" pitchFamily="65" charset="-120"/>
              <a:ea typeface="標楷體" pitchFamily="65" charset="-120"/>
            </a:endParaRPr>
          </a:p>
          <a:p>
            <a:r>
              <a:rPr lang="en-US" altLang="zh-CN" sz="2400" dirty="0">
                <a:latin typeface="標楷體" pitchFamily="65" charset="-120"/>
                <a:ea typeface="標楷體" pitchFamily="65" charset="-120"/>
              </a:rPr>
              <a:t>   </a:t>
            </a:r>
            <a:endParaRPr lang="en-US" altLang="zh-TW" sz="2400" dirty="0">
              <a:latin typeface="標楷體" pitchFamily="65" charset="-120"/>
              <a:ea typeface="標楷體" pitchFamily="65" charset="-120"/>
            </a:endParaRPr>
          </a:p>
        </p:txBody>
      </p:sp>
      <p:grpSp>
        <p:nvGrpSpPr>
          <p:cNvPr id="8" name="群組 7"/>
          <p:cNvGrpSpPr/>
          <p:nvPr/>
        </p:nvGrpSpPr>
        <p:grpSpPr>
          <a:xfrm>
            <a:off x="1000100" y="1285860"/>
            <a:ext cx="7572428" cy="4929222"/>
            <a:chOff x="1142976" y="2071678"/>
            <a:chExt cx="6572296" cy="4357718"/>
          </a:xfrm>
        </p:grpSpPr>
        <p:pic>
          <p:nvPicPr>
            <p:cNvPr id="2050" name="Picture 2"/>
            <p:cNvPicPr>
              <a:picLocks noChangeAspect="1" noChangeArrowheads="1"/>
            </p:cNvPicPr>
            <p:nvPr/>
          </p:nvPicPr>
          <p:blipFill>
            <a:blip r:embed="rId2"/>
            <a:srcRect l="37500" t="31667" r="15104" b="17500"/>
            <a:stretch>
              <a:fillRect/>
            </a:stretch>
          </p:blipFill>
          <p:spPr bwMode="auto">
            <a:xfrm>
              <a:off x="1214414" y="2071678"/>
              <a:ext cx="6500858" cy="4357718"/>
            </a:xfrm>
            <a:prstGeom prst="rect">
              <a:avLst/>
            </a:prstGeom>
            <a:noFill/>
            <a:ln w="9525">
              <a:noFill/>
              <a:miter lim="800000"/>
              <a:headEnd/>
              <a:tailEnd/>
            </a:ln>
            <a:effectLst/>
          </p:spPr>
        </p:pic>
        <p:sp>
          <p:nvSpPr>
            <p:cNvPr id="7" name="矩形 6"/>
            <p:cNvSpPr/>
            <p:nvPr/>
          </p:nvSpPr>
          <p:spPr>
            <a:xfrm>
              <a:off x="1142976" y="6215082"/>
              <a:ext cx="500066" cy="21431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00100" y="214290"/>
            <a:ext cx="7643866" cy="1200329"/>
          </a:xfrm>
          <a:prstGeom prst="rect">
            <a:avLst/>
          </a:prstGeom>
        </p:spPr>
        <p:txBody>
          <a:bodyPr wrap="square">
            <a:spAutoFit/>
          </a:bodyPr>
          <a:lstStyle/>
          <a:p>
            <a:r>
              <a:rPr lang="en-US" altLang="zh-CN" sz="3600" dirty="0">
                <a:latin typeface="標楷體" pitchFamily="65" charset="-120"/>
                <a:ea typeface="標楷體" pitchFamily="65" charset="-120"/>
              </a:rPr>
              <a:t>2.</a:t>
            </a:r>
            <a:r>
              <a:rPr lang="zh-CN" altLang="en-US" sz="3600" dirty="0">
                <a:latin typeface="標楷體" pitchFamily="65" charset="-120"/>
                <a:ea typeface="標楷體" pitchFamily="65" charset="-120"/>
              </a:rPr>
              <a:t>温度曲线记录仪：</a:t>
            </a:r>
            <a:endParaRPr lang="en-US" altLang="zh-CN" sz="3600" dirty="0">
              <a:latin typeface="標楷體" pitchFamily="65" charset="-120"/>
              <a:ea typeface="標楷體" pitchFamily="65" charset="-120"/>
            </a:endParaRPr>
          </a:p>
          <a:p>
            <a:r>
              <a:rPr lang="en-US" altLang="zh-CN" sz="3600" dirty="0">
                <a:latin typeface="標楷體" pitchFamily="65" charset="-120"/>
                <a:ea typeface="標楷體" pitchFamily="65" charset="-120"/>
              </a:rPr>
              <a:t>   </a:t>
            </a:r>
            <a:endParaRPr lang="en-US" altLang="zh-TW" sz="3600" dirty="0">
              <a:latin typeface="標楷體" pitchFamily="65" charset="-120"/>
              <a:ea typeface="標楷體" pitchFamily="65" charset="-120"/>
            </a:endParaRPr>
          </a:p>
        </p:txBody>
      </p:sp>
      <p:sp>
        <p:nvSpPr>
          <p:cNvPr id="8" name="矩形 7"/>
          <p:cNvSpPr/>
          <p:nvPr/>
        </p:nvSpPr>
        <p:spPr>
          <a:xfrm>
            <a:off x="1071538" y="857232"/>
            <a:ext cx="7929618" cy="5632311"/>
          </a:xfrm>
          <a:prstGeom prst="rect">
            <a:avLst/>
          </a:prstGeom>
        </p:spPr>
        <p:txBody>
          <a:bodyPr wrap="square">
            <a:spAutoFit/>
          </a:bodyPr>
          <a:lstStyle/>
          <a:p>
            <a:r>
              <a:rPr lang="zh-CN" altLang="en-US" sz="2400" dirty="0">
                <a:latin typeface="標楷體" pitchFamily="65" charset="-120"/>
                <a:ea typeface="標楷體" pitchFamily="65" charset="-120"/>
              </a:rPr>
              <a:t>温度曲线记录仪可分为三大类：</a:t>
            </a:r>
            <a:endParaRPr lang="en-US" altLang="zh-CN" sz="2400" dirty="0">
              <a:latin typeface="標楷體" pitchFamily="65" charset="-120"/>
              <a:ea typeface="標楷體" pitchFamily="65" charset="-120"/>
            </a:endParaRPr>
          </a:p>
          <a:p>
            <a:endParaRPr lang="en-US" altLang="zh-CN" sz="2400" dirty="0">
              <a:latin typeface="標楷體" pitchFamily="65" charset="-120"/>
              <a:ea typeface="標楷體" pitchFamily="65" charset="-120"/>
            </a:endParaRPr>
          </a:p>
          <a:p>
            <a:r>
              <a:rPr lang="en-US" altLang="zh-CN" sz="2400" dirty="0">
                <a:latin typeface="標楷體" pitchFamily="65" charset="-120"/>
                <a:ea typeface="標楷體" pitchFamily="65" charset="-120"/>
              </a:rPr>
              <a:t>a.</a:t>
            </a:r>
            <a:r>
              <a:rPr lang="zh-CN" altLang="en-US" sz="2400" dirty="0">
                <a:latin typeface="標楷體" pitchFamily="65" charset="-120"/>
                <a:ea typeface="標楷體" pitchFamily="65" charset="-120"/>
              </a:rPr>
              <a:t>用于产品的温度曲线记录仪</a:t>
            </a:r>
            <a:r>
              <a:rPr lang="en-US" altLang="zh-CN" sz="2400" dirty="0">
                <a:solidFill>
                  <a:srgbClr val="FF0000"/>
                </a:solidFill>
                <a:latin typeface="標楷體" pitchFamily="65" charset="-120"/>
                <a:ea typeface="標楷體" pitchFamily="65" charset="-120"/>
              </a:rPr>
              <a:t>(</a:t>
            </a:r>
            <a:r>
              <a:rPr lang="zh-CN" altLang="en-US" sz="2400" dirty="0">
                <a:solidFill>
                  <a:srgbClr val="FF0000"/>
                </a:solidFill>
                <a:latin typeface="標楷體" pitchFamily="65" charset="-120"/>
                <a:ea typeface="標楷體" pitchFamily="65" charset="-120"/>
              </a:rPr>
              <a:t>工厂目前使用的方式）</a:t>
            </a:r>
            <a:endParaRPr lang="en-US" altLang="zh-CN" sz="2400" dirty="0">
              <a:solidFill>
                <a:srgbClr val="FF0000"/>
              </a:solidFill>
              <a:latin typeface="標楷體" pitchFamily="65" charset="-120"/>
              <a:ea typeface="標楷體" pitchFamily="65" charset="-120"/>
            </a:endParaRPr>
          </a:p>
          <a:p>
            <a:r>
              <a:rPr lang="zh-CN" altLang="en-US" sz="2400" dirty="0">
                <a:latin typeface="標楷體" pitchFamily="65" charset="-120"/>
                <a:ea typeface="標楷體" pitchFamily="65" charset="-120"/>
              </a:rPr>
              <a:t>   产品温度曲线记录仪主要是用于印制线路板组装的焊接工艺开发</a:t>
            </a:r>
            <a:endParaRPr lang="en-US" altLang="zh-CN" sz="2400" dirty="0">
              <a:latin typeface="標楷體" pitchFamily="65" charset="-120"/>
              <a:ea typeface="標楷體" pitchFamily="65" charset="-120"/>
            </a:endParaRPr>
          </a:p>
          <a:p>
            <a:r>
              <a:rPr lang="en-US" altLang="zh-CN" sz="2400" dirty="0">
                <a:latin typeface="標楷體" pitchFamily="65" charset="-120"/>
                <a:ea typeface="標楷體" pitchFamily="65" charset="-120"/>
              </a:rPr>
              <a:t>b.</a:t>
            </a:r>
            <a:r>
              <a:rPr lang="zh-CN" altLang="en-US" sz="2400" dirty="0">
                <a:latin typeface="標楷體" pitchFamily="65" charset="-120"/>
                <a:ea typeface="標楷體" pitchFamily="65" charset="-120"/>
              </a:rPr>
              <a:t>用于机台的温度曲线记录仪</a:t>
            </a:r>
            <a:endParaRPr lang="en-US" altLang="zh-CN" sz="2400" dirty="0">
              <a:latin typeface="標楷體" pitchFamily="65" charset="-120"/>
              <a:ea typeface="標楷體" pitchFamily="65" charset="-120"/>
            </a:endParaRPr>
          </a:p>
          <a:p>
            <a:r>
              <a:rPr lang="zh-CN" altLang="en-US" sz="2400" dirty="0">
                <a:latin typeface="標楷體" pitchFamily="65" charset="-120"/>
                <a:ea typeface="標楷體" pitchFamily="65" charset="-120"/>
              </a:rPr>
              <a:t>   机台的温度曲线记录仪主要用于机台性能和设定参数的验证。</a:t>
            </a:r>
            <a:endParaRPr lang="en-US" altLang="zh-CN" sz="2400" dirty="0">
              <a:latin typeface="標楷體" pitchFamily="65" charset="-120"/>
              <a:ea typeface="標楷體" pitchFamily="65" charset="-120"/>
            </a:endParaRPr>
          </a:p>
          <a:p>
            <a:r>
              <a:rPr lang="en-US" altLang="zh-CN" sz="2400" dirty="0">
                <a:latin typeface="標楷體" pitchFamily="65" charset="-120"/>
                <a:ea typeface="標楷體" pitchFamily="65" charset="-120"/>
              </a:rPr>
              <a:t>c.</a:t>
            </a:r>
            <a:r>
              <a:rPr lang="zh-CN" altLang="en-US" sz="2400" dirty="0">
                <a:latin typeface="標楷體" pitchFamily="65" charset="-120"/>
                <a:ea typeface="標楷體" pitchFamily="65" charset="-120"/>
              </a:rPr>
              <a:t>实时连续显示的温度曲线记录仪</a:t>
            </a:r>
            <a:r>
              <a:rPr lang="en-US" altLang="zh-CN" sz="2400" dirty="0">
                <a:latin typeface="標楷體" pitchFamily="65" charset="-120"/>
                <a:ea typeface="標楷體" pitchFamily="65" charset="-120"/>
              </a:rPr>
              <a:t>/</a:t>
            </a:r>
            <a:r>
              <a:rPr lang="zh-CN" altLang="en-US" sz="2400" dirty="0">
                <a:latin typeface="標楷體" pitchFamily="65" charset="-120"/>
                <a:ea typeface="標楷體" pitchFamily="65" charset="-120"/>
              </a:rPr>
              <a:t>监测系统。</a:t>
            </a:r>
            <a:endParaRPr lang="en-US" altLang="zh-CN" sz="2400" dirty="0">
              <a:latin typeface="標楷體" pitchFamily="65" charset="-120"/>
              <a:ea typeface="標楷體" pitchFamily="65" charset="-120"/>
            </a:endParaRPr>
          </a:p>
          <a:p>
            <a:r>
              <a:rPr lang="zh-CN" altLang="en-US" sz="2400" dirty="0">
                <a:latin typeface="標楷體" pitchFamily="65" charset="-120"/>
                <a:ea typeface="標楷體" pitchFamily="65" charset="-120"/>
              </a:rPr>
              <a:t>   温度曲线记录仪测量的主要参数是温度－时间的历史记录，但也可以测量其他参数例如传送带速度、热流、驻留时间、温区长度和重复性的验证。当产品经过某制程时，以固定的间隔采集温度数据，尽管机台温度曲线记录仪只能采集某制程的特定点如温区边界。</a:t>
            </a:r>
            <a:endParaRPr lang="en-US" altLang="zh-CN" sz="2400" dirty="0">
              <a:latin typeface="標楷體" pitchFamily="65" charset="-120"/>
              <a:ea typeface="標楷體" pitchFamily="65" charset="-120"/>
            </a:endParaRPr>
          </a:p>
          <a:p>
            <a:endParaRPr lang="en-US" altLang="zh-CN" sz="2400" dirty="0">
              <a:latin typeface="標楷體" pitchFamily="65" charset="-120"/>
              <a:ea typeface="標楷體" pitchFamily="65" charset="-12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00100" y="214290"/>
            <a:ext cx="7643866" cy="1200329"/>
          </a:xfrm>
          <a:prstGeom prst="rect">
            <a:avLst/>
          </a:prstGeom>
        </p:spPr>
        <p:txBody>
          <a:bodyPr wrap="square">
            <a:spAutoFit/>
          </a:bodyPr>
          <a:lstStyle/>
          <a:p>
            <a:r>
              <a:rPr lang="en-US" altLang="zh-CN" sz="3600" dirty="0">
                <a:latin typeface="標楷體" pitchFamily="65" charset="-120"/>
                <a:ea typeface="標楷體" pitchFamily="65" charset="-120"/>
              </a:rPr>
              <a:t>2.</a:t>
            </a:r>
            <a:r>
              <a:rPr lang="zh-CN" altLang="en-US" sz="3600" dirty="0">
                <a:latin typeface="標楷體" pitchFamily="65" charset="-120"/>
                <a:ea typeface="標楷體" pitchFamily="65" charset="-120"/>
              </a:rPr>
              <a:t>温度曲线记录仪：</a:t>
            </a:r>
            <a:endParaRPr lang="en-US" altLang="zh-CN" sz="3600" dirty="0">
              <a:latin typeface="標楷體" pitchFamily="65" charset="-120"/>
              <a:ea typeface="標楷體" pitchFamily="65" charset="-120"/>
            </a:endParaRPr>
          </a:p>
          <a:p>
            <a:r>
              <a:rPr lang="en-US" altLang="zh-CN" sz="3600" dirty="0">
                <a:latin typeface="標楷體" pitchFamily="65" charset="-120"/>
                <a:ea typeface="標楷體" pitchFamily="65" charset="-120"/>
              </a:rPr>
              <a:t>   </a:t>
            </a:r>
            <a:endParaRPr lang="en-US" altLang="zh-TW" sz="3600" dirty="0">
              <a:latin typeface="標楷體" pitchFamily="65" charset="-120"/>
              <a:ea typeface="標楷體" pitchFamily="65" charset="-120"/>
            </a:endParaRPr>
          </a:p>
        </p:txBody>
      </p:sp>
      <p:sp>
        <p:nvSpPr>
          <p:cNvPr id="8" name="矩形 7"/>
          <p:cNvSpPr/>
          <p:nvPr/>
        </p:nvSpPr>
        <p:spPr>
          <a:xfrm>
            <a:off x="1214382" y="928670"/>
            <a:ext cx="7929618" cy="4154984"/>
          </a:xfrm>
          <a:prstGeom prst="rect">
            <a:avLst/>
          </a:prstGeom>
        </p:spPr>
        <p:txBody>
          <a:bodyPr wrap="square">
            <a:spAutoFit/>
          </a:bodyPr>
          <a:lstStyle/>
          <a:p>
            <a:endParaRPr lang="en-US" altLang="zh-CN" sz="2400" dirty="0">
              <a:latin typeface="標楷體" pitchFamily="65" charset="-120"/>
              <a:ea typeface="標楷體" pitchFamily="65" charset="-120"/>
            </a:endParaRPr>
          </a:p>
          <a:p>
            <a:r>
              <a:rPr lang="zh-CN" altLang="en-US" sz="2400" dirty="0">
                <a:latin typeface="標楷體" pitchFamily="65" charset="-120"/>
                <a:ea typeface="標楷體" pitchFamily="65" charset="-120"/>
              </a:rPr>
              <a:t>产品的温度曲线记录仪的目的 </a:t>
            </a:r>
            <a:r>
              <a:rPr lang="en-US" altLang="zh-CN" sz="2400" dirty="0">
                <a:latin typeface="標楷體" pitchFamily="65" charset="-120"/>
                <a:ea typeface="標楷體" pitchFamily="65" charset="-120"/>
              </a:rPr>
              <a:t>:</a:t>
            </a:r>
          </a:p>
          <a:p>
            <a:r>
              <a:rPr lang="en-US" altLang="zh-CN" sz="2400" dirty="0">
                <a:latin typeface="標楷體" pitchFamily="65" charset="-120"/>
                <a:ea typeface="標楷體" pitchFamily="65" charset="-120"/>
              </a:rPr>
              <a:t>   </a:t>
            </a:r>
            <a:r>
              <a:rPr lang="zh-CN" altLang="en-US" sz="2400" dirty="0">
                <a:latin typeface="標楷體" pitchFamily="65" charset="-120"/>
                <a:ea typeface="標楷體" pitchFamily="65" charset="-120"/>
              </a:rPr>
              <a:t>产品温度曲线记录仪的主要目的是获得使产品适当焊接的最佳机台设定参数。良好的焊接工艺需要加热到适当的温度，同时不能过度加热，损坏组件或敏感元器件。焊接设备的配置和焊料－助焊剂的化学成分进一步加剧了对工艺的限制。开发温度曲线记录仪就是要验证以得到理想的产品时间－温度曲线</a:t>
            </a:r>
            <a:endParaRPr lang="en-US" altLang="zh-CN" sz="2400" dirty="0">
              <a:latin typeface="標楷體" pitchFamily="65" charset="-120"/>
              <a:ea typeface="標楷體" pitchFamily="65" charset="-120"/>
            </a:endParaRPr>
          </a:p>
          <a:p>
            <a:endParaRPr lang="en-US" altLang="zh-CN" sz="2400" dirty="0">
              <a:latin typeface="標楷體" pitchFamily="65" charset="-120"/>
              <a:ea typeface="標楷體" pitchFamily="65" charset="-120"/>
            </a:endParaRPr>
          </a:p>
          <a:p>
            <a:endParaRPr lang="en-US" altLang="zh-CN" sz="2400" dirty="0">
              <a:latin typeface="標楷體" pitchFamily="65" charset="-120"/>
              <a:ea typeface="標楷體" pitchFamily="65" charset="-120"/>
            </a:endParaRPr>
          </a:p>
          <a:p>
            <a:endParaRPr lang="en-US" altLang="zh-CN" sz="2400" dirty="0">
              <a:latin typeface="標楷體" pitchFamily="65" charset="-120"/>
              <a:ea typeface="標楷體" pitchFamily="65" charset="-12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00100" y="500042"/>
            <a:ext cx="7643866" cy="1200329"/>
          </a:xfrm>
          <a:prstGeom prst="rect">
            <a:avLst/>
          </a:prstGeom>
        </p:spPr>
        <p:txBody>
          <a:bodyPr wrap="square">
            <a:spAutoFit/>
          </a:bodyPr>
          <a:lstStyle/>
          <a:p>
            <a:r>
              <a:rPr lang="en-US" altLang="zh-CN" sz="3600" dirty="0">
                <a:latin typeface="標楷體" pitchFamily="65" charset="-120"/>
                <a:ea typeface="標楷體" pitchFamily="65" charset="-120"/>
              </a:rPr>
              <a:t>2.</a:t>
            </a:r>
            <a:r>
              <a:rPr lang="zh-CN" altLang="en-US" sz="3600" dirty="0">
                <a:latin typeface="標楷體" pitchFamily="65" charset="-120"/>
                <a:ea typeface="標楷體" pitchFamily="65" charset="-120"/>
              </a:rPr>
              <a:t>温度曲线记录仪：</a:t>
            </a:r>
            <a:endParaRPr lang="en-US" altLang="zh-CN" sz="3600" dirty="0">
              <a:latin typeface="標楷體" pitchFamily="65" charset="-120"/>
              <a:ea typeface="標楷體" pitchFamily="65" charset="-120"/>
            </a:endParaRPr>
          </a:p>
          <a:p>
            <a:r>
              <a:rPr lang="en-US" altLang="zh-CN" sz="3600" dirty="0">
                <a:latin typeface="標楷體" pitchFamily="65" charset="-120"/>
                <a:ea typeface="標楷體" pitchFamily="65" charset="-120"/>
              </a:rPr>
              <a:t>   </a:t>
            </a:r>
            <a:endParaRPr lang="en-US" altLang="zh-TW" sz="3600" dirty="0">
              <a:latin typeface="標楷體" pitchFamily="65" charset="-120"/>
              <a:ea typeface="標楷體" pitchFamily="65" charset="-120"/>
            </a:endParaRPr>
          </a:p>
        </p:txBody>
      </p:sp>
      <p:sp>
        <p:nvSpPr>
          <p:cNvPr id="4" name="矩形 3"/>
          <p:cNvSpPr/>
          <p:nvPr/>
        </p:nvSpPr>
        <p:spPr>
          <a:xfrm>
            <a:off x="1071538" y="1571612"/>
            <a:ext cx="7858180" cy="4154984"/>
          </a:xfrm>
          <a:prstGeom prst="rect">
            <a:avLst/>
          </a:prstGeom>
        </p:spPr>
        <p:txBody>
          <a:bodyPr wrap="square">
            <a:spAutoFit/>
          </a:bodyPr>
          <a:lstStyle/>
          <a:p>
            <a:r>
              <a:rPr lang="zh-CN" altLang="en-US" sz="2400" dirty="0">
                <a:latin typeface="標楷體" pitchFamily="65" charset="-120"/>
                <a:ea typeface="標楷體" pitchFamily="65" charset="-120"/>
              </a:rPr>
              <a:t>产品的温度曲线记录仪类型 ：</a:t>
            </a:r>
            <a:endParaRPr lang="en-US" altLang="zh-CN" sz="2400" dirty="0">
              <a:latin typeface="標楷體" pitchFamily="65" charset="-120"/>
              <a:ea typeface="標楷體" pitchFamily="65" charset="-120"/>
            </a:endParaRPr>
          </a:p>
          <a:p>
            <a:endParaRPr lang="en-US" altLang="zh-CN" sz="2400" dirty="0">
              <a:latin typeface="標楷體" pitchFamily="65" charset="-120"/>
              <a:ea typeface="標楷體" pitchFamily="65" charset="-120"/>
            </a:endParaRPr>
          </a:p>
          <a:p>
            <a:r>
              <a:rPr lang="zh-CN" altLang="en-US" sz="2400" dirty="0">
                <a:latin typeface="標楷體" pitchFamily="65" charset="-120"/>
                <a:ea typeface="標楷體" pitchFamily="65" charset="-120"/>
              </a:rPr>
              <a:t>    产品温度曲线记录仪可以分为静态和动态两种。静态温度曲线记录仪常常被固定在焊接设备上，而动态温度曲线记录仪则在隔热措施下跟随产品一起通过焊接设备。动态设备通过减少热电偶的长度来简化这个过程，同时也省去了在分析过程完成后将导线重新拉回到机器上的必要性动态设备可以进一步分为：可在一个小液晶屏上显示温度数据的设备，能存储数据并之后可下载到计算机系统的设备和能实时传输数据的设备。一些设备可同时兼具以上两个或多个方式。</a:t>
            </a:r>
            <a:endParaRPr lang="zh-TW" altLang="en-US" sz="2400" dirty="0">
              <a:latin typeface="標楷體" pitchFamily="65" charset="-120"/>
              <a:ea typeface="標楷體" pitchFamily="65" charset="-12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00100" y="500042"/>
            <a:ext cx="7643866" cy="1200329"/>
          </a:xfrm>
          <a:prstGeom prst="rect">
            <a:avLst/>
          </a:prstGeom>
        </p:spPr>
        <p:txBody>
          <a:bodyPr wrap="square">
            <a:spAutoFit/>
          </a:bodyPr>
          <a:lstStyle/>
          <a:p>
            <a:r>
              <a:rPr lang="en-US" altLang="zh-CN" sz="3600" dirty="0">
                <a:latin typeface="標楷體" pitchFamily="65" charset="-120"/>
                <a:ea typeface="標楷體" pitchFamily="65" charset="-120"/>
              </a:rPr>
              <a:t>2.</a:t>
            </a:r>
            <a:r>
              <a:rPr lang="zh-CN" altLang="en-US" sz="3600" dirty="0">
                <a:latin typeface="標楷體" pitchFamily="65" charset="-120"/>
                <a:ea typeface="標楷體" pitchFamily="65" charset="-120"/>
              </a:rPr>
              <a:t>温度曲线记录仪：</a:t>
            </a:r>
            <a:endParaRPr lang="en-US" altLang="zh-CN" sz="3600" dirty="0">
              <a:latin typeface="標楷體" pitchFamily="65" charset="-120"/>
              <a:ea typeface="標楷體" pitchFamily="65" charset="-120"/>
            </a:endParaRPr>
          </a:p>
          <a:p>
            <a:r>
              <a:rPr lang="en-US" altLang="zh-CN" sz="3600" dirty="0">
                <a:latin typeface="標楷體" pitchFamily="65" charset="-120"/>
                <a:ea typeface="標楷體" pitchFamily="65" charset="-120"/>
              </a:rPr>
              <a:t>   </a:t>
            </a:r>
            <a:endParaRPr lang="en-US" altLang="zh-TW" sz="3600" dirty="0">
              <a:latin typeface="標楷體" pitchFamily="65" charset="-120"/>
              <a:ea typeface="標楷體" pitchFamily="65" charset="-120"/>
            </a:endParaRPr>
          </a:p>
        </p:txBody>
      </p:sp>
      <p:sp>
        <p:nvSpPr>
          <p:cNvPr id="8" name="矩形 7"/>
          <p:cNvSpPr/>
          <p:nvPr/>
        </p:nvSpPr>
        <p:spPr>
          <a:xfrm>
            <a:off x="1000100" y="1357298"/>
            <a:ext cx="7929618" cy="3785652"/>
          </a:xfrm>
          <a:prstGeom prst="rect">
            <a:avLst/>
          </a:prstGeom>
        </p:spPr>
        <p:txBody>
          <a:bodyPr wrap="square">
            <a:spAutoFit/>
          </a:bodyPr>
          <a:lstStyle/>
          <a:p>
            <a:r>
              <a:rPr lang="zh-CN" altLang="en-US" sz="2400" dirty="0">
                <a:latin typeface="標楷體" pitchFamily="65" charset="-120"/>
                <a:ea typeface="標楷體" pitchFamily="65" charset="-120"/>
              </a:rPr>
              <a:t>产品的温度曲线记录仪测量参数 ：</a:t>
            </a:r>
            <a:endParaRPr lang="en-US" altLang="zh-CN" sz="2400" dirty="0">
              <a:latin typeface="標楷體" pitchFamily="65" charset="-120"/>
              <a:ea typeface="標楷體" pitchFamily="65" charset="-120"/>
            </a:endParaRPr>
          </a:p>
          <a:p>
            <a:endParaRPr lang="en-US" altLang="zh-CN" sz="2400" dirty="0">
              <a:latin typeface="標楷體" pitchFamily="65" charset="-120"/>
              <a:ea typeface="標楷體" pitchFamily="65" charset="-120"/>
            </a:endParaRPr>
          </a:p>
          <a:p>
            <a:r>
              <a:rPr lang="zh-CN" altLang="en-US" sz="2400" dirty="0">
                <a:latin typeface="標楷體" pitchFamily="65" charset="-120"/>
                <a:ea typeface="標楷體" pitchFamily="65" charset="-120"/>
              </a:rPr>
              <a:t>    产品温度曲线记录仪主要用来测量焊点、元器件及基板的时间－温度历史记录。测量焊点的温度是为了确保焊料良好的润湿以形成良好的焊点。不同的元器件会有不同的热质量和吸热能力，因此测量元器件引线和焊点的温度显得尤为重要。元器件耐受高温及快速加热和</a:t>
            </a:r>
            <a:r>
              <a:rPr lang="en-US" altLang="zh-CN" sz="2400" dirty="0">
                <a:latin typeface="標楷體" pitchFamily="65" charset="-120"/>
                <a:ea typeface="標楷體" pitchFamily="65" charset="-120"/>
              </a:rPr>
              <a:t>/</a:t>
            </a:r>
            <a:r>
              <a:rPr lang="zh-CN" altLang="en-US" sz="2400" dirty="0">
                <a:latin typeface="標楷體" pitchFamily="65" charset="-120"/>
                <a:ea typeface="標楷體" pitchFamily="65" charset="-120"/>
              </a:rPr>
              <a:t>或冷却而不受损的能力不尽相同，因此测量他们的温度是很重要的。基板有关键的热性能，这可能需要在焊接工艺中对其监测</a:t>
            </a:r>
            <a:endParaRPr lang="en-US" altLang="zh-CN" sz="2400" dirty="0">
              <a:latin typeface="標楷體" pitchFamily="65" charset="-120"/>
              <a:ea typeface="標楷體" pitchFamily="65" charset="-120"/>
            </a:endParaRPr>
          </a:p>
          <a:p>
            <a:endParaRPr lang="en-US" altLang="zh-CN" sz="2400" dirty="0">
              <a:latin typeface="標楷體" pitchFamily="65" charset="-120"/>
              <a:ea typeface="標楷體" pitchFamily="65" charset="-12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00100" y="142852"/>
            <a:ext cx="7643866" cy="1200329"/>
          </a:xfrm>
          <a:prstGeom prst="rect">
            <a:avLst/>
          </a:prstGeom>
        </p:spPr>
        <p:txBody>
          <a:bodyPr wrap="square">
            <a:spAutoFit/>
          </a:bodyPr>
          <a:lstStyle/>
          <a:p>
            <a:r>
              <a:rPr lang="en-US" altLang="zh-CN" sz="3600" dirty="0">
                <a:latin typeface="標楷體" pitchFamily="65" charset="-120"/>
                <a:ea typeface="標楷體" pitchFamily="65" charset="-120"/>
              </a:rPr>
              <a:t>3.</a:t>
            </a:r>
            <a:r>
              <a:rPr lang="zh-CN" altLang="en-US" sz="3600" dirty="0">
                <a:latin typeface="標楷體" pitchFamily="65" charset="-120"/>
                <a:ea typeface="標楷體" pitchFamily="65" charset="-120"/>
              </a:rPr>
              <a:t> 热电偶定义</a:t>
            </a:r>
            <a:r>
              <a:rPr lang="en-US" altLang="zh-CN" sz="3600" dirty="0">
                <a:latin typeface="標楷體" pitchFamily="65" charset="-120"/>
                <a:ea typeface="標楷體" pitchFamily="65" charset="-120"/>
              </a:rPr>
              <a:t>/</a:t>
            </a:r>
            <a:r>
              <a:rPr lang="zh-CN" altLang="en-US" sz="3600" dirty="0">
                <a:latin typeface="標楷體" pitchFamily="65" charset="-120"/>
                <a:ea typeface="標楷體" pitchFamily="65" charset="-120"/>
              </a:rPr>
              <a:t>选择：</a:t>
            </a:r>
            <a:endParaRPr lang="en-US" altLang="zh-CN" sz="3600" dirty="0">
              <a:latin typeface="標楷體" pitchFamily="65" charset="-120"/>
              <a:ea typeface="標楷體" pitchFamily="65" charset="-120"/>
            </a:endParaRPr>
          </a:p>
          <a:p>
            <a:r>
              <a:rPr lang="en-US" altLang="zh-CN" sz="3600" dirty="0">
                <a:latin typeface="標楷體" pitchFamily="65" charset="-120"/>
                <a:ea typeface="標楷體" pitchFamily="65" charset="-120"/>
              </a:rPr>
              <a:t>   </a:t>
            </a:r>
            <a:endParaRPr lang="en-US" altLang="zh-TW" sz="3600" dirty="0">
              <a:latin typeface="標楷體" pitchFamily="65" charset="-120"/>
              <a:ea typeface="標楷體" pitchFamily="65" charset="-120"/>
            </a:endParaRPr>
          </a:p>
        </p:txBody>
      </p:sp>
      <p:pic>
        <p:nvPicPr>
          <p:cNvPr id="5" name="Picture 2"/>
          <p:cNvPicPr>
            <a:picLocks noChangeAspect="1" noChangeArrowheads="1"/>
          </p:cNvPicPr>
          <p:nvPr/>
        </p:nvPicPr>
        <p:blipFill>
          <a:blip r:embed="rId2" cstate="print"/>
          <a:srcRect l="31250" t="46667" r="33333" b="20000"/>
          <a:stretch>
            <a:fillRect/>
          </a:stretch>
        </p:blipFill>
        <p:spPr bwMode="auto">
          <a:xfrm>
            <a:off x="6500826" y="5643578"/>
            <a:ext cx="1643074" cy="966520"/>
          </a:xfrm>
          <a:prstGeom prst="rect">
            <a:avLst/>
          </a:prstGeom>
          <a:noFill/>
          <a:ln w="9525">
            <a:noFill/>
            <a:miter lim="800000"/>
            <a:headEnd/>
            <a:tailEnd/>
          </a:ln>
          <a:effectLst/>
        </p:spPr>
      </p:pic>
      <p:sp>
        <p:nvSpPr>
          <p:cNvPr id="9" name="矩形 8"/>
          <p:cNvSpPr/>
          <p:nvPr/>
        </p:nvSpPr>
        <p:spPr>
          <a:xfrm>
            <a:off x="1142976" y="785794"/>
            <a:ext cx="7358114" cy="5262979"/>
          </a:xfrm>
          <a:prstGeom prst="rect">
            <a:avLst/>
          </a:prstGeom>
        </p:spPr>
        <p:txBody>
          <a:bodyPr wrap="square">
            <a:spAutoFit/>
          </a:bodyPr>
          <a:lstStyle/>
          <a:p>
            <a:r>
              <a:rPr lang="zh-CN" altLang="en-US" sz="2400" dirty="0"/>
              <a:t>热电偶类型 以下是常见的热电偶类型。选择的热电偶必须与使用的温度曲线记录仪的输入要求相匹配。</a:t>
            </a:r>
            <a:endParaRPr lang="en-US" altLang="zh-CN" sz="2400" dirty="0"/>
          </a:p>
          <a:p>
            <a:r>
              <a:rPr lang="zh-CN" altLang="en-US" dirty="0"/>
              <a:t> </a:t>
            </a:r>
            <a:r>
              <a:rPr lang="en-US" altLang="zh-CN" dirty="0">
                <a:latin typeface="標楷體" pitchFamily="65" charset="-120"/>
                <a:ea typeface="標楷體" pitchFamily="65" charset="-120"/>
              </a:rPr>
              <a:t>K</a:t>
            </a:r>
            <a:r>
              <a:rPr lang="zh-CN" altLang="en-US" dirty="0">
                <a:latin typeface="標楷體" pitchFamily="65" charset="-120"/>
                <a:ea typeface="標楷體" pitchFamily="65" charset="-120"/>
              </a:rPr>
              <a:t>型（镍</a:t>
            </a:r>
            <a:r>
              <a:rPr lang="en-US" altLang="zh-CN" dirty="0">
                <a:latin typeface="標楷體" pitchFamily="65" charset="-120"/>
                <a:ea typeface="標楷體" pitchFamily="65" charset="-120"/>
              </a:rPr>
              <a:t>-</a:t>
            </a:r>
            <a:r>
              <a:rPr lang="zh-CN" altLang="en-US" dirty="0">
                <a:latin typeface="標楷體" pitchFamily="65" charset="-120"/>
                <a:ea typeface="標楷體" pitchFamily="65" charset="-120"/>
              </a:rPr>
              <a:t>铬和镍</a:t>
            </a:r>
            <a:r>
              <a:rPr lang="en-US" altLang="zh-CN" dirty="0">
                <a:latin typeface="標楷體" pitchFamily="65" charset="-120"/>
                <a:ea typeface="標楷體" pitchFamily="65" charset="-120"/>
              </a:rPr>
              <a:t>-</a:t>
            </a:r>
            <a:r>
              <a:rPr lang="zh-CN" altLang="en-US" dirty="0">
                <a:latin typeface="標楷體" pitchFamily="65" charset="-120"/>
                <a:ea typeface="標楷體" pitchFamily="65" charset="-120"/>
              </a:rPr>
              <a:t>铝）是最常用的热电偶感温线，它具有较宽的作业范围从</a:t>
            </a:r>
            <a:r>
              <a:rPr lang="en-US" altLang="zh-CN" dirty="0">
                <a:latin typeface="標楷體" pitchFamily="65" charset="-120"/>
                <a:ea typeface="標楷體" pitchFamily="65" charset="-120"/>
              </a:rPr>
              <a:t>200°C </a:t>
            </a:r>
            <a:r>
              <a:rPr lang="zh-CN" altLang="en-US" dirty="0">
                <a:latin typeface="標楷體" pitchFamily="65" charset="-120"/>
                <a:ea typeface="標楷體" pitchFamily="65" charset="-120"/>
              </a:rPr>
              <a:t>到</a:t>
            </a:r>
            <a:r>
              <a:rPr lang="en-US" altLang="zh-CN" dirty="0">
                <a:latin typeface="標楷體" pitchFamily="65" charset="-120"/>
                <a:ea typeface="標楷體" pitchFamily="65" charset="-120"/>
              </a:rPr>
              <a:t>1250°C</a:t>
            </a:r>
            <a:r>
              <a:rPr lang="zh-CN" altLang="en-US" dirty="0">
                <a:latin typeface="標楷體" pitchFamily="65" charset="-120"/>
                <a:ea typeface="標楷體" pitchFamily="65" charset="-120"/>
              </a:rPr>
              <a:t>，精确度为 </a:t>
            </a:r>
            <a:r>
              <a:rPr lang="en-US" altLang="zh-CN" dirty="0">
                <a:latin typeface="標楷體" pitchFamily="65" charset="-120"/>
                <a:ea typeface="標楷體" pitchFamily="65" charset="-120"/>
              </a:rPr>
              <a:t>±1.5°C</a:t>
            </a:r>
            <a:r>
              <a:rPr lang="zh-CN" altLang="en-US" dirty="0">
                <a:latin typeface="標楷體" pitchFamily="65" charset="-120"/>
                <a:ea typeface="標楷體" pitchFamily="65" charset="-120"/>
              </a:rPr>
              <a:t>。温度高于</a:t>
            </a:r>
            <a:r>
              <a:rPr lang="en-US" altLang="zh-CN" dirty="0">
                <a:latin typeface="標楷體" pitchFamily="65" charset="-120"/>
                <a:ea typeface="標楷體" pitchFamily="65" charset="-120"/>
              </a:rPr>
              <a:t>250°C</a:t>
            </a:r>
            <a:r>
              <a:rPr lang="zh-CN" altLang="en-US" dirty="0">
                <a:latin typeface="標楷體" pitchFamily="65" charset="-120"/>
                <a:ea typeface="標楷體" pitchFamily="65" charset="-120"/>
              </a:rPr>
              <a:t>时可能存在温度循环滞后，所以对于一些高温无铅制程温度曲线测试，它可能不是最佳选择。这种材料很难焊接，</a:t>
            </a:r>
            <a:endParaRPr lang="en-US" altLang="zh-CN" dirty="0">
              <a:latin typeface="標楷體" pitchFamily="65" charset="-120"/>
              <a:ea typeface="標楷體" pitchFamily="65" charset="-120"/>
            </a:endParaRPr>
          </a:p>
          <a:p>
            <a:r>
              <a:rPr lang="en-US" altLang="zh-CN" dirty="0">
                <a:latin typeface="標楷體" pitchFamily="65" charset="-120"/>
                <a:ea typeface="標楷體" pitchFamily="65" charset="-120"/>
              </a:rPr>
              <a:t>T</a:t>
            </a:r>
            <a:r>
              <a:rPr lang="zh-CN" altLang="en-US" dirty="0">
                <a:latin typeface="標楷體" pitchFamily="65" charset="-120"/>
                <a:ea typeface="標楷體" pitchFamily="65" charset="-120"/>
              </a:rPr>
              <a:t>型（铜和铜</a:t>
            </a:r>
            <a:r>
              <a:rPr lang="en-US" altLang="zh-CN" dirty="0">
                <a:latin typeface="標楷體" pitchFamily="65" charset="-120"/>
                <a:ea typeface="標楷體" pitchFamily="65" charset="-120"/>
              </a:rPr>
              <a:t>-</a:t>
            </a:r>
            <a:r>
              <a:rPr lang="zh-CN" altLang="en-US" dirty="0">
                <a:latin typeface="標楷體" pitchFamily="65" charset="-120"/>
                <a:ea typeface="標楷體" pitchFamily="65" charset="-120"/>
              </a:rPr>
              <a:t>镍）作业范围从</a:t>
            </a:r>
            <a:r>
              <a:rPr lang="en-US" altLang="zh-CN" dirty="0">
                <a:latin typeface="標楷體" pitchFamily="65" charset="-120"/>
                <a:ea typeface="標楷體" pitchFamily="65" charset="-120"/>
              </a:rPr>
              <a:t>200°C</a:t>
            </a:r>
            <a:r>
              <a:rPr lang="zh-CN" altLang="en-US" dirty="0">
                <a:latin typeface="標楷體" pitchFamily="65" charset="-120"/>
                <a:ea typeface="標楷體" pitchFamily="65" charset="-120"/>
              </a:rPr>
              <a:t>到</a:t>
            </a:r>
            <a:r>
              <a:rPr lang="en-US" altLang="zh-CN" dirty="0">
                <a:latin typeface="標楷體" pitchFamily="65" charset="-120"/>
                <a:ea typeface="標楷體" pitchFamily="65" charset="-120"/>
              </a:rPr>
              <a:t>400°C</a:t>
            </a:r>
            <a:r>
              <a:rPr lang="zh-CN" altLang="en-US" dirty="0">
                <a:latin typeface="標楷體" pitchFamily="65" charset="-120"/>
                <a:ea typeface="標楷體" pitchFamily="65" charset="-120"/>
              </a:rPr>
              <a:t>，具有良好的可焊性，使其易于通过焊接连接。铜臂具有高的热导率，所以越细的线越好。它的精确度为</a:t>
            </a:r>
            <a:r>
              <a:rPr lang="en-US" altLang="zh-CN" dirty="0">
                <a:latin typeface="標楷體" pitchFamily="65" charset="-120"/>
                <a:ea typeface="標楷體" pitchFamily="65" charset="-120"/>
              </a:rPr>
              <a:t>± 0.5°C</a:t>
            </a:r>
            <a:r>
              <a:rPr lang="zh-CN" altLang="en-US" dirty="0">
                <a:latin typeface="標楷體" pitchFamily="65" charset="-120"/>
                <a:ea typeface="標楷體" pitchFamily="65" charset="-120"/>
              </a:rPr>
              <a:t>。</a:t>
            </a:r>
            <a:r>
              <a:rPr lang="en-US" altLang="zh-CN" dirty="0">
                <a:solidFill>
                  <a:srgbClr val="FF0000"/>
                </a:solidFill>
                <a:latin typeface="標楷體" pitchFamily="65" charset="-120"/>
                <a:ea typeface="標楷體" pitchFamily="65" charset="-120"/>
              </a:rPr>
              <a:t>(</a:t>
            </a:r>
            <a:r>
              <a:rPr lang="zh-CN" altLang="en-US" dirty="0">
                <a:solidFill>
                  <a:srgbClr val="FF0000"/>
                </a:solidFill>
                <a:latin typeface="標楷體" pitchFamily="65" charset="-120"/>
                <a:ea typeface="標楷體" pitchFamily="65" charset="-120"/>
              </a:rPr>
              <a:t>工厂目前使用）</a:t>
            </a:r>
            <a:endParaRPr lang="en-US" altLang="zh-CN" dirty="0">
              <a:latin typeface="標楷體" pitchFamily="65" charset="-120"/>
              <a:ea typeface="標楷體" pitchFamily="65" charset="-120"/>
            </a:endParaRPr>
          </a:p>
          <a:p>
            <a:r>
              <a:rPr lang="en-US" altLang="zh-CN" dirty="0">
                <a:latin typeface="標楷體" pitchFamily="65" charset="-120"/>
                <a:ea typeface="標楷體" pitchFamily="65" charset="-120"/>
              </a:rPr>
              <a:t> J</a:t>
            </a:r>
            <a:r>
              <a:rPr lang="zh-CN" altLang="en-US" dirty="0">
                <a:latin typeface="標楷體" pitchFamily="65" charset="-120"/>
                <a:ea typeface="標楷體" pitchFamily="65" charset="-120"/>
              </a:rPr>
              <a:t>型（铁和铜</a:t>
            </a:r>
            <a:r>
              <a:rPr lang="en-US" altLang="zh-CN" dirty="0">
                <a:latin typeface="標楷體" pitchFamily="65" charset="-120"/>
                <a:ea typeface="標楷體" pitchFamily="65" charset="-120"/>
              </a:rPr>
              <a:t>-</a:t>
            </a:r>
            <a:r>
              <a:rPr lang="zh-CN" altLang="en-US" dirty="0">
                <a:latin typeface="標楷體" pitchFamily="65" charset="-120"/>
                <a:ea typeface="標楷體" pitchFamily="65" charset="-120"/>
              </a:rPr>
              <a:t>镍）作业范围从</a:t>
            </a:r>
            <a:r>
              <a:rPr lang="en-US" altLang="zh-CN" dirty="0">
                <a:latin typeface="標楷體" pitchFamily="65" charset="-120"/>
                <a:ea typeface="標楷體" pitchFamily="65" charset="-120"/>
              </a:rPr>
              <a:t>210°C</a:t>
            </a:r>
            <a:r>
              <a:rPr lang="zh-CN" altLang="en-US" dirty="0">
                <a:latin typeface="標楷體" pitchFamily="65" charset="-120"/>
                <a:ea typeface="標楷體" pitchFamily="65" charset="-120"/>
              </a:rPr>
              <a:t>到</a:t>
            </a:r>
            <a:r>
              <a:rPr lang="en-US" altLang="zh-CN" dirty="0">
                <a:latin typeface="標楷體" pitchFamily="65" charset="-120"/>
                <a:ea typeface="標楷體" pitchFamily="65" charset="-120"/>
              </a:rPr>
              <a:t>800°C</a:t>
            </a:r>
            <a:r>
              <a:rPr lang="zh-CN" altLang="en-US" dirty="0">
                <a:latin typeface="標楷體" pitchFamily="65" charset="-120"/>
                <a:ea typeface="標楷體" pitchFamily="65" charset="-120"/>
              </a:rPr>
              <a:t>，精确度为</a:t>
            </a:r>
            <a:r>
              <a:rPr lang="en-US" altLang="zh-CN" dirty="0">
                <a:latin typeface="標楷體" pitchFamily="65" charset="-120"/>
                <a:ea typeface="標楷體" pitchFamily="65" charset="-120"/>
              </a:rPr>
              <a:t>±1.5°C</a:t>
            </a:r>
            <a:r>
              <a:rPr lang="zh-CN" altLang="en-US" dirty="0">
                <a:latin typeface="標楷體" pitchFamily="65" charset="-120"/>
                <a:ea typeface="標楷體" pitchFamily="65" charset="-120"/>
              </a:rPr>
              <a:t>。这种材质很难焊接，建议使用附件所提的其他方法。它在潮湿空气中是容易生锈的，这将会缩短其工作寿命。</a:t>
            </a:r>
            <a:endParaRPr lang="en-US" altLang="zh-CN" dirty="0">
              <a:latin typeface="標楷體" pitchFamily="65" charset="-120"/>
              <a:ea typeface="標楷體" pitchFamily="65" charset="-120"/>
            </a:endParaRPr>
          </a:p>
          <a:p>
            <a:r>
              <a:rPr lang="en-US" altLang="zh-CN" dirty="0">
                <a:latin typeface="標楷體" pitchFamily="65" charset="-120"/>
                <a:ea typeface="標楷體" pitchFamily="65" charset="-120"/>
              </a:rPr>
              <a:t>N</a:t>
            </a:r>
            <a:r>
              <a:rPr lang="zh-CN" altLang="en-US" dirty="0">
                <a:latin typeface="標楷體" pitchFamily="65" charset="-120"/>
                <a:ea typeface="標楷體" pitchFamily="65" charset="-120"/>
              </a:rPr>
              <a:t> 型（镍</a:t>
            </a:r>
            <a:r>
              <a:rPr lang="en-US" altLang="zh-CN" dirty="0">
                <a:latin typeface="標楷體" pitchFamily="65" charset="-120"/>
                <a:ea typeface="標楷體" pitchFamily="65" charset="-120"/>
              </a:rPr>
              <a:t>-14.2% </a:t>
            </a:r>
            <a:r>
              <a:rPr lang="zh-CN" altLang="en-US" dirty="0">
                <a:latin typeface="標楷體" pitchFamily="65" charset="-120"/>
                <a:ea typeface="標楷體" pitchFamily="65" charset="-120"/>
              </a:rPr>
              <a:t>铬</a:t>
            </a:r>
            <a:r>
              <a:rPr lang="en-US" altLang="zh-CN" dirty="0">
                <a:latin typeface="標楷體" pitchFamily="65" charset="-120"/>
                <a:ea typeface="標楷體" pitchFamily="65" charset="-120"/>
              </a:rPr>
              <a:t>-1.4%</a:t>
            </a:r>
            <a:r>
              <a:rPr lang="zh-CN" altLang="en-US" dirty="0">
                <a:latin typeface="標楷體" pitchFamily="65" charset="-120"/>
                <a:ea typeface="標楷體" pitchFamily="65" charset="-120"/>
              </a:rPr>
              <a:t>硅和镍</a:t>
            </a:r>
            <a:r>
              <a:rPr lang="en-US" altLang="zh-CN" dirty="0">
                <a:latin typeface="標楷體" pitchFamily="65" charset="-120"/>
                <a:ea typeface="標楷體" pitchFamily="65" charset="-120"/>
              </a:rPr>
              <a:t>14.4%</a:t>
            </a:r>
            <a:r>
              <a:rPr lang="zh-CN" altLang="en-US" dirty="0">
                <a:latin typeface="標楷體" pitchFamily="65" charset="-120"/>
                <a:ea typeface="標楷體" pitchFamily="65" charset="-120"/>
              </a:rPr>
              <a:t>硅</a:t>
            </a:r>
            <a:r>
              <a:rPr lang="en-US" altLang="zh-CN" dirty="0">
                <a:latin typeface="標楷體" pitchFamily="65" charset="-120"/>
                <a:ea typeface="標楷體" pitchFamily="65" charset="-120"/>
              </a:rPr>
              <a:t>-0.1%</a:t>
            </a:r>
            <a:r>
              <a:rPr lang="zh-CN" altLang="en-US" dirty="0">
                <a:latin typeface="標楷體" pitchFamily="65" charset="-120"/>
                <a:ea typeface="標楷體" pitchFamily="65" charset="-120"/>
              </a:rPr>
              <a:t>镁）作业范围均为</a:t>
            </a:r>
            <a:r>
              <a:rPr lang="en-US" altLang="zh-CN" dirty="0">
                <a:latin typeface="標楷體" pitchFamily="65" charset="-120"/>
                <a:ea typeface="標楷體" pitchFamily="65" charset="-120"/>
              </a:rPr>
              <a:t>-200°C</a:t>
            </a:r>
            <a:r>
              <a:rPr lang="zh-CN" altLang="en-US" dirty="0">
                <a:latin typeface="標楷體" pitchFamily="65" charset="-120"/>
                <a:ea typeface="標楷體" pitchFamily="65" charset="-120"/>
              </a:rPr>
              <a:t>到</a:t>
            </a:r>
            <a:r>
              <a:rPr lang="en-US" altLang="zh-CN" dirty="0">
                <a:latin typeface="標楷體" pitchFamily="65" charset="-120"/>
                <a:ea typeface="標楷體" pitchFamily="65" charset="-120"/>
              </a:rPr>
              <a:t>1280°C</a:t>
            </a:r>
            <a:r>
              <a:rPr lang="zh-CN" altLang="en-US" dirty="0">
                <a:latin typeface="標楷體" pitchFamily="65" charset="-120"/>
                <a:ea typeface="標楷體" pitchFamily="65" charset="-120"/>
              </a:rPr>
              <a:t>。这种材料很难焊接。它是最稳定的热电偶材料之一，精确度为</a:t>
            </a:r>
            <a:r>
              <a:rPr lang="en-US" altLang="zh-CN" dirty="0">
                <a:latin typeface="標楷體" pitchFamily="65" charset="-120"/>
                <a:ea typeface="標楷體" pitchFamily="65" charset="-120"/>
              </a:rPr>
              <a:t>±1.5</a:t>
            </a:r>
            <a:r>
              <a:rPr lang="en-US" altLang="zh-CN" dirty="0"/>
              <a:t>°</a:t>
            </a:r>
          </a:p>
          <a:p>
            <a:r>
              <a:rPr lang="zh-CN" altLang="en-US" dirty="0">
                <a:latin typeface="標楷體" pitchFamily="65" charset="-120"/>
                <a:ea typeface="標楷體" pitchFamily="65" charset="-120"/>
              </a:rPr>
              <a:t>线长 建议热电偶长度不超过</a:t>
            </a:r>
            <a:r>
              <a:rPr lang="en-US" altLang="zh-CN" dirty="0">
                <a:latin typeface="標楷體" pitchFamily="65" charset="-120"/>
                <a:ea typeface="標楷體" pitchFamily="65" charset="-120"/>
              </a:rPr>
              <a:t>1</a:t>
            </a:r>
            <a:r>
              <a:rPr lang="zh-CN" altLang="en-US" dirty="0">
                <a:latin typeface="標楷體" pitchFamily="65" charset="-120"/>
                <a:ea typeface="標楷體" pitchFamily="65" charset="-120"/>
              </a:rPr>
              <a:t>米或</a:t>
            </a:r>
            <a:r>
              <a:rPr lang="en-US" altLang="zh-CN" dirty="0">
                <a:latin typeface="標楷體" pitchFamily="65" charset="-120"/>
                <a:ea typeface="標楷體" pitchFamily="65" charset="-120"/>
              </a:rPr>
              <a:t>36</a:t>
            </a:r>
            <a:r>
              <a:rPr lang="zh-CN" altLang="en-US" dirty="0">
                <a:latin typeface="標楷體" pitchFamily="65" charset="-120"/>
                <a:ea typeface="標楷體" pitchFamily="65" charset="-120"/>
              </a:rPr>
              <a:t>英寸。长热电偶线可能引入测量误差；热电偶线应该视实际情况尽可能短，这样可以减少噪声和电阻的影响，并防止机械损坏热电偶线</a:t>
            </a:r>
            <a:endParaRPr lang="zh-TW" altLang="en-US" dirty="0">
              <a:latin typeface="標楷體" pitchFamily="65" charset="-120"/>
              <a:ea typeface="標楷體" pitchFamily="65" charset="-12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00100" y="285728"/>
            <a:ext cx="7643866" cy="1077218"/>
          </a:xfrm>
          <a:prstGeom prst="rect">
            <a:avLst/>
          </a:prstGeom>
        </p:spPr>
        <p:txBody>
          <a:bodyPr wrap="square">
            <a:spAutoFit/>
          </a:bodyPr>
          <a:lstStyle/>
          <a:p>
            <a:r>
              <a:rPr lang="en-US" altLang="zh-CN" sz="3600" dirty="0">
                <a:latin typeface="標楷體" pitchFamily="65" charset="-120"/>
                <a:ea typeface="標楷體" pitchFamily="65" charset="-120"/>
              </a:rPr>
              <a:t>5.</a:t>
            </a:r>
            <a:r>
              <a:rPr lang="zh-CN" altLang="en-US" sz="3600" dirty="0">
                <a:latin typeface="標楷體" pitchFamily="65" charset="-120"/>
                <a:ea typeface="標楷體" pitchFamily="65" charset="-120"/>
              </a:rPr>
              <a:t> 热电偶位置选定：</a:t>
            </a:r>
            <a:endParaRPr lang="en-US" altLang="zh-CN" sz="3600" dirty="0">
              <a:latin typeface="標楷體" pitchFamily="65" charset="-120"/>
              <a:ea typeface="標楷體" pitchFamily="65" charset="-120"/>
            </a:endParaRPr>
          </a:p>
          <a:p>
            <a:r>
              <a:rPr lang="en-US" altLang="zh-CN" sz="2800" dirty="0">
                <a:latin typeface="標楷體" pitchFamily="65" charset="-120"/>
                <a:ea typeface="標楷體" pitchFamily="65" charset="-120"/>
              </a:rPr>
              <a:t>   </a:t>
            </a:r>
            <a:endParaRPr lang="en-US" altLang="zh-TW" sz="2800" dirty="0">
              <a:latin typeface="標楷體" pitchFamily="65" charset="-120"/>
              <a:ea typeface="標楷體" pitchFamily="65" charset="-120"/>
            </a:endParaRPr>
          </a:p>
        </p:txBody>
      </p:sp>
      <p:sp>
        <p:nvSpPr>
          <p:cNvPr id="9" name="矩形 8"/>
          <p:cNvSpPr/>
          <p:nvPr/>
        </p:nvSpPr>
        <p:spPr>
          <a:xfrm>
            <a:off x="1071538" y="785794"/>
            <a:ext cx="7715304" cy="5262979"/>
          </a:xfrm>
          <a:prstGeom prst="rect">
            <a:avLst/>
          </a:prstGeom>
        </p:spPr>
        <p:txBody>
          <a:bodyPr wrap="square">
            <a:spAutoFit/>
          </a:bodyPr>
          <a:lstStyle/>
          <a:p>
            <a:r>
              <a:rPr lang="zh-CN" altLang="en-US" sz="2400" dirty="0">
                <a:latin typeface="標楷體" pitchFamily="65" charset="-120"/>
                <a:ea typeface="標楷體" pitchFamily="65" charset="-120"/>
              </a:rPr>
              <a:t>波峰焊</a:t>
            </a:r>
            <a:endParaRPr lang="en-US" altLang="zh-CN" sz="2400" dirty="0">
              <a:latin typeface="標楷體" pitchFamily="65" charset="-120"/>
              <a:ea typeface="標楷體" pitchFamily="65" charset="-120"/>
            </a:endParaRPr>
          </a:p>
          <a:p>
            <a:r>
              <a:rPr lang="en-US" altLang="zh-CN" sz="2400" dirty="0">
                <a:latin typeface="標楷體" pitchFamily="65" charset="-120"/>
                <a:ea typeface="標楷體" pitchFamily="65" charset="-120"/>
              </a:rPr>
              <a:t> </a:t>
            </a:r>
            <a:r>
              <a:rPr lang="zh-CN" altLang="en-US" sz="2400" dirty="0">
                <a:latin typeface="標楷體" pitchFamily="65" charset="-120"/>
                <a:ea typeface="標楷體" pitchFamily="65" charset="-120"/>
              </a:rPr>
              <a:t>板面（主面） </a:t>
            </a:r>
            <a:endParaRPr lang="en-US" altLang="zh-CN" sz="2400" dirty="0">
              <a:latin typeface="標楷體" pitchFamily="65" charset="-120"/>
              <a:ea typeface="標楷體" pitchFamily="65" charset="-120"/>
            </a:endParaRPr>
          </a:p>
          <a:p>
            <a:r>
              <a:rPr lang="en-US" altLang="zh-CN" sz="2400" dirty="0">
                <a:latin typeface="標楷體" pitchFamily="65" charset="-120"/>
                <a:ea typeface="標楷體" pitchFamily="65" charset="-120"/>
              </a:rPr>
              <a:t> </a:t>
            </a:r>
            <a:r>
              <a:rPr lang="zh-CN" altLang="en-US" sz="2400" dirty="0">
                <a:latin typeface="標楷體" pitchFamily="65" charset="-120"/>
                <a:ea typeface="標楷體" pitchFamily="65" charset="-120"/>
              </a:rPr>
              <a:t>测试点选择在代表最高温度的区域内。将确保板面的组件温度不会超过焊料合金的液相线温度。通常这样的区域会是一个焊盘或者安放一个最小元器件的连接盘。在设计测试温度曲线时，建议板面最少选择两个位置。热电偶需要直接置于焊盘或连接盘上</a:t>
            </a:r>
            <a:endParaRPr lang="en-US" altLang="zh-CN" sz="2400" dirty="0">
              <a:latin typeface="標楷體" pitchFamily="65" charset="-120"/>
              <a:ea typeface="標楷體" pitchFamily="65" charset="-120"/>
            </a:endParaRPr>
          </a:p>
          <a:p>
            <a:endParaRPr lang="en-US" altLang="zh-CN" sz="2400" dirty="0">
              <a:latin typeface="標楷體" pitchFamily="65" charset="-120"/>
              <a:ea typeface="標楷體" pitchFamily="65" charset="-120"/>
            </a:endParaRPr>
          </a:p>
          <a:p>
            <a:endParaRPr lang="en-US" altLang="zh-CN" sz="2400" dirty="0">
              <a:latin typeface="標楷體" pitchFamily="65" charset="-120"/>
              <a:ea typeface="標楷體" pitchFamily="65" charset="-120"/>
            </a:endParaRPr>
          </a:p>
          <a:p>
            <a:r>
              <a:rPr lang="zh-CN" altLang="en-US" sz="2400" dirty="0">
                <a:latin typeface="標楷體" pitchFamily="65" charset="-120"/>
                <a:ea typeface="標楷體" pitchFamily="65" charset="-120"/>
              </a:rPr>
              <a:t>板底（辅面） </a:t>
            </a:r>
            <a:endParaRPr lang="en-US" altLang="zh-CN" sz="2400" dirty="0">
              <a:latin typeface="標楷體" pitchFamily="65" charset="-120"/>
              <a:ea typeface="標楷體" pitchFamily="65" charset="-120"/>
            </a:endParaRPr>
          </a:p>
          <a:p>
            <a:r>
              <a:rPr lang="zh-CN" altLang="en-US" sz="2400" dirty="0">
                <a:latin typeface="標楷體" pitchFamily="65" charset="-120"/>
                <a:ea typeface="標楷體" pitchFamily="65" charset="-120"/>
              </a:rPr>
              <a:t>测试点选取在板底最高温度区域内，目的在提供足够的热量来确保板面与板底完整的填充。在设计测试温度曲线时，建议板底最少选择两个位置</a:t>
            </a:r>
            <a:endParaRPr lang="en-US" altLang="zh-CN" sz="2400" dirty="0">
              <a:latin typeface="標楷體" pitchFamily="65" charset="-120"/>
              <a:ea typeface="標楷體" pitchFamily="65" charset="-120"/>
            </a:endParaRPr>
          </a:p>
          <a:p>
            <a:endParaRPr lang="en-US" altLang="zh-TW" sz="2400" dirty="0">
              <a:latin typeface="標楷體" pitchFamily="65" charset="-120"/>
              <a:ea typeface="標楷體" pitchFamily="65" charset="-12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000100" y="285728"/>
            <a:ext cx="7643866" cy="1077218"/>
          </a:xfrm>
          <a:prstGeom prst="rect">
            <a:avLst/>
          </a:prstGeom>
        </p:spPr>
        <p:txBody>
          <a:bodyPr wrap="square">
            <a:spAutoFit/>
          </a:bodyPr>
          <a:lstStyle/>
          <a:p>
            <a:r>
              <a:rPr lang="en-US" altLang="zh-CN" sz="3600" dirty="0">
                <a:latin typeface="標楷體" pitchFamily="65" charset="-120"/>
                <a:ea typeface="標楷體" pitchFamily="65" charset="-120"/>
              </a:rPr>
              <a:t>6.</a:t>
            </a:r>
            <a:r>
              <a:rPr lang="zh-CN" altLang="en-US" sz="3600" dirty="0">
                <a:latin typeface="標楷體" pitchFamily="65" charset="-120"/>
                <a:ea typeface="標楷體" pitchFamily="65" charset="-120"/>
              </a:rPr>
              <a:t> 热电偶固定：</a:t>
            </a:r>
            <a:endParaRPr lang="en-US" altLang="zh-CN" sz="3600" dirty="0">
              <a:latin typeface="標楷體" pitchFamily="65" charset="-120"/>
              <a:ea typeface="標楷體" pitchFamily="65" charset="-120"/>
            </a:endParaRPr>
          </a:p>
          <a:p>
            <a:r>
              <a:rPr lang="en-US" altLang="zh-CN" sz="2800" dirty="0">
                <a:latin typeface="標楷體" pitchFamily="65" charset="-120"/>
                <a:ea typeface="標楷體" pitchFamily="65" charset="-120"/>
              </a:rPr>
              <a:t>   </a:t>
            </a:r>
            <a:endParaRPr lang="en-US" altLang="zh-TW" sz="2800" dirty="0">
              <a:latin typeface="標楷體" pitchFamily="65" charset="-120"/>
              <a:ea typeface="標楷體" pitchFamily="65" charset="-120"/>
            </a:endParaRPr>
          </a:p>
        </p:txBody>
      </p:sp>
      <p:sp>
        <p:nvSpPr>
          <p:cNvPr id="9" name="矩形 8"/>
          <p:cNvSpPr/>
          <p:nvPr/>
        </p:nvSpPr>
        <p:spPr>
          <a:xfrm>
            <a:off x="1071538" y="785794"/>
            <a:ext cx="7715304" cy="7109639"/>
          </a:xfrm>
          <a:prstGeom prst="rect">
            <a:avLst/>
          </a:prstGeom>
        </p:spPr>
        <p:txBody>
          <a:bodyPr wrap="square">
            <a:spAutoFit/>
          </a:bodyPr>
          <a:lstStyle/>
          <a:p>
            <a:r>
              <a:rPr lang="zh-CN" altLang="en-US" sz="2400" dirty="0">
                <a:latin typeface="標楷體" pitchFamily="65" charset="-120"/>
                <a:ea typeface="標楷體" pitchFamily="65" charset="-120"/>
              </a:rPr>
              <a:t> 适当的附着固定是确保实现精确的温度测量的关键。在进行温度曲线测试时有很多种方法把热电偶固定到组件上。但所使用的方法不能显著影响热</a:t>
            </a:r>
            <a:endParaRPr lang="en-US" altLang="zh-CN" sz="2400" dirty="0">
              <a:latin typeface="標楷體" pitchFamily="65" charset="-120"/>
              <a:ea typeface="標楷體" pitchFamily="65" charset="-120"/>
            </a:endParaRPr>
          </a:p>
          <a:p>
            <a:r>
              <a:rPr lang="en-US" altLang="zh-CN" sz="2400" dirty="0">
                <a:latin typeface="標楷體" pitchFamily="65" charset="-120"/>
                <a:ea typeface="標楷體" pitchFamily="65" charset="-120"/>
              </a:rPr>
              <a:t>a</a:t>
            </a:r>
            <a:r>
              <a:rPr lang="zh-CN" altLang="en-US" sz="2400" dirty="0">
                <a:latin typeface="標楷體" pitchFamily="65" charset="-120"/>
                <a:ea typeface="標楷體" pitchFamily="65" charset="-120"/>
              </a:rPr>
              <a:t> 高温焊料               </a:t>
            </a:r>
            <a:endParaRPr lang="en-US" altLang="zh-CN" sz="2400" dirty="0">
              <a:latin typeface="標楷體" pitchFamily="65" charset="-120"/>
              <a:ea typeface="標楷體" pitchFamily="65" charset="-120"/>
            </a:endParaRPr>
          </a:p>
          <a:p>
            <a:r>
              <a:rPr lang="en-US" altLang="zh-CN" sz="2400" dirty="0">
                <a:latin typeface="標楷體" pitchFamily="65" charset="-120"/>
                <a:ea typeface="標楷體" pitchFamily="65" charset="-120"/>
              </a:rPr>
              <a:t>b.</a:t>
            </a:r>
            <a:r>
              <a:rPr lang="zh-TW" altLang="en-US" sz="2400" dirty="0">
                <a:latin typeface="標楷體" pitchFamily="65" charset="-120"/>
                <a:ea typeface="標楷體" pitchFamily="65" charset="-120"/>
              </a:rPr>
              <a:t>粘合剂</a:t>
            </a:r>
            <a:endParaRPr lang="en-US" altLang="zh-TW" sz="2400" dirty="0">
              <a:latin typeface="標楷體" pitchFamily="65" charset="-120"/>
              <a:ea typeface="標楷體" pitchFamily="65" charset="-120"/>
            </a:endParaRPr>
          </a:p>
          <a:p>
            <a:r>
              <a:rPr lang="en-US" altLang="zh-CN" sz="2400" dirty="0">
                <a:latin typeface="標楷體" pitchFamily="65" charset="-120"/>
                <a:ea typeface="標楷體" pitchFamily="65" charset="-120"/>
              </a:rPr>
              <a:t>c.</a:t>
            </a:r>
            <a:r>
              <a:rPr lang="zh-CN" altLang="en-US" sz="2400" dirty="0">
                <a:latin typeface="標楷體" pitchFamily="65" charset="-120"/>
                <a:ea typeface="標楷體" pitchFamily="65" charset="-120"/>
              </a:rPr>
              <a:t>聚酰亚胺胶带</a:t>
            </a:r>
            <a:endParaRPr lang="en-US" altLang="zh-CN" sz="2400" dirty="0">
              <a:latin typeface="標楷體" pitchFamily="65" charset="-120"/>
              <a:ea typeface="標楷體" pitchFamily="65" charset="-120"/>
            </a:endParaRPr>
          </a:p>
          <a:p>
            <a:r>
              <a:rPr lang="en-US" altLang="zh-CN" sz="2400" dirty="0">
                <a:latin typeface="標楷體" pitchFamily="65" charset="-120"/>
                <a:ea typeface="標楷體" pitchFamily="65" charset="-120"/>
              </a:rPr>
              <a:t>d.</a:t>
            </a:r>
            <a:r>
              <a:rPr lang="zh-TW" altLang="en-US" sz="2400" dirty="0">
                <a:latin typeface="標楷體" pitchFamily="65" charset="-120"/>
                <a:ea typeface="標楷體" pitchFamily="65" charset="-120"/>
              </a:rPr>
              <a:t>铝胶带</a:t>
            </a:r>
            <a:endParaRPr lang="en-US" altLang="zh-TW" sz="2400" dirty="0">
              <a:latin typeface="標楷體" pitchFamily="65" charset="-120"/>
              <a:ea typeface="標楷體" pitchFamily="65" charset="-120"/>
            </a:endParaRPr>
          </a:p>
          <a:p>
            <a:r>
              <a:rPr lang="en-US" altLang="zh-TW" sz="2400" dirty="0">
                <a:latin typeface="標楷體" pitchFamily="65" charset="-120"/>
                <a:ea typeface="標楷體" pitchFamily="65" charset="-120"/>
              </a:rPr>
              <a:t>e.</a:t>
            </a:r>
            <a:r>
              <a:rPr lang="zh-TW" altLang="en-US" sz="2400" dirty="0">
                <a:latin typeface="標楷體" pitchFamily="65" charset="-120"/>
                <a:ea typeface="標楷體" pitchFamily="65" charset="-120"/>
              </a:rPr>
              <a:t>嵌⼊式热电偶</a:t>
            </a:r>
            <a:endParaRPr lang="en-US" altLang="zh-TW" sz="2400" dirty="0">
              <a:latin typeface="標楷體" pitchFamily="65" charset="-120"/>
              <a:ea typeface="標楷體" pitchFamily="65" charset="-120"/>
            </a:endParaRPr>
          </a:p>
          <a:p>
            <a:r>
              <a:rPr lang="en-US" altLang="zh-CN" sz="2400" dirty="0">
                <a:latin typeface="標楷體" pitchFamily="65" charset="-120"/>
                <a:ea typeface="標楷體" pitchFamily="65" charset="-120"/>
              </a:rPr>
              <a:t>f.</a:t>
            </a:r>
            <a:r>
              <a:rPr lang="zh-TW" altLang="en-US" sz="2400" dirty="0">
                <a:latin typeface="標楷體" pitchFamily="65" charset="-120"/>
                <a:ea typeface="標楷體" pitchFamily="65" charset="-120"/>
              </a:rPr>
              <a:t>机械附着</a:t>
            </a:r>
            <a:endParaRPr lang="en-US" altLang="zh-CN" sz="2400" dirty="0">
              <a:latin typeface="標楷體" pitchFamily="65" charset="-120"/>
              <a:ea typeface="標楷體" pitchFamily="65" charset="-120"/>
            </a:endParaRPr>
          </a:p>
          <a:p>
            <a:endParaRPr lang="en-US" altLang="zh-TW" sz="2400" dirty="0">
              <a:latin typeface="標楷體" pitchFamily="65" charset="-120"/>
              <a:ea typeface="標楷體" pitchFamily="65" charset="-120"/>
            </a:endParaRPr>
          </a:p>
          <a:p>
            <a:endParaRPr lang="en-US" altLang="zh-TW" sz="2400" dirty="0">
              <a:latin typeface="標楷體" pitchFamily="65" charset="-120"/>
              <a:ea typeface="標楷體" pitchFamily="65" charset="-120"/>
            </a:endParaRPr>
          </a:p>
          <a:p>
            <a:endParaRPr lang="en-US" altLang="zh-TW" sz="2400" dirty="0">
              <a:latin typeface="標楷體" pitchFamily="65" charset="-120"/>
              <a:ea typeface="標楷體" pitchFamily="65" charset="-120"/>
            </a:endParaRPr>
          </a:p>
          <a:p>
            <a:endParaRPr lang="en-US" altLang="zh-TW" sz="2400" dirty="0">
              <a:latin typeface="標楷體" pitchFamily="65" charset="-120"/>
              <a:ea typeface="標楷體" pitchFamily="65" charset="-120"/>
            </a:endParaRPr>
          </a:p>
          <a:p>
            <a:endParaRPr lang="en-US" altLang="zh-TW" sz="2400" dirty="0">
              <a:latin typeface="標楷體" pitchFamily="65" charset="-120"/>
              <a:ea typeface="標楷體" pitchFamily="65" charset="-120"/>
            </a:endParaRPr>
          </a:p>
          <a:p>
            <a:endParaRPr lang="en-US" altLang="zh-TW" sz="2400" dirty="0">
              <a:latin typeface="標楷體" pitchFamily="65" charset="-120"/>
              <a:ea typeface="標楷體" pitchFamily="65" charset="-120"/>
            </a:endParaRPr>
          </a:p>
          <a:p>
            <a:endParaRPr lang="en-US" altLang="zh-TW" sz="2400" dirty="0">
              <a:latin typeface="標楷體" pitchFamily="65" charset="-120"/>
              <a:ea typeface="標楷體" pitchFamily="65" charset="-120"/>
            </a:endParaRPr>
          </a:p>
          <a:p>
            <a:endParaRPr lang="en-US" altLang="zh-TW" sz="2400" dirty="0">
              <a:latin typeface="標楷體" pitchFamily="65" charset="-120"/>
              <a:ea typeface="標楷體" pitchFamily="65" charset="-120"/>
            </a:endParaRPr>
          </a:p>
          <a:p>
            <a:endParaRPr lang="en-US" altLang="zh-TW" sz="2400" dirty="0">
              <a:latin typeface="標楷體" pitchFamily="65" charset="-120"/>
              <a:ea typeface="標楷體" pitchFamily="65" charset="-120"/>
            </a:endParaRPr>
          </a:p>
          <a:p>
            <a:endParaRPr lang="en-US" altLang="zh-TW" sz="2400" dirty="0">
              <a:latin typeface="標楷體" pitchFamily="65" charset="-120"/>
              <a:ea typeface="標楷體" pitchFamily="65" charset="-120"/>
            </a:endParaRPr>
          </a:p>
        </p:txBody>
      </p:sp>
      <p:grpSp>
        <p:nvGrpSpPr>
          <p:cNvPr id="13" name="群組 12"/>
          <p:cNvGrpSpPr/>
          <p:nvPr/>
        </p:nvGrpSpPr>
        <p:grpSpPr>
          <a:xfrm>
            <a:off x="4214810" y="3571876"/>
            <a:ext cx="4707254" cy="2928958"/>
            <a:chOff x="4214810" y="3571876"/>
            <a:chExt cx="4707254" cy="2928958"/>
          </a:xfrm>
        </p:grpSpPr>
        <p:pic>
          <p:nvPicPr>
            <p:cNvPr id="4100" name="Picture 4"/>
            <p:cNvPicPr>
              <a:picLocks noChangeAspect="1" noChangeArrowheads="1"/>
            </p:cNvPicPr>
            <p:nvPr/>
          </p:nvPicPr>
          <p:blipFill>
            <a:blip r:embed="rId2"/>
            <a:srcRect l="64063" t="37500" r="12499" b="39167"/>
            <a:stretch>
              <a:fillRect/>
            </a:stretch>
          </p:blipFill>
          <p:spPr bwMode="auto">
            <a:xfrm>
              <a:off x="4214810" y="3571876"/>
              <a:ext cx="4707254" cy="2928958"/>
            </a:xfrm>
            <a:prstGeom prst="rect">
              <a:avLst/>
            </a:prstGeom>
            <a:noFill/>
            <a:ln w="9525">
              <a:noFill/>
              <a:miter lim="800000"/>
              <a:headEnd/>
              <a:tailEnd/>
            </a:ln>
            <a:effectLst/>
          </p:spPr>
        </p:pic>
        <p:sp>
          <p:nvSpPr>
            <p:cNvPr id="12" name="矩形 11"/>
            <p:cNvSpPr/>
            <p:nvPr/>
          </p:nvSpPr>
          <p:spPr>
            <a:xfrm>
              <a:off x="4286248" y="6143644"/>
              <a:ext cx="571504" cy="28575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4" name="矩形 13"/>
          <p:cNvSpPr/>
          <p:nvPr/>
        </p:nvSpPr>
        <p:spPr>
          <a:xfrm>
            <a:off x="4857752" y="3071810"/>
            <a:ext cx="3786214" cy="571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rPr>
              <a:t>常用方法：胶带法</a:t>
            </a:r>
            <a:endParaRPr lang="zh-TW" altLang="en-US" dirty="0">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1"/>
          <p:cNvSpPr txBox="1">
            <a:spLocks/>
          </p:cNvSpPr>
          <p:nvPr/>
        </p:nvSpPr>
        <p:spPr>
          <a:xfrm>
            <a:off x="928662" y="0"/>
            <a:ext cx="8072494" cy="1143000"/>
          </a:xfrm>
          <a:prstGeom prst="rect">
            <a:avLst/>
          </a:prstGeom>
        </p:spPr>
        <p:txBody>
          <a:bodyPr anchor="ctr">
            <a:noAutofit/>
          </a:bodyPr>
          <a:lstStyle/>
          <a:p>
            <a:pPr lvl="0">
              <a:spcBef>
                <a:spcPct val="0"/>
              </a:spcBef>
            </a:pPr>
            <a:r>
              <a:rPr lang="zh-CN" altLang="en-US" sz="3200" dirty="0">
                <a:effectLst>
                  <a:outerShdw blurRad="50000" dist="30000" dir="5400000" algn="tl" rotWithShape="0">
                    <a:srgbClr val="000000">
                      <a:alpha val="30000"/>
                    </a:srgbClr>
                  </a:outerShdw>
                </a:effectLst>
                <a:latin typeface="標楷體" pitchFamily="65" charset="-120"/>
                <a:ea typeface="標楷體" pitchFamily="65" charset="-120"/>
                <a:cs typeface="+mj-cs"/>
              </a:rPr>
              <a:t>三</a:t>
            </a:r>
            <a:r>
              <a:rPr kumimoji="0" lang="en-US" altLang="zh-TW" sz="3200" b="0" i="0" u="none" strike="noStrike" kern="1200" cap="none" spc="0" normalizeH="0" baseline="0" noProof="0" dirty="0">
                <a:ln>
                  <a:noFill/>
                </a:ln>
                <a:solidFill>
                  <a:schemeClr val="tx1"/>
                </a:solidFill>
                <a:effectLst>
                  <a:outerShdw blurRad="50000" dist="30000" dir="5400000" algn="tl" rotWithShape="0">
                    <a:srgbClr val="000000">
                      <a:alpha val="30000"/>
                    </a:srgbClr>
                  </a:outerShdw>
                </a:effectLst>
                <a:uLnTx/>
                <a:uFillTx/>
                <a:latin typeface="標楷體" pitchFamily="65" charset="-120"/>
                <a:ea typeface="標楷體" pitchFamily="65" charset="-120"/>
                <a:cs typeface="+mj-cs"/>
              </a:rPr>
              <a:t>.</a:t>
            </a:r>
            <a:r>
              <a:rPr lang="zh-TW" altLang="en-US" sz="3200" dirty="0">
                <a:latin typeface="標楷體" pitchFamily="65" charset="-120"/>
                <a:ea typeface="標楷體" pitchFamily="65" charset="-120"/>
              </a:rPr>
              <a:t>电子组件</a:t>
            </a:r>
            <a:r>
              <a:rPr lang="zh-CN" altLang="en-US" sz="3200" dirty="0">
                <a:latin typeface="標楷體" pitchFamily="65" charset="-120"/>
                <a:ea typeface="標楷體" pitchFamily="65" charset="-120"/>
              </a:rPr>
              <a:t>焊接</a:t>
            </a:r>
            <a:r>
              <a:rPr lang="zh-TW" altLang="en-US" sz="3200" dirty="0">
                <a:latin typeface="標楷體" pitchFamily="65" charset="-120"/>
                <a:ea typeface="標楷體" pitchFamily="65" charset="-120"/>
              </a:rPr>
              <a:t>图片说明</a:t>
            </a:r>
            <a:r>
              <a:rPr lang="zh-CN" altLang="en-US" sz="3200" dirty="0">
                <a:latin typeface="標楷體" pitchFamily="65" charset="-120"/>
                <a:ea typeface="標楷體" pitchFamily="65" charset="-120"/>
              </a:rPr>
              <a:t>与</a:t>
            </a:r>
            <a:r>
              <a:rPr lang="zh-TW" altLang="en-US" sz="3200" dirty="0">
                <a:latin typeface="標楷體" pitchFamily="65" charset="-120"/>
                <a:ea typeface="標楷體" pitchFamily="65" charset="-120"/>
              </a:rPr>
              <a:t>可接受标准</a:t>
            </a:r>
            <a:endParaRPr lang="en-US" altLang="zh-TW" sz="3200" dirty="0">
              <a:latin typeface="標楷體" pitchFamily="65" charset="-120"/>
              <a:ea typeface="標楷體" pitchFamily="65" charset="-120"/>
            </a:endParaRPr>
          </a:p>
          <a:p>
            <a:pPr lvl="0">
              <a:spcBef>
                <a:spcPct val="0"/>
              </a:spcBef>
            </a:pPr>
            <a:r>
              <a:rPr lang="en-US" altLang="zh-TW" sz="3200" dirty="0">
                <a:effectLst>
                  <a:outerShdw blurRad="50000" dist="30000" dir="5400000" algn="tl" rotWithShape="0">
                    <a:srgbClr val="000000">
                      <a:alpha val="30000"/>
                    </a:srgbClr>
                  </a:outerShdw>
                </a:effectLst>
                <a:latin typeface="標楷體" pitchFamily="65" charset="-120"/>
                <a:ea typeface="標楷體" pitchFamily="65" charset="-120"/>
                <a:cs typeface="+mj-cs"/>
              </a:rPr>
              <a:t>   </a:t>
            </a:r>
            <a:r>
              <a:rPr lang="zh-CN" altLang="en-US" sz="3200" dirty="0">
                <a:effectLst>
                  <a:outerShdw blurRad="50000" dist="30000" dir="5400000" algn="tl" rotWithShape="0">
                    <a:srgbClr val="000000">
                      <a:alpha val="30000"/>
                    </a:srgbClr>
                  </a:outerShdw>
                </a:effectLst>
                <a:latin typeface="標楷體" pitchFamily="65" charset="-120"/>
                <a:ea typeface="標楷體" pitchFamily="65" charset="-120"/>
                <a:cs typeface="+mj-cs"/>
              </a:rPr>
              <a:t>（内容引自</a:t>
            </a:r>
            <a:r>
              <a:rPr lang="en-US" sz="3200" dirty="0">
                <a:latin typeface="標楷體" pitchFamily="65" charset="-120"/>
                <a:ea typeface="標楷體" pitchFamily="65" charset="-120"/>
              </a:rPr>
              <a:t>IPC-A-610</a:t>
            </a:r>
            <a:r>
              <a:rPr lang="zh-CN" altLang="en-US" sz="3200" dirty="0">
                <a:latin typeface="標楷體" pitchFamily="65" charset="-120"/>
                <a:ea typeface="標楷體" pitchFamily="65" charset="-120"/>
              </a:rPr>
              <a:t>）</a:t>
            </a:r>
            <a:endParaRPr lang="zh-TW" altLang="en-US" sz="3200" dirty="0">
              <a:effectLst>
                <a:outerShdw blurRad="50000" dist="30000" dir="5400000" algn="tl" rotWithShape="0">
                  <a:srgbClr val="000000">
                    <a:alpha val="30000"/>
                  </a:srgbClr>
                </a:outerShdw>
              </a:effectLst>
              <a:latin typeface="標楷體" pitchFamily="65" charset="-120"/>
              <a:ea typeface="標楷體" pitchFamily="65" charset="-120"/>
              <a:cs typeface="+mj-cs"/>
            </a:endParaRPr>
          </a:p>
        </p:txBody>
      </p:sp>
      <p:sp>
        <p:nvSpPr>
          <p:cNvPr id="9" name="矩形 8"/>
          <p:cNvSpPr/>
          <p:nvPr/>
        </p:nvSpPr>
        <p:spPr>
          <a:xfrm>
            <a:off x="1000100" y="1214422"/>
            <a:ext cx="6786610" cy="2062103"/>
          </a:xfrm>
          <a:prstGeom prst="rect">
            <a:avLst/>
          </a:prstGeom>
        </p:spPr>
        <p:txBody>
          <a:bodyPr wrap="square">
            <a:spAutoFit/>
          </a:bodyPr>
          <a:lstStyle/>
          <a:p>
            <a:r>
              <a:rPr lang="en-US" altLang="zh-TW" sz="2800" dirty="0">
                <a:latin typeface="標楷體" pitchFamily="65" charset="-120"/>
                <a:ea typeface="標楷體" pitchFamily="65" charset="-120"/>
              </a:rPr>
              <a:t>1</a:t>
            </a:r>
            <a:r>
              <a:rPr lang="en-US" altLang="zh-CN" sz="2800" dirty="0">
                <a:latin typeface="標楷體" pitchFamily="65" charset="-120"/>
                <a:ea typeface="標楷體" pitchFamily="65" charset="-120"/>
              </a:rPr>
              <a:t>.</a:t>
            </a:r>
            <a:r>
              <a:rPr lang="zh-TW" altLang="en-US" sz="2800" dirty="0">
                <a:latin typeface="標楷體" pitchFamily="65" charset="-120"/>
                <a:ea typeface="標楷體" pitchFamily="65" charset="-120"/>
              </a:rPr>
              <a:t>焊接可接受性要求</a:t>
            </a:r>
            <a:endParaRPr lang="en-US" altLang="zh-TW" sz="2800" dirty="0">
              <a:latin typeface="標楷體" pitchFamily="65" charset="-120"/>
              <a:ea typeface="標楷體" pitchFamily="65" charset="-120"/>
            </a:endParaRPr>
          </a:p>
          <a:p>
            <a:r>
              <a:rPr lang="zh-CN" altLang="en-US" dirty="0">
                <a:latin typeface="標楷體" pitchFamily="65" charset="-120"/>
                <a:ea typeface="標楷體" pitchFamily="65" charset="-120"/>
              </a:rPr>
              <a:t> </a:t>
            </a:r>
            <a:r>
              <a:rPr lang="en-US" altLang="zh-CN" dirty="0">
                <a:latin typeface="標楷體" pitchFamily="65" charset="-120"/>
                <a:ea typeface="標楷體" pitchFamily="65" charset="-120"/>
              </a:rPr>
              <a:t>•</a:t>
            </a:r>
            <a:r>
              <a:rPr lang="zh-CN" altLang="en-US" dirty="0">
                <a:latin typeface="標楷體" pitchFamily="65" charset="-120"/>
                <a:ea typeface="標楷體" pitchFamily="65" charset="-120"/>
              </a:rPr>
              <a:t>焊点表层总体呈现光滑和与焊接部件有良好润湿。</a:t>
            </a:r>
            <a:r>
              <a:rPr lang="en-US" dirty="0">
                <a:latin typeface="標楷體" pitchFamily="65" charset="-120"/>
                <a:ea typeface="標楷體" pitchFamily="65" charset="-120"/>
              </a:rPr>
              <a:t> </a:t>
            </a:r>
            <a:endParaRPr lang="zh-TW" altLang="en-US" dirty="0">
              <a:latin typeface="標楷體" pitchFamily="65" charset="-120"/>
              <a:ea typeface="標楷體" pitchFamily="65" charset="-120"/>
            </a:endParaRPr>
          </a:p>
          <a:p>
            <a:r>
              <a:rPr lang="en-US" altLang="zh-CN" dirty="0">
                <a:latin typeface="標楷體" pitchFamily="65" charset="-120"/>
                <a:ea typeface="標楷體" pitchFamily="65" charset="-120"/>
              </a:rPr>
              <a:t>•</a:t>
            </a:r>
            <a:r>
              <a:rPr lang="zh-CN" altLang="en-US" dirty="0">
                <a:latin typeface="標楷體" pitchFamily="65" charset="-120"/>
                <a:ea typeface="標楷體" pitchFamily="65" charset="-120"/>
              </a:rPr>
              <a:t>引脚的轮廓容易分辨。</a:t>
            </a:r>
            <a:r>
              <a:rPr lang="en-US" dirty="0">
                <a:latin typeface="標楷體" pitchFamily="65" charset="-120"/>
                <a:ea typeface="標楷體" pitchFamily="65" charset="-120"/>
              </a:rPr>
              <a:t> </a:t>
            </a:r>
            <a:endParaRPr lang="zh-TW" altLang="en-US" dirty="0">
              <a:latin typeface="標楷體" pitchFamily="65" charset="-120"/>
              <a:ea typeface="標楷體" pitchFamily="65" charset="-120"/>
            </a:endParaRPr>
          </a:p>
          <a:p>
            <a:r>
              <a:rPr lang="en-US" altLang="zh-CN" dirty="0">
                <a:latin typeface="標楷體" pitchFamily="65" charset="-120"/>
                <a:ea typeface="標楷體" pitchFamily="65" charset="-120"/>
              </a:rPr>
              <a:t>•</a:t>
            </a:r>
            <a:r>
              <a:rPr lang="zh-CN" altLang="en-US" dirty="0">
                <a:latin typeface="標楷體" pitchFamily="65" charset="-120"/>
                <a:ea typeface="標楷體" pitchFamily="65" charset="-120"/>
              </a:rPr>
              <a:t>焊接部件的焊点有顺畅连接的边缘。</a:t>
            </a:r>
            <a:r>
              <a:rPr lang="en-US" dirty="0">
                <a:latin typeface="標楷體" pitchFamily="65" charset="-120"/>
                <a:ea typeface="標楷體" pitchFamily="65" charset="-120"/>
              </a:rPr>
              <a:t> </a:t>
            </a:r>
            <a:endParaRPr lang="zh-TW" altLang="en-US" dirty="0">
              <a:latin typeface="標楷體" pitchFamily="65" charset="-120"/>
              <a:ea typeface="標楷體" pitchFamily="65" charset="-120"/>
            </a:endParaRPr>
          </a:p>
          <a:p>
            <a:r>
              <a:rPr lang="en-US" altLang="zh-CN" dirty="0">
                <a:latin typeface="標楷體" pitchFamily="65" charset="-120"/>
                <a:ea typeface="標楷體" pitchFamily="65" charset="-120"/>
              </a:rPr>
              <a:t>•</a:t>
            </a:r>
            <a:r>
              <a:rPr lang="zh-CN" altLang="en-US" dirty="0">
                <a:latin typeface="標楷體" pitchFamily="65" charset="-120"/>
                <a:ea typeface="標楷體" pitchFamily="65" charset="-120"/>
              </a:rPr>
              <a:t>表层形状呈凹面状。</a:t>
            </a:r>
            <a:endParaRPr lang="zh-TW" altLang="en-US" dirty="0">
              <a:latin typeface="標楷體" pitchFamily="65" charset="-120"/>
              <a:ea typeface="標楷體" pitchFamily="65" charset="-120"/>
            </a:endParaRPr>
          </a:p>
          <a:p>
            <a:endParaRPr lang="zh-TW" altLang="en-US" sz="2800" dirty="0">
              <a:latin typeface="標楷體" pitchFamily="65" charset="-120"/>
              <a:ea typeface="標楷體" pitchFamily="65" charset="-120"/>
            </a:endParaRPr>
          </a:p>
        </p:txBody>
      </p:sp>
      <p:pic>
        <p:nvPicPr>
          <p:cNvPr id="3076" name="Picture 4"/>
          <p:cNvPicPr>
            <a:picLocks noChangeAspect="1" noChangeArrowheads="1"/>
          </p:cNvPicPr>
          <p:nvPr/>
        </p:nvPicPr>
        <p:blipFill>
          <a:blip r:embed="rId2"/>
          <a:srcRect/>
          <a:stretch>
            <a:fillRect/>
          </a:stretch>
        </p:blipFill>
        <p:spPr bwMode="auto">
          <a:xfrm>
            <a:off x="1000100" y="3000372"/>
            <a:ext cx="1611587" cy="1214446"/>
          </a:xfrm>
          <a:prstGeom prst="rect">
            <a:avLst/>
          </a:prstGeom>
          <a:noFill/>
          <a:ln w="9525">
            <a:noFill/>
            <a:miter lim="800000"/>
            <a:headEnd/>
            <a:tailEnd/>
          </a:ln>
        </p:spPr>
      </p:pic>
      <p:pic>
        <p:nvPicPr>
          <p:cNvPr id="3077" name="Picture 5"/>
          <p:cNvPicPr>
            <a:picLocks noChangeAspect="1" noChangeArrowheads="1"/>
          </p:cNvPicPr>
          <p:nvPr/>
        </p:nvPicPr>
        <p:blipFill>
          <a:blip r:embed="rId3"/>
          <a:srcRect/>
          <a:stretch>
            <a:fillRect/>
          </a:stretch>
        </p:blipFill>
        <p:spPr bwMode="auto">
          <a:xfrm>
            <a:off x="2714612" y="2928934"/>
            <a:ext cx="1714512" cy="1298131"/>
          </a:xfrm>
          <a:prstGeom prst="rect">
            <a:avLst/>
          </a:prstGeom>
          <a:noFill/>
          <a:ln w="9525">
            <a:noFill/>
            <a:miter lim="800000"/>
            <a:headEnd/>
            <a:tailEnd/>
          </a:ln>
        </p:spPr>
      </p:pic>
      <p:pic>
        <p:nvPicPr>
          <p:cNvPr id="3078" name="Picture 6"/>
          <p:cNvPicPr>
            <a:picLocks noChangeAspect="1" noChangeArrowheads="1"/>
          </p:cNvPicPr>
          <p:nvPr/>
        </p:nvPicPr>
        <p:blipFill>
          <a:blip r:embed="rId4"/>
          <a:srcRect/>
          <a:stretch>
            <a:fillRect/>
          </a:stretch>
        </p:blipFill>
        <p:spPr bwMode="auto">
          <a:xfrm>
            <a:off x="4572000" y="2928934"/>
            <a:ext cx="1785950" cy="1345841"/>
          </a:xfrm>
          <a:prstGeom prst="rect">
            <a:avLst/>
          </a:prstGeom>
          <a:noFill/>
          <a:ln w="9525">
            <a:noFill/>
            <a:miter lim="800000"/>
            <a:headEnd/>
            <a:tailEnd/>
          </a:ln>
        </p:spPr>
      </p:pic>
      <p:pic>
        <p:nvPicPr>
          <p:cNvPr id="3081" name="Picture 9"/>
          <p:cNvPicPr>
            <a:picLocks noChangeAspect="1" noChangeArrowheads="1"/>
          </p:cNvPicPr>
          <p:nvPr/>
        </p:nvPicPr>
        <p:blipFill>
          <a:blip r:embed="rId5"/>
          <a:srcRect/>
          <a:stretch>
            <a:fillRect/>
          </a:stretch>
        </p:blipFill>
        <p:spPr bwMode="auto">
          <a:xfrm>
            <a:off x="6715140" y="2928934"/>
            <a:ext cx="1785950" cy="1345840"/>
          </a:xfrm>
          <a:prstGeom prst="rect">
            <a:avLst/>
          </a:prstGeom>
          <a:noFill/>
          <a:ln w="9525">
            <a:noFill/>
            <a:miter lim="800000"/>
            <a:headEnd/>
            <a:tailEnd/>
          </a:ln>
        </p:spPr>
      </p:pic>
      <p:pic>
        <p:nvPicPr>
          <p:cNvPr id="3082" name="Picture 10"/>
          <p:cNvPicPr>
            <a:picLocks noChangeAspect="1" noChangeArrowheads="1"/>
          </p:cNvPicPr>
          <p:nvPr/>
        </p:nvPicPr>
        <p:blipFill>
          <a:blip r:embed="rId6"/>
          <a:srcRect/>
          <a:stretch>
            <a:fillRect/>
          </a:stretch>
        </p:blipFill>
        <p:spPr bwMode="auto">
          <a:xfrm>
            <a:off x="6786578" y="4643446"/>
            <a:ext cx="1812453" cy="1365813"/>
          </a:xfrm>
          <a:prstGeom prst="rect">
            <a:avLst/>
          </a:prstGeom>
          <a:noFill/>
          <a:ln w="9525">
            <a:noFill/>
            <a:miter lim="800000"/>
            <a:headEnd/>
            <a:tailEnd/>
          </a:ln>
        </p:spPr>
      </p:pic>
      <p:pic>
        <p:nvPicPr>
          <p:cNvPr id="3083" name="Picture 11"/>
          <p:cNvPicPr>
            <a:picLocks noChangeAspect="1" noChangeArrowheads="1"/>
          </p:cNvPicPr>
          <p:nvPr/>
        </p:nvPicPr>
        <p:blipFill>
          <a:blip r:embed="rId7"/>
          <a:srcRect/>
          <a:stretch>
            <a:fillRect/>
          </a:stretch>
        </p:blipFill>
        <p:spPr bwMode="auto">
          <a:xfrm>
            <a:off x="1071537" y="4572008"/>
            <a:ext cx="1611587" cy="1214446"/>
          </a:xfrm>
          <a:prstGeom prst="rect">
            <a:avLst/>
          </a:prstGeom>
          <a:noFill/>
          <a:ln w="9525">
            <a:noFill/>
            <a:miter lim="800000"/>
            <a:headEnd/>
            <a:tailEnd/>
          </a:ln>
        </p:spPr>
      </p:pic>
      <p:pic>
        <p:nvPicPr>
          <p:cNvPr id="3084" name="Picture 12"/>
          <p:cNvPicPr>
            <a:picLocks noChangeAspect="1" noChangeArrowheads="1"/>
          </p:cNvPicPr>
          <p:nvPr/>
        </p:nvPicPr>
        <p:blipFill>
          <a:blip r:embed="rId8"/>
          <a:srcRect/>
          <a:stretch>
            <a:fillRect/>
          </a:stretch>
        </p:blipFill>
        <p:spPr bwMode="auto">
          <a:xfrm>
            <a:off x="2786050" y="4572008"/>
            <a:ext cx="1643074" cy="1244042"/>
          </a:xfrm>
          <a:prstGeom prst="rect">
            <a:avLst/>
          </a:prstGeom>
          <a:noFill/>
          <a:ln w="9525">
            <a:noFill/>
            <a:miter lim="800000"/>
            <a:headEnd/>
            <a:tailEnd/>
          </a:ln>
        </p:spPr>
      </p:pic>
      <p:pic>
        <p:nvPicPr>
          <p:cNvPr id="3086" name="Picture 14"/>
          <p:cNvPicPr>
            <a:picLocks noChangeAspect="1" noChangeArrowheads="1"/>
          </p:cNvPicPr>
          <p:nvPr/>
        </p:nvPicPr>
        <p:blipFill>
          <a:blip r:embed="rId9"/>
          <a:srcRect/>
          <a:stretch>
            <a:fillRect/>
          </a:stretch>
        </p:blipFill>
        <p:spPr bwMode="auto">
          <a:xfrm>
            <a:off x="4643437" y="4572008"/>
            <a:ext cx="1801185" cy="1357322"/>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00100" y="500042"/>
            <a:ext cx="6786610" cy="800219"/>
          </a:xfrm>
          <a:prstGeom prst="rect">
            <a:avLst/>
          </a:prstGeom>
        </p:spPr>
        <p:txBody>
          <a:bodyPr wrap="square">
            <a:spAutoFit/>
          </a:bodyPr>
          <a:lstStyle/>
          <a:p>
            <a:r>
              <a:rPr lang="en-US" altLang="zh-TW" sz="2800" dirty="0">
                <a:latin typeface="標楷體" pitchFamily="65" charset="-120"/>
                <a:ea typeface="標楷體" pitchFamily="65" charset="-120"/>
              </a:rPr>
              <a:t>1</a:t>
            </a:r>
            <a:r>
              <a:rPr lang="en-US" altLang="zh-CN" sz="2800" dirty="0">
                <a:latin typeface="標楷體" pitchFamily="65" charset="-120"/>
                <a:ea typeface="標楷體" pitchFamily="65" charset="-120"/>
              </a:rPr>
              <a:t>.</a:t>
            </a:r>
            <a:r>
              <a:rPr lang="zh-TW" altLang="en-US" sz="2800" dirty="0">
                <a:latin typeface="標楷體" pitchFamily="65" charset="-120"/>
                <a:ea typeface="標楷體" pitchFamily="65" charset="-120"/>
              </a:rPr>
              <a:t>焊接可接受性要求</a:t>
            </a:r>
            <a:endParaRPr lang="en-US" altLang="zh-TW" sz="2800" dirty="0">
              <a:latin typeface="標楷體" pitchFamily="65" charset="-120"/>
              <a:ea typeface="標楷體" pitchFamily="65" charset="-120"/>
            </a:endParaRPr>
          </a:p>
          <a:p>
            <a:r>
              <a:rPr lang="zh-CN" altLang="en-US" dirty="0">
                <a:latin typeface="標楷體" pitchFamily="65" charset="-120"/>
                <a:ea typeface="標楷體" pitchFamily="65" charset="-120"/>
              </a:rPr>
              <a:t> </a:t>
            </a:r>
            <a:endParaRPr lang="zh-TW" altLang="en-US" sz="2800" dirty="0">
              <a:latin typeface="標楷體" pitchFamily="65" charset="-120"/>
              <a:ea typeface="標楷體" pitchFamily="65" charset="-120"/>
            </a:endParaRPr>
          </a:p>
        </p:txBody>
      </p:sp>
      <p:pic>
        <p:nvPicPr>
          <p:cNvPr id="5124" name="Picture 4"/>
          <p:cNvPicPr>
            <a:picLocks noChangeAspect="1" noChangeArrowheads="1"/>
          </p:cNvPicPr>
          <p:nvPr/>
        </p:nvPicPr>
        <p:blipFill>
          <a:blip r:embed="rId2"/>
          <a:srcRect/>
          <a:stretch>
            <a:fillRect/>
          </a:stretch>
        </p:blipFill>
        <p:spPr bwMode="auto">
          <a:xfrm>
            <a:off x="3500430" y="1214422"/>
            <a:ext cx="2357454" cy="1417829"/>
          </a:xfrm>
          <a:prstGeom prst="rect">
            <a:avLst/>
          </a:prstGeom>
          <a:noFill/>
          <a:ln w="9525">
            <a:noFill/>
            <a:miter lim="800000"/>
            <a:headEnd/>
            <a:tailEnd/>
          </a:ln>
        </p:spPr>
      </p:pic>
      <p:pic>
        <p:nvPicPr>
          <p:cNvPr id="5125" name="Picture 5"/>
          <p:cNvPicPr>
            <a:picLocks noChangeAspect="1" noChangeArrowheads="1"/>
          </p:cNvPicPr>
          <p:nvPr/>
        </p:nvPicPr>
        <p:blipFill>
          <a:blip r:embed="rId3"/>
          <a:srcRect/>
          <a:stretch>
            <a:fillRect/>
          </a:stretch>
        </p:blipFill>
        <p:spPr bwMode="auto">
          <a:xfrm>
            <a:off x="1037698" y="1285860"/>
            <a:ext cx="2105542" cy="1285884"/>
          </a:xfrm>
          <a:prstGeom prst="rect">
            <a:avLst/>
          </a:prstGeom>
          <a:noFill/>
          <a:ln w="9525">
            <a:noFill/>
            <a:miter lim="800000"/>
            <a:headEnd/>
            <a:tailEnd/>
          </a:ln>
        </p:spPr>
      </p:pic>
      <p:pic>
        <p:nvPicPr>
          <p:cNvPr id="5127" name="Picture 7"/>
          <p:cNvPicPr>
            <a:picLocks noChangeAspect="1" noChangeArrowheads="1"/>
          </p:cNvPicPr>
          <p:nvPr/>
        </p:nvPicPr>
        <p:blipFill>
          <a:blip r:embed="rId4"/>
          <a:srcRect/>
          <a:stretch>
            <a:fillRect/>
          </a:stretch>
        </p:blipFill>
        <p:spPr bwMode="auto">
          <a:xfrm>
            <a:off x="1000100" y="2786058"/>
            <a:ext cx="2485536" cy="1500198"/>
          </a:xfrm>
          <a:prstGeom prst="rect">
            <a:avLst/>
          </a:prstGeom>
          <a:noFill/>
          <a:ln w="9525">
            <a:noFill/>
            <a:miter lim="800000"/>
            <a:headEnd/>
            <a:tailEnd/>
          </a:ln>
        </p:spPr>
      </p:pic>
      <p:graphicFrame>
        <p:nvGraphicFramePr>
          <p:cNvPr id="18" name="表格 17"/>
          <p:cNvGraphicFramePr>
            <a:graphicFrameLocks noGrp="1"/>
          </p:cNvGraphicFramePr>
          <p:nvPr/>
        </p:nvGraphicFramePr>
        <p:xfrm>
          <a:off x="2986087" y="3356610"/>
          <a:ext cx="3171825" cy="144780"/>
        </p:xfrm>
        <a:graphic>
          <a:graphicData uri="http://schemas.openxmlformats.org/drawingml/2006/table">
            <a:tbl>
              <a:tblPr/>
              <a:tblGrid>
                <a:gridCol w="3171825">
                  <a:extLst>
                    <a:ext uri="{9D8B030D-6E8A-4147-A177-3AD203B41FA5}">
                      <a16:colId xmlns:a16="http://schemas.microsoft.com/office/drawing/2014/main" val="20000"/>
                    </a:ext>
                  </a:extLst>
                </a:gridCol>
              </a:tblGrid>
              <a:tr h="0">
                <a:tc>
                  <a:txBody>
                    <a:bodyPr/>
                    <a:lstStyle/>
                    <a:p>
                      <a:pPr algn="l">
                        <a:spcAft>
                          <a:spcPts val="4200"/>
                        </a:spcAft>
                      </a:pPr>
                      <a:endParaRPr lang="en-US" sz="950" dirty="0">
                        <a:solidFill>
                          <a:srgbClr val="000000"/>
                        </a:solidFill>
                        <a:latin typeface="NSimSun"/>
                        <a:cs typeface="NSimSu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pic>
        <p:nvPicPr>
          <p:cNvPr id="5131" name="Picture 11"/>
          <p:cNvPicPr>
            <a:picLocks noChangeAspect="1" noChangeArrowheads="1"/>
          </p:cNvPicPr>
          <p:nvPr/>
        </p:nvPicPr>
        <p:blipFill>
          <a:blip r:embed="rId5"/>
          <a:srcRect/>
          <a:stretch>
            <a:fillRect/>
          </a:stretch>
        </p:blipFill>
        <p:spPr bwMode="auto">
          <a:xfrm>
            <a:off x="6215074" y="1142984"/>
            <a:ext cx="2667000" cy="1600200"/>
          </a:xfrm>
          <a:prstGeom prst="rect">
            <a:avLst/>
          </a:prstGeom>
          <a:noFill/>
          <a:ln w="9525">
            <a:noFill/>
            <a:miter lim="800000"/>
            <a:headEnd/>
            <a:tailEnd/>
          </a:ln>
        </p:spPr>
      </p:pic>
      <p:pic>
        <p:nvPicPr>
          <p:cNvPr id="23" name="Picture 2"/>
          <p:cNvPicPr>
            <a:picLocks noChangeAspect="1" noChangeArrowheads="1"/>
          </p:cNvPicPr>
          <p:nvPr/>
        </p:nvPicPr>
        <p:blipFill>
          <a:blip r:embed="rId6"/>
          <a:srcRect/>
          <a:stretch>
            <a:fillRect/>
          </a:stretch>
        </p:blipFill>
        <p:spPr bwMode="auto">
          <a:xfrm>
            <a:off x="3643307" y="2857497"/>
            <a:ext cx="1791506" cy="1428760"/>
          </a:xfrm>
          <a:prstGeom prst="rect">
            <a:avLst/>
          </a:prstGeom>
          <a:noFill/>
          <a:ln w="9525">
            <a:noFill/>
            <a:miter lim="800000"/>
            <a:headEnd/>
            <a:tailEnd/>
          </a:ln>
        </p:spPr>
      </p:pic>
      <p:pic>
        <p:nvPicPr>
          <p:cNvPr id="24" name="Picture 4"/>
          <p:cNvPicPr>
            <a:picLocks noChangeAspect="1" noChangeArrowheads="1"/>
          </p:cNvPicPr>
          <p:nvPr/>
        </p:nvPicPr>
        <p:blipFill>
          <a:blip r:embed="rId7"/>
          <a:srcRect/>
          <a:stretch>
            <a:fillRect/>
          </a:stretch>
        </p:blipFill>
        <p:spPr bwMode="auto">
          <a:xfrm>
            <a:off x="1142976" y="4714884"/>
            <a:ext cx="5278724" cy="1852629"/>
          </a:xfrm>
          <a:prstGeom prst="rect">
            <a:avLst/>
          </a:prstGeom>
          <a:noFill/>
          <a:ln w="9525">
            <a:noFill/>
            <a:miter lim="800000"/>
            <a:headEnd/>
            <a:tailEnd/>
          </a:ln>
        </p:spPr>
      </p:pic>
      <p:pic>
        <p:nvPicPr>
          <p:cNvPr id="25" name="Picture 6"/>
          <p:cNvPicPr>
            <a:picLocks noChangeAspect="1" noChangeArrowheads="1"/>
          </p:cNvPicPr>
          <p:nvPr/>
        </p:nvPicPr>
        <p:blipFill>
          <a:blip r:embed="rId8"/>
          <a:srcRect l="48037" t="6250"/>
          <a:stretch>
            <a:fillRect/>
          </a:stretch>
        </p:blipFill>
        <p:spPr bwMode="auto">
          <a:xfrm>
            <a:off x="6215074" y="2857496"/>
            <a:ext cx="2500304" cy="1500198"/>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00100" y="500042"/>
            <a:ext cx="6786610" cy="800219"/>
          </a:xfrm>
          <a:prstGeom prst="rect">
            <a:avLst/>
          </a:prstGeom>
        </p:spPr>
        <p:txBody>
          <a:bodyPr wrap="square">
            <a:spAutoFit/>
          </a:bodyPr>
          <a:lstStyle/>
          <a:p>
            <a:r>
              <a:rPr lang="en-US" altLang="zh-TW" sz="2800" dirty="0">
                <a:latin typeface="標楷體" pitchFamily="65" charset="-120"/>
                <a:ea typeface="標楷體" pitchFamily="65" charset="-120"/>
              </a:rPr>
              <a:t>1</a:t>
            </a:r>
            <a:r>
              <a:rPr lang="en-US" altLang="zh-CN" sz="2800" dirty="0">
                <a:latin typeface="標楷體" pitchFamily="65" charset="-120"/>
                <a:ea typeface="標楷體" pitchFamily="65" charset="-120"/>
              </a:rPr>
              <a:t>.</a:t>
            </a:r>
            <a:r>
              <a:rPr lang="zh-TW" altLang="en-US" sz="2800" dirty="0">
                <a:latin typeface="標楷體" pitchFamily="65" charset="-120"/>
                <a:ea typeface="標楷體" pitchFamily="65" charset="-120"/>
              </a:rPr>
              <a:t>焊接可接受性要求</a:t>
            </a:r>
            <a:endParaRPr lang="en-US" altLang="zh-TW" sz="2800" dirty="0">
              <a:latin typeface="標楷體" pitchFamily="65" charset="-120"/>
              <a:ea typeface="標楷體" pitchFamily="65" charset="-120"/>
            </a:endParaRPr>
          </a:p>
          <a:p>
            <a:r>
              <a:rPr lang="zh-CN" altLang="en-US" dirty="0">
                <a:latin typeface="標楷體" pitchFamily="65" charset="-120"/>
                <a:ea typeface="標楷體" pitchFamily="65" charset="-120"/>
              </a:rPr>
              <a:t> </a:t>
            </a:r>
            <a:endParaRPr lang="zh-TW" altLang="en-US" sz="2800" dirty="0">
              <a:latin typeface="標楷體" pitchFamily="65" charset="-120"/>
              <a:ea typeface="標楷體" pitchFamily="65" charset="-120"/>
            </a:endParaRPr>
          </a:p>
        </p:txBody>
      </p:sp>
      <p:graphicFrame>
        <p:nvGraphicFramePr>
          <p:cNvPr id="18" name="表格 17"/>
          <p:cNvGraphicFramePr>
            <a:graphicFrameLocks noGrp="1"/>
          </p:cNvGraphicFramePr>
          <p:nvPr/>
        </p:nvGraphicFramePr>
        <p:xfrm>
          <a:off x="2986087" y="3356610"/>
          <a:ext cx="3171825" cy="144780"/>
        </p:xfrm>
        <a:graphic>
          <a:graphicData uri="http://schemas.openxmlformats.org/drawingml/2006/table">
            <a:tbl>
              <a:tblPr/>
              <a:tblGrid>
                <a:gridCol w="3171825">
                  <a:extLst>
                    <a:ext uri="{9D8B030D-6E8A-4147-A177-3AD203B41FA5}">
                      <a16:colId xmlns:a16="http://schemas.microsoft.com/office/drawing/2014/main" val="20000"/>
                    </a:ext>
                  </a:extLst>
                </a:gridCol>
              </a:tblGrid>
              <a:tr h="0">
                <a:tc>
                  <a:txBody>
                    <a:bodyPr/>
                    <a:lstStyle/>
                    <a:p>
                      <a:pPr algn="l">
                        <a:spcAft>
                          <a:spcPts val="4200"/>
                        </a:spcAft>
                      </a:pPr>
                      <a:endParaRPr lang="en-US" sz="950" dirty="0">
                        <a:solidFill>
                          <a:srgbClr val="000000"/>
                        </a:solidFill>
                        <a:latin typeface="NSimSun"/>
                        <a:cs typeface="NSimSu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pic>
        <p:nvPicPr>
          <p:cNvPr id="5128" name="Picture 8"/>
          <p:cNvPicPr>
            <a:picLocks noChangeAspect="1" noChangeArrowheads="1"/>
          </p:cNvPicPr>
          <p:nvPr/>
        </p:nvPicPr>
        <p:blipFill>
          <a:blip r:embed="rId2"/>
          <a:srcRect/>
          <a:stretch>
            <a:fillRect/>
          </a:stretch>
        </p:blipFill>
        <p:spPr bwMode="auto">
          <a:xfrm>
            <a:off x="1142976" y="3000372"/>
            <a:ext cx="1877799" cy="1643074"/>
          </a:xfrm>
          <a:prstGeom prst="rect">
            <a:avLst/>
          </a:prstGeom>
          <a:noFill/>
        </p:spPr>
      </p:pic>
      <p:sp>
        <p:nvSpPr>
          <p:cNvPr id="5130" name="Rectangle 10"/>
          <p:cNvSpPr>
            <a:spLocks noChangeArrowheads="1"/>
          </p:cNvSpPr>
          <p:nvPr/>
        </p:nvSpPr>
        <p:spPr bwMode="auto">
          <a:xfrm>
            <a:off x="3571868" y="4786322"/>
            <a:ext cx="3929090"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sz="12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可接受 </a:t>
            </a:r>
            <a:r>
              <a:rPr kumimoji="1" lang="en-US" altLang="zh-CN" sz="12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a:t>
            </a:r>
            <a:r>
              <a:rPr kumimoji="1" lang="en-US" altLang="zh-CN" sz="1200" b="1" i="0" u="none" strike="noStrike" cap="none" normalizeH="0" baseline="0" dirty="0">
                <a:ln>
                  <a:noFill/>
                </a:ln>
                <a:solidFill>
                  <a:schemeClr val="tx1"/>
                </a:solidFill>
                <a:effectLst/>
                <a:latin typeface="標楷體" pitchFamily="65" charset="-120"/>
                <a:ea typeface="標楷體" pitchFamily="65" charset="-120"/>
                <a:cs typeface="Arial Narrow" pitchFamily="34" charset="0"/>
              </a:rPr>
              <a:t> 1</a:t>
            </a:r>
            <a:r>
              <a:rPr kumimoji="1" lang="zh-CN" altLang="en-US" sz="12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a:t>
            </a:r>
            <a:r>
              <a:rPr kumimoji="1" lang="en-US" altLang="zh-CN" sz="1200" b="1" i="0" u="none" strike="noStrike" cap="none" normalizeH="0" baseline="0" dirty="0">
                <a:ln>
                  <a:noFill/>
                </a:ln>
                <a:solidFill>
                  <a:schemeClr val="tx1"/>
                </a:solidFill>
                <a:effectLst/>
                <a:latin typeface="標楷體" pitchFamily="65" charset="-120"/>
                <a:ea typeface="標楷體" pitchFamily="65" charset="-120"/>
                <a:cs typeface="Arial Narrow" pitchFamily="34" charset="0"/>
              </a:rPr>
              <a:t>2</a:t>
            </a:r>
            <a:r>
              <a:rPr kumimoji="1" lang="zh-CN" altLang="en-US" sz="12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a:t>
            </a:r>
            <a:r>
              <a:rPr kumimoji="1" lang="en-US" altLang="zh-CN" sz="1200" b="1" i="0" u="none" strike="noStrike" cap="none" normalizeH="0" baseline="0" dirty="0">
                <a:ln>
                  <a:noFill/>
                </a:ln>
                <a:solidFill>
                  <a:schemeClr val="tx1"/>
                </a:solidFill>
                <a:effectLst/>
                <a:latin typeface="標楷體" pitchFamily="65" charset="-120"/>
                <a:ea typeface="標楷體" pitchFamily="65" charset="-120"/>
                <a:cs typeface="Arial Narrow" pitchFamily="34" charset="0"/>
              </a:rPr>
              <a:t>3</a:t>
            </a:r>
            <a:r>
              <a:rPr kumimoji="1" lang="zh-CN" altLang="en-US" sz="12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级 </a:t>
            </a:r>
            <a:endParaRPr kumimoji="1" lang="zh-TW" altLang="en-US" sz="1200" b="0" i="0" u="none" strike="noStrike" cap="none" normalizeH="0" baseline="0" dirty="0">
              <a:ln>
                <a:noFill/>
              </a:ln>
              <a:solidFill>
                <a:schemeClr val="tx1"/>
              </a:solidFill>
              <a:effectLst/>
              <a:latin typeface="標楷體" pitchFamily="65" charset="-120"/>
              <a:ea typeface="標楷體" pitchFamily="65" charset="-120"/>
              <a:cs typeface="新細明體" pitchFamily="18" charset="-12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a:t>
            </a:r>
            <a:r>
              <a:rPr kumimoji="1" lang="zh-CN" altLang="en-US" sz="12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底层金属暴露于： </a:t>
            </a:r>
            <a:endParaRPr kumimoji="1" lang="zh-TW" altLang="en-US" sz="1200" b="0" i="0" u="none" strike="noStrike" cap="none" normalizeH="0" baseline="0" dirty="0">
              <a:ln>
                <a:noFill/>
              </a:ln>
              <a:solidFill>
                <a:schemeClr val="tx1"/>
              </a:solidFill>
              <a:effectLst/>
              <a:latin typeface="標楷體" pitchFamily="65" charset="-120"/>
              <a:ea typeface="標楷體" pitchFamily="65" charset="-120"/>
              <a:cs typeface="新細明體" pitchFamily="18" charset="-12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a:t>
            </a:r>
            <a:r>
              <a:rPr kumimoji="1" lang="zh-CN" altLang="en-US" sz="12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导线直立的边缘。 </a:t>
            </a:r>
            <a:endParaRPr kumimoji="1" lang="zh-TW" altLang="en-US" sz="1200" b="0" i="0" u="none" strike="noStrike" cap="none" normalizeH="0" baseline="0" dirty="0">
              <a:ln>
                <a:noFill/>
              </a:ln>
              <a:solidFill>
                <a:schemeClr val="tx1"/>
              </a:solidFill>
              <a:effectLst/>
              <a:latin typeface="標楷體" pitchFamily="65" charset="-120"/>
              <a:ea typeface="標楷體" pitchFamily="65" charset="-120"/>
              <a:cs typeface="新細明體" pitchFamily="18" charset="-12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a:t>
            </a:r>
            <a:r>
              <a:rPr kumimoji="1" lang="zh-CN" altLang="en-US" sz="12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元器件引脚或电线的切口端。 </a:t>
            </a:r>
            <a:endParaRPr kumimoji="1" lang="zh-TW" altLang="en-US" sz="1200" b="0" i="0" u="none" strike="noStrike" cap="none" normalizeH="0" baseline="0" dirty="0">
              <a:ln>
                <a:noFill/>
              </a:ln>
              <a:solidFill>
                <a:schemeClr val="tx1"/>
              </a:solidFill>
              <a:effectLst/>
              <a:latin typeface="標楷體" pitchFamily="65" charset="-120"/>
              <a:ea typeface="標楷體" pitchFamily="65" charset="-120"/>
              <a:cs typeface="新細明體" pitchFamily="18" charset="-12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a:t>
            </a:r>
            <a:r>
              <a:rPr kumimoji="1" lang="zh-CN" altLang="en-US" sz="12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有机保护剂遮盖的焊盘。 </a:t>
            </a:r>
            <a:endParaRPr kumimoji="1" lang="zh-TW" altLang="en-US" sz="1200" b="0" i="0" u="none" strike="noStrike" cap="none" normalizeH="0" baseline="0" dirty="0">
              <a:ln>
                <a:noFill/>
              </a:ln>
              <a:solidFill>
                <a:schemeClr val="tx1"/>
              </a:solidFill>
              <a:effectLst/>
              <a:latin typeface="標楷體" pitchFamily="65" charset="-120"/>
              <a:ea typeface="標楷體" pitchFamily="65" charset="-120"/>
              <a:cs typeface="新細明體" pitchFamily="18" charset="-12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2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a:t>
            </a:r>
            <a:r>
              <a:rPr kumimoji="1" lang="zh-CN" altLang="en-US" sz="12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暴露的表面层不在规定的焊接区域内。</a:t>
            </a:r>
            <a:endParaRPr kumimoji="1" lang="zh-CN" altLang="en-US" sz="1200" b="0" i="0" u="none" strike="noStrike" cap="none" normalizeH="0" baseline="0" dirty="0">
              <a:ln>
                <a:noFill/>
              </a:ln>
              <a:solidFill>
                <a:schemeClr val="tx1"/>
              </a:solidFill>
              <a:effectLst/>
              <a:latin typeface="標楷體" pitchFamily="65" charset="-120"/>
              <a:ea typeface="標楷體" pitchFamily="65" charset="-120"/>
              <a:cs typeface="新細明體" pitchFamily="18" charset="-120"/>
            </a:endParaRPr>
          </a:p>
        </p:txBody>
      </p:sp>
      <p:pic>
        <p:nvPicPr>
          <p:cNvPr id="38914" name="Picture 2"/>
          <p:cNvPicPr>
            <a:picLocks noChangeAspect="1" noChangeArrowheads="1"/>
          </p:cNvPicPr>
          <p:nvPr/>
        </p:nvPicPr>
        <p:blipFill>
          <a:blip r:embed="rId3"/>
          <a:srcRect/>
          <a:stretch>
            <a:fillRect/>
          </a:stretch>
        </p:blipFill>
        <p:spPr bwMode="auto">
          <a:xfrm>
            <a:off x="1214414" y="4714884"/>
            <a:ext cx="1887041" cy="1428760"/>
          </a:xfrm>
          <a:prstGeom prst="rect">
            <a:avLst/>
          </a:prstGeom>
          <a:noFill/>
          <a:ln w="9525">
            <a:noFill/>
            <a:miter lim="800000"/>
            <a:headEnd/>
            <a:tailEnd/>
          </a:ln>
        </p:spPr>
      </p:pic>
      <p:pic>
        <p:nvPicPr>
          <p:cNvPr id="38915" name="Picture 3"/>
          <p:cNvPicPr>
            <a:picLocks noChangeAspect="1" noChangeArrowheads="1"/>
          </p:cNvPicPr>
          <p:nvPr/>
        </p:nvPicPr>
        <p:blipFill>
          <a:blip r:embed="rId4"/>
          <a:srcRect/>
          <a:stretch>
            <a:fillRect/>
          </a:stretch>
        </p:blipFill>
        <p:spPr bwMode="auto">
          <a:xfrm>
            <a:off x="3500430" y="3000372"/>
            <a:ext cx="1866913" cy="1500198"/>
          </a:xfrm>
          <a:prstGeom prst="rect">
            <a:avLst/>
          </a:prstGeom>
          <a:noFill/>
          <a:ln w="9525">
            <a:noFill/>
            <a:miter lim="800000"/>
            <a:headEnd/>
            <a:tailEnd/>
          </a:ln>
        </p:spPr>
      </p:pic>
      <p:sp>
        <p:nvSpPr>
          <p:cNvPr id="12" name="Rectangle 9"/>
          <p:cNvSpPr>
            <a:spLocks noChangeArrowheads="1"/>
          </p:cNvSpPr>
          <p:nvPr/>
        </p:nvSpPr>
        <p:spPr bwMode="auto">
          <a:xfrm>
            <a:off x="1285852" y="1214422"/>
            <a:ext cx="7858148" cy="181588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kumimoji="1" lang="zh-CN" sz="16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元件引脚、导线或焊盘表面因刮擦或划伤而引起的底层金属暴露情况不可违反</a:t>
            </a:r>
            <a:r>
              <a:rPr lang="en-US" sz="1600" dirty="0">
                <a:latin typeface="標楷體" pitchFamily="65" charset="-120"/>
                <a:ea typeface="標楷體" pitchFamily="65" charset="-120"/>
              </a:rPr>
              <a:t>IPC-A-610D</a:t>
            </a:r>
            <a:r>
              <a:rPr kumimoji="1" lang="zh-CN" sz="16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 </a:t>
            </a:r>
            <a:r>
              <a:rPr kumimoji="1" lang="en-US" altLang="zh-CN" sz="1600" b="0" i="0" u="none" strike="noStrike" cap="none" normalizeH="0" baseline="0" dirty="0">
                <a:ln>
                  <a:noFill/>
                </a:ln>
                <a:solidFill>
                  <a:schemeClr val="tx1"/>
                </a:solidFill>
                <a:effectLst/>
                <a:latin typeface="標楷體" pitchFamily="65" charset="-120"/>
                <a:ea typeface="標楷體" pitchFamily="65" charset="-120"/>
                <a:cs typeface="Arial Narrow" pitchFamily="34" charset="0"/>
              </a:rPr>
              <a:t>7.1.2.3</a:t>
            </a:r>
            <a:r>
              <a:rPr kumimoji="1" lang="zh-CN" altLang="en-US" sz="16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节对引脚的要求和 </a:t>
            </a:r>
            <a:r>
              <a:rPr kumimoji="1" lang="en-US" altLang="zh-CN" sz="1600" b="0" i="0" u="none" strike="noStrike" cap="none" normalizeH="0" baseline="0" dirty="0">
                <a:ln>
                  <a:noFill/>
                </a:ln>
                <a:solidFill>
                  <a:schemeClr val="tx1"/>
                </a:solidFill>
                <a:effectLst/>
                <a:latin typeface="標楷體" pitchFamily="65" charset="-120"/>
                <a:ea typeface="標楷體" pitchFamily="65" charset="-120"/>
                <a:cs typeface="Arial Narrow" pitchFamily="34" charset="0"/>
              </a:rPr>
              <a:t>10.2.9.1</a:t>
            </a:r>
            <a:r>
              <a:rPr kumimoji="1" lang="zh-CN" altLang="en-US" sz="16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节对导线和焊盘的要求。</a:t>
            </a:r>
            <a:endParaRPr kumimoji="1" lang="en-US" altLang="zh-CN" sz="1600" b="0" i="0" u="none" strike="noStrike" cap="none" normalizeH="0" baseline="0" dirty="0">
              <a:ln>
                <a:noFill/>
              </a:ln>
              <a:solidFill>
                <a:schemeClr val="tx1"/>
              </a:solidFill>
              <a:effectLst/>
              <a:latin typeface="標楷體" pitchFamily="65" charset="-120"/>
              <a:ea typeface="標楷體" pitchFamily="65" charset="-120"/>
              <a:cs typeface="NSimSun" pitchFamily="49"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依原始设计要求，元件引脚，焊盘、导线的边缘，及液体感光阻焊剂的应用可允许底层金属的暴露。有些印制电路板和导线的表面处理拥有特殊的润湿性能，</a:t>
            </a:r>
            <a:endParaRPr kumimoji="1" lang="en-US" altLang="zh-CN" sz="1600" b="0" i="0" u="none" strike="noStrike" cap="none" normalizeH="0" baseline="0" dirty="0">
              <a:ln>
                <a:noFill/>
              </a:ln>
              <a:solidFill>
                <a:schemeClr val="tx1"/>
              </a:solidFill>
              <a:effectLst/>
              <a:latin typeface="標楷體" pitchFamily="65" charset="-120"/>
              <a:ea typeface="標楷體" pitchFamily="65" charset="-120"/>
              <a:cs typeface="NSimSun" pitchFamily="49"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可能导致局部焊锡润湿。在这情况下，只要焊接的润湿程度是可接受的，底层金属或表面层的的暴露可算正常。</a:t>
            </a:r>
            <a:endParaRPr kumimoji="1" lang="zh-TW" altLang="en-US" sz="1600" b="0" i="0" u="none" strike="noStrike" cap="none" normalizeH="0" baseline="0" dirty="0">
              <a:ln>
                <a:noFill/>
              </a:ln>
              <a:solidFill>
                <a:schemeClr val="tx1"/>
              </a:solidFill>
              <a:effectLst/>
              <a:latin typeface="標楷體" pitchFamily="65" charset="-120"/>
              <a:ea typeface="標楷體" pitchFamily="65" charset="-120"/>
              <a:cs typeface="新細明體" pitchFamily="18" charset="-12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1" lang="zh-TW" altLang="en-US" sz="1600" b="0" i="0" u="none" strike="noStrike" cap="none" normalizeH="0" baseline="0" dirty="0">
              <a:ln>
                <a:noFill/>
              </a:ln>
              <a:solidFill>
                <a:schemeClr val="tx1"/>
              </a:solidFill>
              <a:effectLst/>
              <a:latin typeface="標楷體" pitchFamily="65" charset="-120"/>
              <a:ea typeface="標楷體" pitchFamily="65" charset="-120"/>
              <a:cs typeface="新細明體" pitchFamily="18" charset="-12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00100" y="500042"/>
            <a:ext cx="6786610" cy="800219"/>
          </a:xfrm>
          <a:prstGeom prst="rect">
            <a:avLst/>
          </a:prstGeom>
        </p:spPr>
        <p:txBody>
          <a:bodyPr wrap="square">
            <a:spAutoFit/>
          </a:bodyPr>
          <a:lstStyle/>
          <a:p>
            <a:r>
              <a:rPr lang="en-US" altLang="zh-TW" sz="2800" dirty="0">
                <a:latin typeface="標楷體" pitchFamily="65" charset="-120"/>
                <a:ea typeface="標楷體" pitchFamily="65" charset="-120"/>
              </a:rPr>
              <a:t>2</a:t>
            </a:r>
            <a:r>
              <a:rPr lang="en-US" altLang="zh-CN" sz="2800" dirty="0">
                <a:latin typeface="標楷體" pitchFamily="65" charset="-120"/>
                <a:ea typeface="標楷體" pitchFamily="65" charset="-120"/>
              </a:rPr>
              <a:t>.</a:t>
            </a:r>
            <a:r>
              <a:rPr lang="zh-CN" altLang="en-US" sz="2800" dirty="0"/>
              <a:t>焊接异状</a:t>
            </a:r>
            <a:r>
              <a:rPr lang="en-US" altLang="zh-CN" sz="2800" dirty="0">
                <a:latin typeface="標楷體" pitchFamily="65" charset="-120"/>
                <a:ea typeface="標楷體" pitchFamily="65" charset="-120"/>
              </a:rPr>
              <a:t>(</a:t>
            </a:r>
            <a:r>
              <a:rPr lang="zh-CN" altLang="en-US" sz="2800" dirty="0">
                <a:latin typeface="標楷體" pitchFamily="65" charset="-120"/>
                <a:ea typeface="標楷體" pitchFamily="65" charset="-120"/>
              </a:rPr>
              <a:t>不润湿</a:t>
            </a:r>
            <a:r>
              <a:rPr lang="en-US" altLang="zh-CN" sz="2800" dirty="0">
                <a:latin typeface="標楷體" pitchFamily="65" charset="-120"/>
                <a:ea typeface="標楷體" pitchFamily="65" charset="-120"/>
              </a:rPr>
              <a:t>)</a:t>
            </a:r>
            <a:endParaRPr lang="en-US" altLang="zh-TW" sz="2800" dirty="0">
              <a:latin typeface="標楷體" pitchFamily="65" charset="-120"/>
              <a:ea typeface="標楷體" pitchFamily="65" charset="-120"/>
            </a:endParaRPr>
          </a:p>
          <a:p>
            <a:r>
              <a:rPr lang="zh-CN" altLang="en-US" dirty="0">
                <a:latin typeface="標楷體" pitchFamily="65" charset="-120"/>
                <a:ea typeface="標楷體" pitchFamily="65" charset="-120"/>
              </a:rPr>
              <a:t> </a:t>
            </a:r>
            <a:endParaRPr lang="zh-TW" altLang="en-US" sz="2800" dirty="0">
              <a:latin typeface="標楷體" pitchFamily="65" charset="-120"/>
              <a:ea typeface="標楷體" pitchFamily="65" charset="-120"/>
            </a:endParaRPr>
          </a:p>
        </p:txBody>
      </p:sp>
      <p:graphicFrame>
        <p:nvGraphicFramePr>
          <p:cNvPr id="18" name="表格 17"/>
          <p:cNvGraphicFramePr>
            <a:graphicFrameLocks noGrp="1"/>
          </p:cNvGraphicFramePr>
          <p:nvPr/>
        </p:nvGraphicFramePr>
        <p:xfrm>
          <a:off x="4071934" y="4000504"/>
          <a:ext cx="4243395" cy="822960"/>
        </p:xfrm>
        <a:graphic>
          <a:graphicData uri="http://schemas.openxmlformats.org/drawingml/2006/table">
            <a:tbl>
              <a:tblPr/>
              <a:tblGrid>
                <a:gridCol w="4243395">
                  <a:extLst>
                    <a:ext uri="{9D8B030D-6E8A-4147-A177-3AD203B41FA5}">
                      <a16:colId xmlns:a16="http://schemas.microsoft.com/office/drawing/2014/main" val="20000"/>
                    </a:ext>
                  </a:extLst>
                </a:gridCol>
              </a:tblGrid>
              <a:tr h="0">
                <a:tc>
                  <a:txBody>
                    <a:bodyPr/>
                    <a:lstStyle/>
                    <a:p>
                      <a:r>
                        <a:rPr kumimoji="0" lang="zh-CN" altLang="en-US" sz="1800" kern="1200" dirty="0">
                          <a:solidFill>
                            <a:schemeClr val="tx1"/>
                          </a:solidFill>
                          <a:latin typeface="標楷體" pitchFamily="65" charset="-120"/>
                          <a:ea typeface="標楷體" pitchFamily="65" charset="-120"/>
                          <a:cs typeface="+mn-cs"/>
                        </a:rPr>
                        <a:t>需要焊接的引脚或焊盘不润湿。</a:t>
                      </a:r>
                      <a:r>
                        <a:rPr kumimoji="0" lang="en-US" sz="1800" kern="1200" dirty="0">
                          <a:solidFill>
                            <a:schemeClr val="tx1"/>
                          </a:solidFill>
                          <a:latin typeface="標楷體" pitchFamily="65" charset="-120"/>
                          <a:ea typeface="標楷體" pitchFamily="65" charset="-120"/>
                          <a:cs typeface="+mn-cs"/>
                        </a:rPr>
                        <a:t> </a:t>
                      </a:r>
                      <a:endParaRPr kumimoji="0" lang="zh-TW" altLang="en-US" sz="1800" kern="1200" dirty="0">
                        <a:solidFill>
                          <a:schemeClr val="tx1"/>
                        </a:solidFill>
                        <a:latin typeface="標楷體" pitchFamily="65" charset="-120"/>
                        <a:ea typeface="標楷體" pitchFamily="65" charset="-120"/>
                        <a:cs typeface="+mn-cs"/>
                      </a:endParaRPr>
                    </a:p>
                    <a:p>
                      <a:r>
                        <a:rPr kumimoji="0" lang="en-US" altLang="zh-CN" sz="1800" kern="1200" dirty="0">
                          <a:solidFill>
                            <a:schemeClr val="tx1"/>
                          </a:solidFill>
                          <a:latin typeface="標楷體" pitchFamily="65" charset="-120"/>
                          <a:ea typeface="標楷體" pitchFamily="65" charset="-120"/>
                          <a:cs typeface="+mn-cs"/>
                        </a:rPr>
                        <a:t>•</a:t>
                      </a:r>
                      <a:r>
                        <a:rPr kumimoji="0" lang="zh-CN" altLang="en-US" sz="1800" kern="1200" dirty="0">
                          <a:solidFill>
                            <a:schemeClr val="tx1"/>
                          </a:solidFill>
                          <a:latin typeface="標楷體" pitchFamily="65" charset="-120"/>
                          <a:ea typeface="標楷體" pitchFamily="65" charset="-120"/>
                          <a:cs typeface="+mn-cs"/>
                        </a:rPr>
                        <a:t>焊锡的覆盖率不满足个别种类可焊端的要求</a:t>
                      </a:r>
                      <a:endParaRPr lang="en-US" sz="1800" dirty="0">
                        <a:solidFill>
                          <a:srgbClr val="000000"/>
                        </a:solidFill>
                        <a:latin typeface="標楷體" pitchFamily="65" charset="-120"/>
                        <a:ea typeface="標楷體" pitchFamily="65" charset="-120"/>
                        <a:cs typeface="NSimSu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pic>
        <p:nvPicPr>
          <p:cNvPr id="1027" name="Picture 3"/>
          <p:cNvPicPr>
            <a:picLocks noChangeAspect="1" noChangeArrowheads="1"/>
          </p:cNvPicPr>
          <p:nvPr/>
        </p:nvPicPr>
        <p:blipFill>
          <a:blip r:embed="rId2"/>
          <a:srcRect/>
          <a:stretch>
            <a:fillRect/>
          </a:stretch>
        </p:blipFill>
        <p:spPr bwMode="auto">
          <a:xfrm>
            <a:off x="1071538" y="1785926"/>
            <a:ext cx="2643206" cy="1472643"/>
          </a:xfrm>
          <a:prstGeom prst="rect">
            <a:avLst/>
          </a:prstGeom>
          <a:noFill/>
          <a:ln w="9525">
            <a:noFill/>
            <a:miter lim="800000"/>
            <a:headEnd/>
            <a:tailEnd/>
          </a:ln>
        </p:spPr>
      </p:pic>
      <p:pic>
        <p:nvPicPr>
          <p:cNvPr id="1028" name="Picture 4"/>
          <p:cNvPicPr>
            <a:picLocks noChangeAspect="1" noChangeArrowheads="1"/>
          </p:cNvPicPr>
          <p:nvPr/>
        </p:nvPicPr>
        <p:blipFill>
          <a:blip r:embed="rId3"/>
          <a:srcRect l="19643" r="13392"/>
          <a:stretch>
            <a:fillRect/>
          </a:stretch>
        </p:blipFill>
        <p:spPr bwMode="auto">
          <a:xfrm>
            <a:off x="1142976" y="3929066"/>
            <a:ext cx="2678944" cy="1643074"/>
          </a:xfrm>
          <a:prstGeom prst="rect">
            <a:avLst/>
          </a:prstGeom>
          <a:noFill/>
          <a:ln w="9525">
            <a:noFill/>
            <a:miter lim="800000"/>
            <a:headEnd/>
            <a:tailEnd/>
          </a:ln>
        </p:spPr>
      </p:pic>
      <p:pic>
        <p:nvPicPr>
          <p:cNvPr id="1029" name="Picture 5"/>
          <p:cNvPicPr>
            <a:picLocks noChangeAspect="1" noChangeArrowheads="1"/>
          </p:cNvPicPr>
          <p:nvPr/>
        </p:nvPicPr>
        <p:blipFill>
          <a:blip r:embed="rId4"/>
          <a:srcRect/>
          <a:stretch>
            <a:fillRect/>
          </a:stretch>
        </p:blipFill>
        <p:spPr bwMode="auto">
          <a:xfrm>
            <a:off x="3786182" y="1714488"/>
            <a:ext cx="2428892" cy="1604804"/>
          </a:xfrm>
          <a:prstGeom prst="rect">
            <a:avLst/>
          </a:prstGeom>
          <a:noFill/>
          <a:ln w="9525">
            <a:noFill/>
            <a:miter lim="800000"/>
            <a:headEnd/>
            <a:tailEnd/>
          </a:ln>
        </p:spPr>
      </p:pic>
      <p:pic>
        <p:nvPicPr>
          <p:cNvPr id="1030" name="Picture 6"/>
          <p:cNvPicPr>
            <a:picLocks noChangeAspect="1" noChangeArrowheads="1"/>
          </p:cNvPicPr>
          <p:nvPr/>
        </p:nvPicPr>
        <p:blipFill>
          <a:blip r:embed="rId5"/>
          <a:srcRect l="22322"/>
          <a:stretch>
            <a:fillRect/>
          </a:stretch>
        </p:blipFill>
        <p:spPr bwMode="auto">
          <a:xfrm>
            <a:off x="6643702" y="1928802"/>
            <a:ext cx="2071670" cy="1095375"/>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00100" y="500042"/>
            <a:ext cx="6786610" cy="800219"/>
          </a:xfrm>
          <a:prstGeom prst="rect">
            <a:avLst/>
          </a:prstGeom>
        </p:spPr>
        <p:txBody>
          <a:bodyPr wrap="square">
            <a:spAutoFit/>
          </a:bodyPr>
          <a:lstStyle/>
          <a:p>
            <a:r>
              <a:rPr lang="en-US" altLang="zh-TW" sz="2800" dirty="0">
                <a:latin typeface="標楷體" pitchFamily="65" charset="-120"/>
                <a:ea typeface="標楷體" pitchFamily="65" charset="-120"/>
              </a:rPr>
              <a:t>2</a:t>
            </a:r>
            <a:r>
              <a:rPr lang="en-US" altLang="zh-CN" sz="2800" dirty="0">
                <a:latin typeface="標楷體" pitchFamily="65" charset="-120"/>
                <a:ea typeface="標楷體" pitchFamily="65" charset="-120"/>
              </a:rPr>
              <a:t>.</a:t>
            </a:r>
            <a:r>
              <a:rPr lang="zh-CN" altLang="en-US" sz="2800" dirty="0"/>
              <a:t>焊接异状焊接异状</a:t>
            </a:r>
            <a:endParaRPr lang="en-US" altLang="zh-TW" sz="2800" dirty="0">
              <a:latin typeface="標楷體" pitchFamily="65" charset="-120"/>
              <a:ea typeface="標楷體" pitchFamily="65" charset="-120"/>
            </a:endParaRPr>
          </a:p>
          <a:p>
            <a:r>
              <a:rPr lang="zh-CN" altLang="en-US" dirty="0">
                <a:latin typeface="標楷體" pitchFamily="65" charset="-120"/>
                <a:ea typeface="標楷體" pitchFamily="65" charset="-120"/>
              </a:rPr>
              <a:t> </a:t>
            </a:r>
            <a:endParaRPr lang="zh-TW" altLang="en-US" sz="2800" dirty="0">
              <a:latin typeface="標楷體" pitchFamily="65" charset="-120"/>
              <a:ea typeface="標楷體" pitchFamily="65" charset="-120"/>
            </a:endParaRPr>
          </a:p>
        </p:txBody>
      </p:sp>
      <p:pic>
        <p:nvPicPr>
          <p:cNvPr id="1026" name="Picture 2"/>
          <p:cNvPicPr>
            <a:picLocks noChangeAspect="1" noChangeArrowheads="1"/>
          </p:cNvPicPr>
          <p:nvPr/>
        </p:nvPicPr>
        <p:blipFill>
          <a:blip r:embed="rId2"/>
          <a:srcRect/>
          <a:stretch>
            <a:fillRect/>
          </a:stretch>
        </p:blipFill>
        <p:spPr bwMode="auto">
          <a:xfrm>
            <a:off x="1142976" y="1142984"/>
            <a:ext cx="2667000" cy="2009775"/>
          </a:xfrm>
          <a:prstGeom prst="rect">
            <a:avLst/>
          </a:prstGeom>
          <a:noFill/>
          <a:ln w="9525">
            <a:noFill/>
            <a:miter lim="800000"/>
            <a:headEnd/>
            <a:tailEnd/>
          </a:ln>
        </p:spPr>
      </p:pic>
      <p:sp>
        <p:nvSpPr>
          <p:cNvPr id="5" name="矩形 4"/>
          <p:cNvSpPr/>
          <p:nvPr/>
        </p:nvSpPr>
        <p:spPr>
          <a:xfrm>
            <a:off x="1500166" y="3143248"/>
            <a:ext cx="1826141" cy="338554"/>
          </a:xfrm>
          <a:prstGeom prst="rect">
            <a:avLst/>
          </a:prstGeom>
          <a:noFill/>
        </p:spPr>
        <p:txBody>
          <a:bodyPr wrap="none">
            <a:spAutoFit/>
          </a:bodyPr>
          <a:lstStyle/>
          <a:p>
            <a:r>
              <a:rPr lang="zh-CN" altLang="en-US" sz="1600" dirty="0">
                <a:latin typeface="標楷體" pitchFamily="65" charset="-120"/>
                <a:ea typeface="標楷體" pitchFamily="65" charset="-120"/>
              </a:rPr>
              <a:t>焊锡膏回流不完全</a:t>
            </a:r>
            <a:endParaRPr lang="zh-TW" altLang="en-US" sz="1600" dirty="0">
              <a:latin typeface="標楷體" pitchFamily="65" charset="-120"/>
              <a:ea typeface="標楷體" pitchFamily="65" charset="-120"/>
            </a:endParaRPr>
          </a:p>
        </p:txBody>
      </p:sp>
      <p:pic>
        <p:nvPicPr>
          <p:cNvPr id="2050" name="Picture 2"/>
          <p:cNvPicPr>
            <a:picLocks noChangeAspect="1" noChangeArrowheads="1"/>
          </p:cNvPicPr>
          <p:nvPr/>
        </p:nvPicPr>
        <p:blipFill>
          <a:blip r:embed="rId3"/>
          <a:srcRect/>
          <a:stretch>
            <a:fillRect/>
          </a:stretch>
        </p:blipFill>
        <p:spPr bwMode="auto">
          <a:xfrm>
            <a:off x="5143504" y="1214422"/>
            <a:ext cx="2667000" cy="1790700"/>
          </a:xfrm>
          <a:prstGeom prst="rect">
            <a:avLst/>
          </a:prstGeom>
          <a:noFill/>
          <a:ln w="9525">
            <a:noFill/>
            <a:miter lim="800000"/>
            <a:headEnd/>
            <a:tailEnd/>
          </a:ln>
        </p:spPr>
      </p:pic>
      <p:sp>
        <p:nvSpPr>
          <p:cNvPr id="10" name="矩形 9"/>
          <p:cNvSpPr/>
          <p:nvPr/>
        </p:nvSpPr>
        <p:spPr>
          <a:xfrm>
            <a:off x="4857752" y="3000372"/>
            <a:ext cx="3500462" cy="584775"/>
          </a:xfrm>
          <a:prstGeom prst="rect">
            <a:avLst/>
          </a:prstGeom>
          <a:noFill/>
        </p:spPr>
        <p:txBody>
          <a:bodyPr wrap="square">
            <a:spAutoFit/>
          </a:bodyPr>
          <a:lstStyle/>
          <a:p>
            <a:r>
              <a:rPr lang="zh-CN" altLang="en-US" sz="1600" dirty="0">
                <a:latin typeface="標楷體" pitchFamily="65" charset="-120"/>
                <a:ea typeface="標楷體" pitchFamily="65" charset="-120"/>
              </a:rPr>
              <a:t>半润湿导致焊接不满足表面贴装或通孔插装焊接的要求</a:t>
            </a:r>
            <a:endParaRPr lang="zh-TW" altLang="en-US" sz="1600" dirty="0">
              <a:latin typeface="標楷體" pitchFamily="65" charset="-120"/>
              <a:ea typeface="標楷體" pitchFamily="65" charset="-120"/>
            </a:endParaRPr>
          </a:p>
        </p:txBody>
      </p:sp>
      <p:pic>
        <p:nvPicPr>
          <p:cNvPr id="2051" name="Picture 3"/>
          <p:cNvPicPr>
            <a:picLocks noChangeAspect="1" noChangeArrowheads="1"/>
          </p:cNvPicPr>
          <p:nvPr/>
        </p:nvPicPr>
        <p:blipFill>
          <a:blip r:embed="rId4"/>
          <a:srcRect/>
          <a:stretch>
            <a:fillRect/>
          </a:stretch>
        </p:blipFill>
        <p:spPr bwMode="auto">
          <a:xfrm>
            <a:off x="1071538" y="4000504"/>
            <a:ext cx="2667000" cy="1790700"/>
          </a:xfrm>
          <a:prstGeom prst="rect">
            <a:avLst/>
          </a:prstGeom>
          <a:noFill/>
          <a:ln w="9525">
            <a:noFill/>
            <a:miter lim="800000"/>
            <a:headEnd/>
            <a:tailEnd/>
          </a:ln>
        </p:spPr>
      </p:pic>
      <p:pic>
        <p:nvPicPr>
          <p:cNvPr id="2052" name="Picture 4"/>
          <p:cNvPicPr>
            <a:picLocks noChangeAspect="1" noChangeArrowheads="1"/>
          </p:cNvPicPr>
          <p:nvPr/>
        </p:nvPicPr>
        <p:blipFill>
          <a:blip r:embed="rId5"/>
          <a:srcRect/>
          <a:stretch>
            <a:fillRect/>
          </a:stretch>
        </p:blipFill>
        <p:spPr bwMode="auto">
          <a:xfrm>
            <a:off x="3786182" y="4000504"/>
            <a:ext cx="2657475" cy="1714500"/>
          </a:xfrm>
          <a:prstGeom prst="rect">
            <a:avLst/>
          </a:prstGeom>
          <a:noFill/>
          <a:ln w="9525">
            <a:noFill/>
            <a:miter lim="800000"/>
            <a:headEnd/>
            <a:tailEnd/>
          </a:ln>
        </p:spPr>
      </p:pic>
      <p:pic>
        <p:nvPicPr>
          <p:cNvPr id="2053" name="Picture 5"/>
          <p:cNvPicPr>
            <a:picLocks noChangeAspect="1" noChangeArrowheads="1"/>
          </p:cNvPicPr>
          <p:nvPr/>
        </p:nvPicPr>
        <p:blipFill>
          <a:blip r:embed="rId6"/>
          <a:srcRect/>
          <a:stretch>
            <a:fillRect/>
          </a:stretch>
        </p:blipFill>
        <p:spPr bwMode="auto">
          <a:xfrm>
            <a:off x="6500826" y="4000504"/>
            <a:ext cx="2443193" cy="1576254"/>
          </a:xfrm>
          <a:prstGeom prst="rect">
            <a:avLst/>
          </a:prstGeom>
          <a:noFill/>
          <a:ln w="9525">
            <a:noFill/>
            <a:miter lim="800000"/>
            <a:headEnd/>
            <a:tailEnd/>
          </a:ln>
        </p:spPr>
      </p:pic>
      <p:sp>
        <p:nvSpPr>
          <p:cNvPr id="2054" name="Rectangle 6"/>
          <p:cNvSpPr>
            <a:spLocks noChangeArrowheads="1"/>
          </p:cNvSpPr>
          <p:nvPr/>
        </p:nvSpPr>
        <p:spPr bwMode="auto">
          <a:xfrm>
            <a:off x="1428728" y="5857892"/>
            <a:ext cx="4714908"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TW" altLang="zh-CN" sz="16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a:t>
            </a:r>
            <a:r>
              <a:rPr kumimoji="1" lang="zh-CN" sz="16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焊锡连接不应该连接的导线。</a:t>
            </a:r>
            <a:r>
              <a:rPr kumimoji="1" lang="zh-CN" altLang="en-US" sz="16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 </a:t>
            </a:r>
            <a:endParaRPr kumimoji="1" lang="zh-CN" altLang="en-US" sz="16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a:t>
            </a:r>
            <a:r>
              <a:rPr kumimoji="1" lang="zh-CN" altLang="en-US" sz="16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焊锡在毗邻的不同导线或元件间形成桥接。</a:t>
            </a:r>
            <a:r>
              <a:rPr kumimoji="1" lang="zh-TW" altLang="en-US" sz="1600" b="0" i="0" u="none" strike="noStrike" cap="none" normalizeH="0" baseline="0" dirty="0">
                <a:ln>
                  <a:noFill/>
                </a:ln>
                <a:solidFill>
                  <a:schemeClr val="tx1"/>
                </a:solidFill>
                <a:effectLst/>
                <a:latin typeface="標楷體" pitchFamily="65" charset="-120"/>
                <a:ea typeface="標楷體" pitchFamily="65" charset="-120"/>
                <a:cs typeface="新細明體" pitchFamily="18" charset="-120"/>
              </a:rPr>
              <a:t> </a:t>
            </a:r>
          </a:p>
        </p:txBody>
      </p:sp>
      <p:sp>
        <p:nvSpPr>
          <p:cNvPr id="15" name="圓角矩形 14"/>
          <p:cNvSpPr/>
          <p:nvPr/>
        </p:nvSpPr>
        <p:spPr>
          <a:xfrm>
            <a:off x="1071538" y="3786190"/>
            <a:ext cx="714380" cy="357190"/>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latin typeface="標楷體" pitchFamily="65" charset="-120"/>
                <a:ea typeface="標楷體" pitchFamily="65" charset="-120"/>
                <a:cs typeface="Times New Roman" pitchFamily="18" charset="0"/>
              </a:rPr>
              <a:t>桥接</a:t>
            </a:r>
            <a:endParaRPr lang="zh-TW" altLang="en-US" dirty="0"/>
          </a:p>
        </p:txBody>
      </p:sp>
      <p:sp>
        <p:nvSpPr>
          <p:cNvPr id="16" name="圓角矩形 15"/>
          <p:cNvSpPr/>
          <p:nvPr/>
        </p:nvSpPr>
        <p:spPr>
          <a:xfrm>
            <a:off x="3786182" y="3929066"/>
            <a:ext cx="714380" cy="357190"/>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latin typeface="標楷體" pitchFamily="65" charset="-120"/>
                <a:ea typeface="標楷體" pitchFamily="65" charset="-120"/>
                <a:cs typeface="Times New Roman" pitchFamily="18" charset="0"/>
              </a:rPr>
              <a:t>桥接</a:t>
            </a:r>
            <a:endParaRPr lang="zh-TW" altLang="en-US" dirty="0"/>
          </a:p>
        </p:txBody>
      </p:sp>
      <p:sp>
        <p:nvSpPr>
          <p:cNvPr id="17" name="圓角矩形 16"/>
          <p:cNvSpPr/>
          <p:nvPr/>
        </p:nvSpPr>
        <p:spPr>
          <a:xfrm>
            <a:off x="6500826" y="4000504"/>
            <a:ext cx="714380" cy="357190"/>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tx1"/>
                </a:solidFill>
                <a:latin typeface="標楷體" pitchFamily="65" charset="-120"/>
                <a:ea typeface="標楷體" pitchFamily="65" charset="-120"/>
                <a:cs typeface="Times New Roman" pitchFamily="18" charset="0"/>
              </a:rPr>
              <a:t>桥接</a:t>
            </a:r>
            <a:endParaRPr lang="zh-TW"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00100" y="500042"/>
            <a:ext cx="6786610" cy="800219"/>
          </a:xfrm>
          <a:prstGeom prst="rect">
            <a:avLst/>
          </a:prstGeom>
        </p:spPr>
        <p:txBody>
          <a:bodyPr wrap="square">
            <a:spAutoFit/>
          </a:bodyPr>
          <a:lstStyle/>
          <a:p>
            <a:r>
              <a:rPr lang="en-US" altLang="zh-TW" sz="2800" dirty="0">
                <a:latin typeface="標楷體" pitchFamily="65" charset="-120"/>
                <a:ea typeface="標楷體" pitchFamily="65" charset="-120"/>
              </a:rPr>
              <a:t>2</a:t>
            </a:r>
            <a:r>
              <a:rPr lang="en-US" altLang="zh-CN" sz="2800" dirty="0">
                <a:latin typeface="標楷體" pitchFamily="65" charset="-120"/>
                <a:ea typeface="標楷體" pitchFamily="65" charset="-120"/>
              </a:rPr>
              <a:t>.</a:t>
            </a:r>
            <a:r>
              <a:rPr lang="zh-CN" altLang="en-US" sz="2800" dirty="0"/>
              <a:t>焊接异状</a:t>
            </a:r>
            <a:r>
              <a:rPr lang="en-US" altLang="zh-CN" sz="2800" dirty="0">
                <a:latin typeface="標楷體" pitchFamily="65" charset="-120"/>
                <a:ea typeface="標楷體" pitchFamily="65" charset="-120"/>
              </a:rPr>
              <a:t>(</a:t>
            </a:r>
            <a:r>
              <a:rPr lang="zh-CN" altLang="en-US" sz="2800" dirty="0">
                <a:latin typeface="標楷體" pitchFamily="65" charset="-120"/>
                <a:ea typeface="標楷體" pitchFamily="65" charset="-120"/>
              </a:rPr>
              <a:t>焊接过量，锡球</a:t>
            </a:r>
            <a:r>
              <a:rPr lang="en-US" altLang="zh-CN" sz="2800" dirty="0">
                <a:latin typeface="標楷體" pitchFamily="65" charset="-120"/>
                <a:ea typeface="標楷體" pitchFamily="65" charset="-120"/>
              </a:rPr>
              <a:t>)</a:t>
            </a:r>
            <a:endParaRPr lang="en-US" altLang="zh-TW" sz="2800" dirty="0">
              <a:latin typeface="標楷體" pitchFamily="65" charset="-120"/>
              <a:ea typeface="標楷體" pitchFamily="65" charset="-120"/>
            </a:endParaRPr>
          </a:p>
          <a:p>
            <a:r>
              <a:rPr lang="zh-CN" altLang="en-US" dirty="0">
                <a:latin typeface="標楷體" pitchFamily="65" charset="-120"/>
                <a:ea typeface="標楷體" pitchFamily="65" charset="-120"/>
              </a:rPr>
              <a:t> </a:t>
            </a:r>
            <a:endParaRPr lang="zh-TW" altLang="en-US" sz="2800" dirty="0">
              <a:latin typeface="標楷體" pitchFamily="65" charset="-120"/>
              <a:ea typeface="標楷體" pitchFamily="65" charset="-120"/>
            </a:endParaRPr>
          </a:p>
        </p:txBody>
      </p:sp>
      <p:pic>
        <p:nvPicPr>
          <p:cNvPr id="43010" name="Picture 2"/>
          <p:cNvPicPr>
            <a:picLocks noChangeAspect="1" noChangeArrowheads="1"/>
          </p:cNvPicPr>
          <p:nvPr/>
        </p:nvPicPr>
        <p:blipFill>
          <a:blip r:embed="rId2"/>
          <a:srcRect/>
          <a:stretch>
            <a:fillRect/>
          </a:stretch>
        </p:blipFill>
        <p:spPr bwMode="auto">
          <a:xfrm>
            <a:off x="1285852" y="1428736"/>
            <a:ext cx="2667000" cy="1447800"/>
          </a:xfrm>
          <a:prstGeom prst="rect">
            <a:avLst/>
          </a:prstGeom>
          <a:noFill/>
          <a:ln w="9525">
            <a:noFill/>
            <a:miter lim="800000"/>
            <a:headEnd/>
            <a:tailEnd/>
          </a:ln>
        </p:spPr>
      </p:pic>
      <p:pic>
        <p:nvPicPr>
          <p:cNvPr id="43011" name="Picture 3"/>
          <p:cNvPicPr>
            <a:picLocks noChangeAspect="1" noChangeArrowheads="1"/>
          </p:cNvPicPr>
          <p:nvPr/>
        </p:nvPicPr>
        <p:blipFill>
          <a:blip r:embed="rId3"/>
          <a:srcRect/>
          <a:stretch>
            <a:fillRect/>
          </a:stretch>
        </p:blipFill>
        <p:spPr bwMode="auto">
          <a:xfrm>
            <a:off x="4000496" y="1428736"/>
            <a:ext cx="2667000" cy="1533525"/>
          </a:xfrm>
          <a:prstGeom prst="rect">
            <a:avLst/>
          </a:prstGeom>
          <a:noFill/>
          <a:ln w="9525">
            <a:noFill/>
            <a:miter lim="800000"/>
            <a:headEnd/>
            <a:tailEnd/>
          </a:ln>
        </p:spPr>
      </p:pic>
      <p:pic>
        <p:nvPicPr>
          <p:cNvPr id="43012" name="Picture 4"/>
          <p:cNvPicPr>
            <a:picLocks noChangeAspect="1" noChangeArrowheads="1"/>
          </p:cNvPicPr>
          <p:nvPr/>
        </p:nvPicPr>
        <p:blipFill>
          <a:blip r:embed="rId4"/>
          <a:srcRect/>
          <a:stretch>
            <a:fillRect/>
          </a:stretch>
        </p:blipFill>
        <p:spPr bwMode="auto">
          <a:xfrm>
            <a:off x="1285852" y="3643314"/>
            <a:ext cx="2667000" cy="1895475"/>
          </a:xfrm>
          <a:prstGeom prst="rect">
            <a:avLst/>
          </a:prstGeom>
          <a:noFill/>
          <a:ln w="9525">
            <a:noFill/>
            <a:miter lim="800000"/>
            <a:headEnd/>
            <a:tailEnd/>
          </a:ln>
        </p:spPr>
      </p:pic>
      <p:pic>
        <p:nvPicPr>
          <p:cNvPr id="43013" name="Picture 5"/>
          <p:cNvPicPr>
            <a:picLocks noChangeAspect="1" noChangeArrowheads="1"/>
          </p:cNvPicPr>
          <p:nvPr/>
        </p:nvPicPr>
        <p:blipFill>
          <a:blip r:embed="rId5"/>
          <a:srcRect/>
          <a:stretch>
            <a:fillRect/>
          </a:stretch>
        </p:blipFill>
        <p:spPr bwMode="auto">
          <a:xfrm>
            <a:off x="6929454" y="1428736"/>
            <a:ext cx="1857388" cy="1334369"/>
          </a:xfrm>
          <a:prstGeom prst="rect">
            <a:avLst/>
          </a:prstGeom>
          <a:noFill/>
          <a:ln w="9525">
            <a:noFill/>
            <a:miter lim="800000"/>
            <a:headEnd/>
            <a:tailEnd/>
          </a:ln>
        </p:spPr>
      </p:pic>
      <p:sp>
        <p:nvSpPr>
          <p:cNvPr id="43014" name="Rectangle 6"/>
          <p:cNvSpPr>
            <a:spLocks noChangeArrowheads="1"/>
          </p:cNvSpPr>
          <p:nvPr/>
        </p:nvSpPr>
        <p:spPr bwMode="auto">
          <a:xfrm>
            <a:off x="4286248" y="3643314"/>
            <a:ext cx="4143436" cy="107721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TW" altLang="zh-CN" sz="16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a:t>
            </a:r>
            <a:r>
              <a:rPr kumimoji="1" lang="zh-CN" sz="16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焊锡球违反昀小电气间隙。</a:t>
            </a:r>
            <a:r>
              <a:rPr kumimoji="1" lang="zh-CN" altLang="en-US" sz="16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 </a:t>
            </a:r>
            <a:endParaRPr kumimoji="1" lang="zh-CN" altLang="en-US" sz="16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a:t>
            </a:r>
            <a:r>
              <a:rPr kumimoji="1" lang="zh-CN" altLang="en-US" sz="16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焊锡球未固定在免清除的残渣内或覆盖在保形涂敷层下，或未粘附（焊接）于金属表面，</a:t>
            </a:r>
            <a:r>
              <a:rPr kumimoji="1" lang="zh-TW" altLang="en-US" sz="1600" b="0" i="0" u="none" strike="noStrike" cap="none" normalizeH="0" baseline="0" dirty="0">
                <a:ln>
                  <a:noFill/>
                </a:ln>
                <a:solidFill>
                  <a:schemeClr val="tx1"/>
                </a:solidFill>
                <a:effectLst/>
                <a:latin typeface="標楷體" pitchFamily="65" charset="-120"/>
                <a:ea typeface="標楷體" pitchFamily="65" charset="-120"/>
                <a:cs typeface="新細明體" pitchFamily="18" charset="-120"/>
              </a:rP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00100" y="500042"/>
            <a:ext cx="6786610" cy="800219"/>
          </a:xfrm>
          <a:prstGeom prst="rect">
            <a:avLst/>
          </a:prstGeom>
        </p:spPr>
        <p:txBody>
          <a:bodyPr wrap="square">
            <a:spAutoFit/>
          </a:bodyPr>
          <a:lstStyle/>
          <a:p>
            <a:r>
              <a:rPr lang="en-US" altLang="zh-TW" sz="2800" dirty="0">
                <a:latin typeface="標楷體" pitchFamily="65" charset="-120"/>
                <a:ea typeface="標楷體" pitchFamily="65" charset="-120"/>
              </a:rPr>
              <a:t>2</a:t>
            </a:r>
            <a:r>
              <a:rPr lang="en-US" altLang="zh-CN" sz="2800" dirty="0">
                <a:latin typeface="標楷體" pitchFamily="65" charset="-120"/>
                <a:ea typeface="標楷體" pitchFamily="65" charset="-120"/>
              </a:rPr>
              <a:t>.</a:t>
            </a:r>
            <a:r>
              <a:rPr lang="zh-CN" altLang="en-US" sz="2800" dirty="0"/>
              <a:t>焊接异状</a:t>
            </a:r>
            <a:endParaRPr lang="en-US" altLang="zh-TW" sz="2800" dirty="0">
              <a:latin typeface="標楷體" pitchFamily="65" charset="-120"/>
              <a:ea typeface="標楷體" pitchFamily="65" charset="-120"/>
            </a:endParaRPr>
          </a:p>
          <a:p>
            <a:r>
              <a:rPr lang="zh-CN" altLang="en-US" dirty="0">
                <a:latin typeface="標楷體" pitchFamily="65" charset="-120"/>
                <a:ea typeface="標楷體" pitchFamily="65" charset="-120"/>
              </a:rPr>
              <a:t> </a:t>
            </a:r>
            <a:endParaRPr lang="zh-TW" altLang="en-US" sz="2800" dirty="0">
              <a:latin typeface="標楷體" pitchFamily="65" charset="-120"/>
              <a:ea typeface="標楷體" pitchFamily="65" charset="-120"/>
            </a:endParaRPr>
          </a:p>
        </p:txBody>
      </p:sp>
      <p:pic>
        <p:nvPicPr>
          <p:cNvPr id="44034" name="Picture 2"/>
          <p:cNvPicPr>
            <a:picLocks noChangeAspect="1" noChangeArrowheads="1"/>
          </p:cNvPicPr>
          <p:nvPr/>
        </p:nvPicPr>
        <p:blipFill>
          <a:blip r:embed="rId2"/>
          <a:srcRect/>
          <a:stretch>
            <a:fillRect/>
          </a:stretch>
        </p:blipFill>
        <p:spPr bwMode="auto">
          <a:xfrm>
            <a:off x="1071538" y="1142984"/>
            <a:ext cx="2657475" cy="1800225"/>
          </a:xfrm>
          <a:prstGeom prst="rect">
            <a:avLst/>
          </a:prstGeom>
          <a:noFill/>
          <a:ln w="9525">
            <a:noFill/>
            <a:miter lim="800000"/>
            <a:headEnd/>
            <a:tailEnd/>
          </a:ln>
        </p:spPr>
      </p:pic>
      <p:pic>
        <p:nvPicPr>
          <p:cNvPr id="44035" name="Picture 3"/>
          <p:cNvPicPr>
            <a:picLocks noChangeAspect="1" noChangeArrowheads="1"/>
          </p:cNvPicPr>
          <p:nvPr/>
        </p:nvPicPr>
        <p:blipFill>
          <a:blip r:embed="rId3"/>
          <a:srcRect/>
          <a:stretch>
            <a:fillRect/>
          </a:stretch>
        </p:blipFill>
        <p:spPr bwMode="auto">
          <a:xfrm>
            <a:off x="3857620" y="1214422"/>
            <a:ext cx="2657475" cy="1704975"/>
          </a:xfrm>
          <a:prstGeom prst="rect">
            <a:avLst/>
          </a:prstGeom>
          <a:noFill/>
          <a:ln w="9525">
            <a:noFill/>
            <a:miter lim="800000"/>
            <a:headEnd/>
            <a:tailEnd/>
          </a:ln>
        </p:spPr>
      </p:pic>
      <p:sp>
        <p:nvSpPr>
          <p:cNvPr id="10" name="矩形 9"/>
          <p:cNvSpPr/>
          <p:nvPr/>
        </p:nvSpPr>
        <p:spPr>
          <a:xfrm>
            <a:off x="2571736" y="2857496"/>
            <a:ext cx="4071966" cy="369332"/>
          </a:xfrm>
          <a:prstGeom prst="rect">
            <a:avLst/>
          </a:prstGeom>
        </p:spPr>
        <p:txBody>
          <a:bodyPr wrap="square">
            <a:spAutoFit/>
          </a:bodyPr>
          <a:lstStyle/>
          <a:p>
            <a:r>
              <a:rPr lang="zh-CN" altLang="en-US" dirty="0">
                <a:latin typeface="標楷體" pitchFamily="65" charset="-120"/>
                <a:ea typeface="標楷體" pitchFamily="65" charset="-120"/>
              </a:rPr>
              <a:t>焊锡过量 </a:t>
            </a:r>
            <a:r>
              <a:rPr lang="en-US" dirty="0">
                <a:latin typeface="標楷體" pitchFamily="65" charset="-120"/>
                <a:ea typeface="標楷體" pitchFamily="65" charset="-120"/>
              </a:rPr>
              <a:t>–</a:t>
            </a:r>
            <a:r>
              <a:rPr lang="zh-CN" altLang="en-US" dirty="0">
                <a:latin typeface="標楷體" pitchFamily="65" charset="-120"/>
                <a:ea typeface="標楷體" pitchFamily="65" charset="-120"/>
              </a:rPr>
              <a:t>焊锡网</a:t>
            </a:r>
            <a:endParaRPr lang="zh-TW" altLang="en-US" dirty="0">
              <a:latin typeface="標楷體" pitchFamily="65" charset="-120"/>
              <a:ea typeface="標楷體" pitchFamily="65" charset="-120"/>
            </a:endParaRPr>
          </a:p>
        </p:txBody>
      </p:sp>
      <p:pic>
        <p:nvPicPr>
          <p:cNvPr id="44036" name="Picture 4"/>
          <p:cNvPicPr>
            <a:picLocks noChangeAspect="1" noChangeArrowheads="1"/>
          </p:cNvPicPr>
          <p:nvPr/>
        </p:nvPicPr>
        <p:blipFill>
          <a:blip r:embed="rId4"/>
          <a:srcRect/>
          <a:stretch>
            <a:fillRect/>
          </a:stretch>
        </p:blipFill>
        <p:spPr bwMode="auto">
          <a:xfrm>
            <a:off x="1142976" y="3643314"/>
            <a:ext cx="2667000" cy="1790700"/>
          </a:xfrm>
          <a:prstGeom prst="rect">
            <a:avLst/>
          </a:prstGeom>
          <a:noFill/>
          <a:ln w="9525">
            <a:noFill/>
            <a:miter lim="800000"/>
            <a:headEnd/>
            <a:tailEnd/>
          </a:ln>
        </p:spPr>
      </p:pic>
      <p:pic>
        <p:nvPicPr>
          <p:cNvPr id="44037" name="Picture 5"/>
          <p:cNvPicPr>
            <a:picLocks noChangeAspect="1" noChangeArrowheads="1"/>
          </p:cNvPicPr>
          <p:nvPr/>
        </p:nvPicPr>
        <p:blipFill>
          <a:blip r:embed="rId5"/>
          <a:srcRect/>
          <a:stretch>
            <a:fillRect/>
          </a:stretch>
        </p:blipFill>
        <p:spPr bwMode="auto">
          <a:xfrm>
            <a:off x="4357686" y="3714752"/>
            <a:ext cx="2667000" cy="1762125"/>
          </a:xfrm>
          <a:prstGeom prst="rect">
            <a:avLst/>
          </a:prstGeom>
          <a:noFill/>
          <a:ln w="9525">
            <a:noFill/>
            <a:miter lim="800000"/>
            <a:headEnd/>
            <a:tailEnd/>
          </a:ln>
        </p:spPr>
      </p:pic>
      <p:sp>
        <p:nvSpPr>
          <p:cNvPr id="44038" name="Rectangle 6"/>
          <p:cNvSpPr>
            <a:spLocks noChangeArrowheads="1"/>
          </p:cNvSpPr>
          <p:nvPr/>
        </p:nvSpPr>
        <p:spPr bwMode="auto">
          <a:xfrm>
            <a:off x="2000232" y="5500702"/>
            <a:ext cx="5286412" cy="33855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kumimoji="1" lang="zh-CN" sz="16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焊接破裂</a:t>
            </a:r>
            <a:r>
              <a:rPr kumimoji="1" lang="en-US" altLang="zh-CN" sz="1600" dirty="0">
                <a:latin typeface="標楷體" pitchFamily="65" charset="-120"/>
                <a:ea typeface="標楷體" pitchFamily="65" charset="-120"/>
                <a:cs typeface="NSimSun" pitchFamily="49" charset="-122"/>
              </a:rPr>
              <a:t>   </a:t>
            </a:r>
            <a:r>
              <a:rPr kumimoji="1" lang="en-US" altLang="zh-CN" sz="1600" b="0" i="0" u="none" strike="noStrike" cap="none" normalizeH="0" baseline="0" dirty="0">
                <a:ln>
                  <a:noFill/>
                </a:ln>
                <a:solidFill>
                  <a:schemeClr val="tx1"/>
                </a:solidFill>
                <a:effectLst/>
                <a:latin typeface="標楷體" pitchFamily="65" charset="-120"/>
                <a:ea typeface="標楷體" pitchFamily="65" charset="-120"/>
                <a:cs typeface="NSimSun" pitchFamily="49" charset="-122"/>
              </a:rPr>
              <a:t>-  </a:t>
            </a:r>
            <a:r>
              <a:rPr lang="zh-CN" altLang="en-US" sz="1600" dirty="0">
                <a:latin typeface="標楷體" pitchFamily="65" charset="-120"/>
                <a:ea typeface="標楷體" pitchFamily="65" charset="-120"/>
              </a:rPr>
              <a:t>破裂或有裂缝的焊接</a:t>
            </a:r>
            <a:endParaRPr kumimoji="1" lang="zh-CN" sz="1600" b="0" i="0" u="none" strike="noStrike" cap="none" normalizeH="0" baseline="0" dirty="0">
              <a:ln>
                <a:noFill/>
              </a:ln>
              <a:solidFill>
                <a:schemeClr val="tx1"/>
              </a:solidFill>
              <a:effectLst/>
              <a:latin typeface="標楷體" pitchFamily="65" charset="-120"/>
              <a:ea typeface="標楷體" pitchFamily="65" charset="-120"/>
              <a:cs typeface="新細明體" pitchFamily="18" charset="-12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00100" y="500042"/>
            <a:ext cx="6786610" cy="800219"/>
          </a:xfrm>
          <a:prstGeom prst="rect">
            <a:avLst/>
          </a:prstGeom>
        </p:spPr>
        <p:txBody>
          <a:bodyPr wrap="square">
            <a:spAutoFit/>
          </a:bodyPr>
          <a:lstStyle/>
          <a:p>
            <a:r>
              <a:rPr lang="en-US" altLang="zh-TW" sz="2800" dirty="0">
                <a:latin typeface="標楷體" pitchFamily="65" charset="-120"/>
                <a:ea typeface="標楷體" pitchFamily="65" charset="-120"/>
              </a:rPr>
              <a:t>2</a:t>
            </a:r>
            <a:r>
              <a:rPr lang="en-US" altLang="zh-CN" sz="2800" dirty="0">
                <a:latin typeface="標楷體" pitchFamily="65" charset="-120"/>
                <a:ea typeface="標楷體" pitchFamily="65" charset="-120"/>
              </a:rPr>
              <a:t>.</a:t>
            </a:r>
            <a:r>
              <a:rPr lang="zh-CN" altLang="en-US" sz="2800" dirty="0"/>
              <a:t>焊接异状</a:t>
            </a:r>
            <a:endParaRPr lang="en-US" altLang="zh-TW" sz="2800" dirty="0">
              <a:latin typeface="標楷體" pitchFamily="65" charset="-120"/>
              <a:ea typeface="標楷體" pitchFamily="65" charset="-120"/>
            </a:endParaRPr>
          </a:p>
          <a:p>
            <a:r>
              <a:rPr lang="zh-CN" altLang="en-US" dirty="0">
                <a:latin typeface="標楷體" pitchFamily="65" charset="-120"/>
                <a:ea typeface="標楷體" pitchFamily="65" charset="-120"/>
              </a:rPr>
              <a:t> </a:t>
            </a:r>
            <a:endParaRPr lang="zh-TW" altLang="en-US" sz="2800" dirty="0">
              <a:latin typeface="標楷體" pitchFamily="65" charset="-120"/>
              <a:ea typeface="標楷體" pitchFamily="65" charset="-120"/>
            </a:endParaRPr>
          </a:p>
        </p:txBody>
      </p:sp>
      <p:sp>
        <p:nvSpPr>
          <p:cNvPr id="10" name="矩形 9"/>
          <p:cNvSpPr/>
          <p:nvPr/>
        </p:nvSpPr>
        <p:spPr>
          <a:xfrm>
            <a:off x="2643174" y="2714620"/>
            <a:ext cx="4286280" cy="1077218"/>
          </a:xfrm>
          <a:prstGeom prst="rect">
            <a:avLst/>
          </a:prstGeom>
        </p:spPr>
        <p:txBody>
          <a:bodyPr wrap="square">
            <a:spAutoFit/>
          </a:bodyPr>
          <a:lstStyle/>
          <a:p>
            <a:r>
              <a:rPr lang="zh-CN" altLang="en-US" sz="1600" dirty="0">
                <a:latin typeface="標楷體" pitchFamily="65" charset="-120"/>
                <a:ea typeface="標楷體" pitchFamily="65" charset="-120"/>
              </a:rPr>
              <a:t>焊锡毛刺</a:t>
            </a:r>
            <a:endParaRPr lang="en-US" altLang="zh-CN" sz="1600" dirty="0">
              <a:latin typeface="標楷體" pitchFamily="65" charset="-120"/>
              <a:ea typeface="標楷體" pitchFamily="65" charset="-120"/>
            </a:endParaRPr>
          </a:p>
          <a:p>
            <a:r>
              <a:rPr lang="zh-CN" altLang="en-US" sz="1600" dirty="0">
                <a:latin typeface="標楷體" pitchFamily="65" charset="-120"/>
                <a:ea typeface="標楷體" pitchFamily="65" charset="-120"/>
              </a:rPr>
              <a:t>违反组装的昀大高度条件或引脚凸出条件。</a:t>
            </a:r>
            <a:r>
              <a:rPr lang="en-US" sz="1600" dirty="0">
                <a:latin typeface="標楷體" pitchFamily="65" charset="-120"/>
                <a:ea typeface="標楷體" pitchFamily="65" charset="-120"/>
              </a:rPr>
              <a:t> </a:t>
            </a:r>
            <a:endParaRPr lang="zh-TW" altLang="en-US" sz="1600" dirty="0">
              <a:latin typeface="標楷體" pitchFamily="65" charset="-120"/>
              <a:ea typeface="標楷體" pitchFamily="65" charset="-120"/>
            </a:endParaRPr>
          </a:p>
          <a:p>
            <a:r>
              <a:rPr lang="zh-CN" altLang="en-US" sz="1600" dirty="0">
                <a:latin typeface="標楷體" pitchFamily="65" charset="-120"/>
                <a:ea typeface="標楷體" pitchFamily="65" charset="-120"/>
              </a:rPr>
              <a:t>违反昀小电气间隙（ </a:t>
            </a:r>
            <a:r>
              <a:rPr lang="en-US" sz="1600" dirty="0">
                <a:latin typeface="標楷體" pitchFamily="65" charset="-120"/>
                <a:ea typeface="標楷體" pitchFamily="65" charset="-120"/>
              </a:rPr>
              <a:t>1</a:t>
            </a:r>
            <a:r>
              <a:rPr lang="zh-CN" altLang="en-US" sz="1600" dirty="0">
                <a:latin typeface="標楷體" pitchFamily="65" charset="-120"/>
                <a:ea typeface="標楷體" pitchFamily="65" charset="-120"/>
              </a:rPr>
              <a:t>）条件。</a:t>
            </a:r>
            <a:endParaRPr lang="zh-TW" altLang="en-US" sz="1600" dirty="0">
              <a:latin typeface="標楷體" pitchFamily="65" charset="-120"/>
              <a:ea typeface="標楷體" pitchFamily="65" charset="-120"/>
            </a:endParaRPr>
          </a:p>
          <a:p>
            <a:endParaRPr lang="zh-TW" altLang="en-US" sz="1600" dirty="0">
              <a:latin typeface="標楷體" pitchFamily="65" charset="-120"/>
              <a:ea typeface="標楷體" pitchFamily="65" charset="-120"/>
            </a:endParaRPr>
          </a:p>
        </p:txBody>
      </p:sp>
      <p:sp>
        <p:nvSpPr>
          <p:cNvPr id="44038" name="Rectangle 6"/>
          <p:cNvSpPr>
            <a:spLocks noChangeArrowheads="1"/>
          </p:cNvSpPr>
          <p:nvPr/>
        </p:nvSpPr>
        <p:spPr bwMode="auto">
          <a:xfrm>
            <a:off x="2000232" y="5500702"/>
            <a:ext cx="6572296"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zh-CN" altLang="en-US" sz="1600" dirty="0">
                <a:latin typeface="標楷體" pitchFamily="65" charset="-120"/>
                <a:ea typeface="標楷體" pitchFamily="65" charset="-120"/>
              </a:rPr>
              <a:t>焊点跷起</a:t>
            </a:r>
            <a:endParaRPr lang="en-US" altLang="zh-CN" sz="1600" dirty="0">
              <a:latin typeface="標楷體" pitchFamily="65" charset="-120"/>
              <a:ea typeface="標楷體" pitchFamily="65" charset="-120"/>
            </a:endParaRPr>
          </a:p>
          <a:p>
            <a:pPr lvl="0" fontAlgn="base">
              <a:spcBef>
                <a:spcPct val="0"/>
              </a:spcBef>
              <a:spcAft>
                <a:spcPct val="0"/>
              </a:spcAft>
            </a:pPr>
            <a:r>
              <a:rPr lang="zh-CN" altLang="en-US" sz="1600" dirty="0">
                <a:latin typeface="標楷體" pitchFamily="65" charset="-120"/>
                <a:ea typeface="標楷體" pitchFamily="65" charset="-120"/>
              </a:rPr>
              <a:t>通孔插装焊接的主面上焊点底部与焊盘表面分离。</a:t>
            </a:r>
            <a:endParaRPr lang="zh-TW" altLang="en-US" sz="1600" dirty="0">
              <a:latin typeface="標楷體" pitchFamily="65" charset="-120"/>
              <a:ea typeface="標楷體" pitchFamily="65" charset="-120"/>
            </a:endParaRPr>
          </a:p>
          <a:p>
            <a:r>
              <a:rPr lang="zh-CN" altLang="en-US" sz="1600" dirty="0">
                <a:latin typeface="標楷體" pitchFamily="65" charset="-120"/>
                <a:ea typeface="標楷體" pitchFamily="65" charset="-120"/>
              </a:rPr>
              <a:t>通孔插装焊接的辅面上焊点底部与焊盘表面分离</a:t>
            </a:r>
            <a:endParaRPr kumimoji="1" lang="zh-CN" sz="1600" b="0" i="0" u="none" strike="noStrike" cap="none" normalizeH="0" baseline="0" dirty="0">
              <a:ln>
                <a:noFill/>
              </a:ln>
              <a:solidFill>
                <a:schemeClr val="tx1"/>
              </a:solidFill>
              <a:effectLst/>
              <a:latin typeface="標楷體" pitchFamily="65" charset="-120"/>
              <a:ea typeface="標楷體" pitchFamily="65" charset="-120"/>
              <a:cs typeface="新細明體" pitchFamily="18" charset="-120"/>
            </a:endParaRPr>
          </a:p>
        </p:txBody>
      </p:sp>
      <p:pic>
        <p:nvPicPr>
          <p:cNvPr id="45058" name="Picture 2"/>
          <p:cNvPicPr>
            <a:picLocks noChangeAspect="1" noChangeArrowheads="1"/>
          </p:cNvPicPr>
          <p:nvPr/>
        </p:nvPicPr>
        <p:blipFill>
          <a:blip r:embed="rId2"/>
          <a:srcRect/>
          <a:stretch>
            <a:fillRect/>
          </a:stretch>
        </p:blipFill>
        <p:spPr bwMode="auto">
          <a:xfrm>
            <a:off x="1142976" y="1000108"/>
            <a:ext cx="2667000" cy="1781175"/>
          </a:xfrm>
          <a:prstGeom prst="rect">
            <a:avLst/>
          </a:prstGeom>
          <a:noFill/>
          <a:ln w="9525">
            <a:noFill/>
            <a:miter lim="800000"/>
            <a:headEnd/>
            <a:tailEnd/>
          </a:ln>
        </p:spPr>
      </p:pic>
      <p:pic>
        <p:nvPicPr>
          <p:cNvPr id="45059" name="Picture 3"/>
          <p:cNvPicPr>
            <a:picLocks noChangeAspect="1" noChangeArrowheads="1"/>
          </p:cNvPicPr>
          <p:nvPr/>
        </p:nvPicPr>
        <p:blipFill>
          <a:blip r:embed="rId3"/>
          <a:srcRect/>
          <a:stretch>
            <a:fillRect/>
          </a:stretch>
        </p:blipFill>
        <p:spPr bwMode="auto">
          <a:xfrm>
            <a:off x="4500562" y="928670"/>
            <a:ext cx="2452686" cy="1848274"/>
          </a:xfrm>
          <a:prstGeom prst="rect">
            <a:avLst/>
          </a:prstGeom>
          <a:noFill/>
          <a:ln w="9525">
            <a:noFill/>
            <a:miter lim="800000"/>
            <a:headEnd/>
            <a:tailEnd/>
          </a:ln>
        </p:spPr>
      </p:pic>
      <p:pic>
        <p:nvPicPr>
          <p:cNvPr id="45060" name="Picture 4"/>
          <p:cNvPicPr>
            <a:picLocks noChangeAspect="1" noChangeArrowheads="1"/>
          </p:cNvPicPr>
          <p:nvPr/>
        </p:nvPicPr>
        <p:blipFill>
          <a:blip r:embed="rId4"/>
          <a:srcRect/>
          <a:stretch>
            <a:fillRect/>
          </a:stretch>
        </p:blipFill>
        <p:spPr bwMode="auto">
          <a:xfrm>
            <a:off x="1142976" y="4143380"/>
            <a:ext cx="2143140" cy="1094532"/>
          </a:xfrm>
          <a:prstGeom prst="rect">
            <a:avLst/>
          </a:prstGeom>
          <a:noFill/>
          <a:ln w="9525">
            <a:noFill/>
            <a:miter lim="800000"/>
            <a:headEnd/>
            <a:tailEnd/>
          </a:ln>
        </p:spPr>
      </p:pic>
      <p:pic>
        <p:nvPicPr>
          <p:cNvPr id="45061" name="Picture 5"/>
          <p:cNvPicPr>
            <a:picLocks noChangeAspect="1" noChangeArrowheads="1"/>
          </p:cNvPicPr>
          <p:nvPr/>
        </p:nvPicPr>
        <p:blipFill>
          <a:blip r:embed="rId5"/>
          <a:srcRect/>
          <a:stretch>
            <a:fillRect/>
          </a:stretch>
        </p:blipFill>
        <p:spPr bwMode="auto">
          <a:xfrm>
            <a:off x="3643306" y="4143380"/>
            <a:ext cx="2143140" cy="1308846"/>
          </a:xfrm>
          <a:prstGeom prst="rect">
            <a:avLst/>
          </a:prstGeom>
          <a:noFill/>
          <a:ln w="9525">
            <a:noFill/>
            <a:miter lim="800000"/>
            <a:headEnd/>
            <a:tailEnd/>
          </a:ln>
        </p:spPr>
      </p:pic>
      <p:pic>
        <p:nvPicPr>
          <p:cNvPr id="45062" name="Picture 6"/>
          <p:cNvPicPr>
            <a:picLocks noChangeAspect="1" noChangeArrowheads="1"/>
          </p:cNvPicPr>
          <p:nvPr/>
        </p:nvPicPr>
        <p:blipFill>
          <a:blip r:embed="rId6"/>
          <a:srcRect/>
          <a:stretch>
            <a:fillRect/>
          </a:stretch>
        </p:blipFill>
        <p:spPr bwMode="auto">
          <a:xfrm>
            <a:off x="6000760" y="4000504"/>
            <a:ext cx="2286016" cy="1510403"/>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00100" y="500042"/>
            <a:ext cx="6786610" cy="800219"/>
          </a:xfrm>
          <a:prstGeom prst="rect">
            <a:avLst/>
          </a:prstGeom>
        </p:spPr>
        <p:txBody>
          <a:bodyPr wrap="square">
            <a:spAutoFit/>
          </a:bodyPr>
          <a:lstStyle/>
          <a:p>
            <a:r>
              <a:rPr lang="en-US" altLang="zh-TW" sz="2800" dirty="0">
                <a:latin typeface="標楷體" pitchFamily="65" charset="-120"/>
                <a:ea typeface="標楷體" pitchFamily="65" charset="-120"/>
              </a:rPr>
              <a:t>3</a:t>
            </a:r>
            <a:r>
              <a:rPr lang="en-US" altLang="zh-CN" sz="2800" dirty="0">
                <a:latin typeface="標楷體" pitchFamily="65" charset="-120"/>
                <a:ea typeface="標楷體" pitchFamily="65" charset="-120"/>
              </a:rPr>
              <a:t>.</a:t>
            </a:r>
            <a:r>
              <a:rPr lang="en-US" altLang="zh-CN" sz="2800" dirty="0"/>
              <a:t> IPC-A-610D </a:t>
            </a:r>
            <a:r>
              <a:rPr lang="zh-CN" altLang="en-US" sz="2800" dirty="0"/>
              <a:t>常用标准的汇总</a:t>
            </a:r>
            <a:endParaRPr lang="en-US" altLang="zh-TW" sz="2800" dirty="0">
              <a:latin typeface="標楷體" pitchFamily="65" charset="-120"/>
              <a:ea typeface="標楷體" pitchFamily="65" charset="-120"/>
            </a:endParaRPr>
          </a:p>
          <a:p>
            <a:r>
              <a:rPr lang="zh-CN" altLang="en-US" dirty="0">
                <a:latin typeface="標楷體" pitchFamily="65" charset="-120"/>
                <a:ea typeface="標楷體" pitchFamily="65" charset="-120"/>
              </a:rPr>
              <a:t> </a:t>
            </a:r>
            <a:endParaRPr lang="zh-TW" altLang="en-US" sz="2800" dirty="0">
              <a:latin typeface="標楷體" pitchFamily="65" charset="-120"/>
              <a:ea typeface="標楷體" pitchFamily="65" charset="-120"/>
            </a:endParaRPr>
          </a:p>
        </p:txBody>
      </p:sp>
      <p:sp>
        <p:nvSpPr>
          <p:cNvPr id="13" name="矩形 12"/>
          <p:cNvSpPr/>
          <p:nvPr/>
        </p:nvSpPr>
        <p:spPr>
          <a:xfrm>
            <a:off x="1428728" y="1000108"/>
            <a:ext cx="6429420" cy="8572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zh-CN" altLang="en-US" dirty="0">
                <a:solidFill>
                  <a:schemeClr val="tx1"/>
                </a:solidFill>
              </a:rPr>
              <a:t>范围：适用于所有项目</a:t>
            </a:r>
            <a:r>
              <a:rPr lang="en-US" altLang="zh-CN" dirty="0">
                <a:solidFill>
                  <a:schemeClr val="tx1"/>
                </a:solidFill>
              </a:rPr>
              <a:t>3</a:t>
            </a:r>
            <a:r>
              <a:rPr lang="zh-CN" altLang="en-US" dirty="0">
                <a:solidFill>
                  <a:schemeClr val="tx1"/>
                </a:solidFill>
              </a:rPr>
              <a:t>级产品</a:t>
            </a:r>
            <a:endParaRPr lang="en-US" altLang="zh-CN" dirty="0">
              <a:solidFill>
                <a:schemeClr val="tx1"/>
              </a:solidFill>
            </a:endParaRPr>
          </a:p>
          <a:p>
            <a:r>
              <a:rPr lang="zh-CN" altLang="en-US" dirty="0">
                <a:solidFill>
                  <a:schemeClr val="tx1"/>
                </a:solidFill>
              </a:rPr>
              <a:t>名词定义：</a:t>
            </a:r>
            <a:r>
              <a:rPr lang="en-US" altLang="zh-CN" dirty="0">
                <a:solidFill>
                  <a:schemeClr val="tx1"/>
                </a:solidFill>
              </a:rPr>
              <a:t>A:acceptance</a:t>
            </a:r>
            <a:r>
              <a:rPr lang="zh-CN" altLang="en-US" dirty="0">
                <a:solidFill>
                  <a:schemeClr val="tx1"/>
                </a:solidFill>
              </a:rPr>
              <a:t>可接受      </a:t>
            </a:r>
            <a:r>
              <a:rPr lang="en-US" altLang="zh-CN" dirty="0">
                <a:solidFill>
                  <a:schemeClr val="tx1"/>
                </a:solidFill>
              </a:rPr>
              <a:t>R</a:t>
            </a:r>
            <a:r>
              <a:rPr lang="zh-CN" altLang="en-US" dirty="0">
                <a:solidFill>
                  <a:schemeClr val="tx1"/>
                </a:solidFill>
              </a:rPr>
              <a:t>：</a:t>
            </a:r>
            <a:r>
              <a:rPr lang="en-US" altLang="zh-CN" dirty="0">
                <a:solidFill>
                  <a:schemeClr val="tx1"/>
                </a:solidFill>
              </a:rPr>
              <a:t>Reject</a:t>
            </a:r>
            <a:r>
              <a:rPr lang="zh-CN" altLang="en-US" dirty="0">
                <a:solidFill>
                  <a:schemeClr val="tx1"/>
                </a:solidFill>
              </a:rPr>
              <a:t>拒收</a:t>
            </a:r>
            <a:endParaRPr lang="zh-TW" altLang="en-US" dirty="0">
              <a:solidFill>
                <a:schemeClr val="tx1"/>
              </a:solidFill>
            </a:endParaRPr>
          </a:p>
        </p:txBody>
      </p:sp>
      <p:pic>
        <p:nvPicPr>
          <p:cNvPr id="14" name="Picture 18"/>
          <p:cNvPicPr>
            <a:picLocks noGrp="1" noChangeAspect="1" noChangeArrowheads="1"/>
          </p:cNvPicPr>
          <p:nvPr>
            <p:ph idx="1"/>
          </p:nvPr>
        </p:nvPicPr>
        <p:blipFill>
          <a:blip r:embed="rId2"/>
          <a:srcRect l="400" t="11048" r="49598" b="61670"/>
          <a:stretch>
            <a:fillRect/>
          </a:stretch>
        </p:blipFill>
        <p:spPr bwMode="auto">
          <a:xfrm>
            <a:off x="1142976" y="1714488"/>
            <a:ext cx="7572428" cy="2512583"/>
          </a:xfrm>
          <a:prstGeom prst="rect">
            <a:avLst/>
          </a:prstGeom>
          <a:noFill/>
          <a:ln w="9525">
            <a:noFill/>
            <a:miter lim="800000"/>
            <a:headEnd/>
            <a:tailEnd/>
          </a:ln>
        </p:spPr>
      </p:pic>
      <p:pic>
        <p:nvPicPr>
          <p:cNvPr id="15" name="Picture 18"/>
          <p:cNvPicPr>
            <a:picLocks noChangeAspect="1" noChangeArrowheads="1"/>
          </p:cNvPicPr>
          <p:nvPr/>
        </p:nvPicPr>
        <p:blipFill>
          <a:blip r:embed="rId2"/>
          <a:srcRect l="37537" t="11875" r="1" b="61670"/>
          <a:stretch>
            <a:fillRect/>
          </a:stretch>
        </p:blipFill>
        <p:spPr bwMode="auto">
          <a:xfrm>
            <a:off x="1071538" y="4286256"/>
            <a:ext cx="7760370" cy="2000264"/>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00100" y="500042"/>
            <a:ext cx="6786610" cy="800219"/>
          </a:xfrm>
          <a:prstGeom prst="rect">
            <a:avLst/>
          </a:prstGeom>
        </p:spPr>
        <p:txBody>
          <a:bodyPr wrap="square">
            <a:spAutoFit/>
          </a:bodyPr>
          <a:lstStyle/>
          <a:p>
            <a:r>
              <a:rPr lang="en-US" altLang="zh-TW" sz="2800" dirty="0">
                <a:latin typeface="標楷體" pitchFamily="65" charset="-120"/>
                <a:ea typeface="標楷體" pitchFamily="65" charset="-120"/>
              </a:rPr>
              <a:t>3</a:t>
            </a:r>
            <a:r>
              <a:rPr lang="en-US" altLang="zh-CN" sz="2800" dirty="0">
                <a:latin typeface="標楷體" pitchFamily="65" charset="-120"/>
                <a:ea typeface="標楷體" pitchFamily="65" charset="-120"/>
              </a:rPr>
              <a:t>.</a:t>
            </a:r>
            <a:r>
              <a:rPr lang="en-US" altLang="zh-CN" sz="2800" dirty="0"/>
              <a:t> IPC-A-610D </a:t>
            </a:r>
            <a:r>
              <a:rPr lang="zh-CN" altLang="en-US" sz="2800" dirty="0"/>
              <a:t>常用标准的汇总</a:t>
            </a:r>
            <a:endParaRPr lang="en-US" altLang="zh-TW" sz="2800" dirty="0">
              <a:latin typeface="標楷體" pitchFamily="65" charset="-120"/>
              <a:ea typeface="標楷體" pitchFamily="65" charset="-120"/>
            </a:endParaRPr>
          </a:p>
          <a:p>
            <a:r>
              <a:rPr lang="zh-CN" altLang="en-US" dirty="0">
                <a:latin typeface="標楷體" pitchFamily="65" charset="-120"/>
                <a:ea typeface="標楷體" pitchFamily="65" charset="-120"/>
              </a:rPr>
              <a:t> </a:t>
            </a:r>
            <a:endParaRPr lang="zh-TW" altLang="en-US" sz="2800" dirty="0">
              <a:latin typeface="標楷體" pitchFamily="65" charset="-120"/>
              <a:ea typeface="標楷體" pitchFamily="65" charset="-120"/>
            </a:endParaRPr>
          </a:p>
        </p:txBody>
      </p:sp>
      <p:pic>
        <p:nvPicPr>
          <p:cNvPr id="7" name="Picture 18"/>
          <p:cNvPicPr>
            <a:picLocks noGrp="1" noChangeAspect="1" noChangeArrowheads="1"/>
          </p:cNvPicPr>
          <p:nvPr>
            <p:ph idx="1"/>
          </p:nvPr>
        </p:nvPicPr>
        <p:blipFill>
          <a:blip r:embed="rId2"/>
          <a:srcRect l="-85" t="39244" r="50074" b="35693"/>
          <a:stretch>
            <a:fillRect/>
          </a:stretch>
        </p:blipFill>
        <p:spPr bwMode="auto">
          <a:xfrm>
            <a:off x="1071538" y="1099441"/>
            <a:ext cx="7643866" cy="2329559"/>
          </a:xfrm>
          <a:prstGeom prst="rect">
            <a:avLst/>
          </a:prstGeom>
          <a:noFill/>
          <a:ln w="9525">
            <a:noFill/>
            <a:miter lim="800000"/>
            <a:headEnd/>
            <a:tailEnd/>
          </a:ln>
        </p:spPr>
      </p:pic>
      <p:pic>
        <p:nvPicPr>
          <p:cNvPr id="8" name="Picture 18"/>
          <p:cNvPicPr>
            <a:picLocks noChangeAspect="1" noChangeArrowheads="1"/>
          </p:cNvPicPr>
          <p:nvPr/>
        </p:nvPicPr>
        <p:blipFill>
          <a:blip r:embed="rId2"/>
          <a:srcRect l="49799" t="39244" r="-285" b="28645"/>
          <a:stretch>
            <a:fillRect/>
          </a:stretch>
        </p:blipFill>
        <p:spPr bwMode="auto">
          <a:xfrm>
            <a:off x="1071537" y="3571876"/>
            <a:ext cx="7757185" cy="3000396"/>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00100" y="500042"/>
            <a:ext cx="6786610" cy="800219"/>
          </a:xfrm>
          <a:prstGeom prst="rect">
            <a:avLst/>
          </a:prstGeom>
        </p:spPr>
        <p:txBody>
          <a:bodyPr wrap="square">
            <a:spAutoFit/>
          </a:bodyPr>
          <a:lstStyle/>
          <a:p>
            <a:r>
              <a:rPr lang="en-US" altLang="zh-TW" sz="2800" dirty="0">
                <a:latin typeface="標楷體" pitchFamily="65" charset="-120"/>
                <a:ea typeface="標楷體" pitchFamily="65" charset="-120"/>
              </a:rPr>
              <a:t>3</a:t>
            </a:r>
            <a:r>
              <a:rPr lang="en-US" altLang="zh-CN" sz="2800" dirty="0">
                <a:latin typeface="標楷體" pitchFamily="65" charset="-120"/>
                <a:ea typeface="標楷體" pitchFamily="65" charset="-120"/>
              </a:rPr>
              <a:t>.</a:t>
            </a:r>
            <a:r>
              <a:rPr lang="en-US" altLang="zh-CN" sz="2800" dirty="0"/>
              <a:t> IPC-A-610D </a:t>
            </a:r>
            <a:r>
              <a:rPr lang="zh-CN" altLang="en-US" sz="2800" dirty="0"/>
              <a:t>常用标准的汇总</a:t>
            </a:r>
            <a:endParaRPr lang="en-US" altLang="zh-TW" sz="2800" dirty="0">
              <a:latin typeface="標楷體" pitchFamily="65" charset="-120"/>
              <a:ea typeface="標楷體" pitchFamily="65" charset="-120"/>
            </a:endParaRPr>
          </a:p>
          <a:p>
            <a:r>
              <a:rPr lang="zh-CN" altLang="en-US" dirty="0">
                <a:latin typeface="標楷體" pitchFamily="65" charset="-120"/>
                <a:ea typeface="標楷體" pitchFamily="65" charset="-120"/>
              </a:rPr>
              <a:t> </a:t>
            </a:r>
            <a:endParaRPr lang="zh-TW" altLang="en-US" sz="2800" dirty="0">
              <a:latin typeface="標楷體" pitchFamily="65" charset="-120"/>
              <a:ea typeface="標楷體" pitchFamily="65" charset="-120"/>
            </a:endParaRPr>
          </a:p>
        </p:txBody>
      </p:sp>
      <p:pic>
        <p:nvPicPr>
          <p:cNvPr id="6" name="Picture 18"/>
          <p:cNvPicPr>
            <a:picLocks noGrp="1" noChangeAspect="1" noChangeArrowheads="1"/>
          </p:cNvPicPr>
          <p:nvPr>
            <p:ph idx="1"/>
          </p:nvPr>
        </p:nvPicPr>
        <p:blipFill>
          <a:blip r:embed="rId2"/>
          <a:srcRect l="-70" t="72139" r="50551"/>
          <a:stretch>
            <a:fillRect/>
          </a:stretch>
        </p:blipFill>
        <p:spPr bwMode="auto">
          <a:xfrm>
            <a:off x="1000100" y="1214422"/>
            <a:ext cx="7307812" cy="2500330"/>
          </a:xfrm>
          <a:prstGeom prst="rect">
            <a:avLst/>
          </a:prstGeom>
          <a:noFill/>
          <a:ln w="9525">
            <a:noFill/>
            <a:miter lim="800000"/>
            <a:headEnd/>
            <a:tailEnd/>
          </a:ln>
        </p:spPr>
      </p:pic>
      <p:pic>
        <p:nvPicPr>
          <p:cNvPr id="10" name="Picture 18"/>
          <p:cNvPicPr>
            <a:picLocks noChangeAspect="1" noChangeArrowheads="1"/>
          </p:cNvPicPr>
          <p:nvPr/>
        </p:nvPicPr>
        <p:blipFill>
          <a:blip r:embed="rId2"/>
          <a:srcRect l="49449" t="72139"/>
          <a:stretch>
            <a:fillRect/>
          </a:stretch>
        </p:blipFill>
        <p:spPr bwMode="auto">
          <a:xfrm>
            <a:off x="1071538" y="3929066"/>
            <a:ext cx="7673143" cy="2571768"/>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00100" y="500042"/>
            <a:ext cx="6786610" cy="800219"/>
          </a:xfrm>
          <a:prstGeom prst="rect">
            <a:avLst/>
          </a:prstGeom>
        </p:spPr>
        <p:txBody>
          <a:bodyPr wrap="square">
            <a:spAutoFit/>
          </a:bodyPr>
          <a:lstStyle/>
          <a:p>
            <a:r>
              <a:rPr lang="en-US" altLang="zh-TW" sz="2800" dirty="0">
                <a:latin typeface="標楷體" pitchFamily="65" charset="-120"/>
                <a:ea typeface="標楷體" pitchFamily="65" charset="-120"/>
              </a:rPr>
              <a:t>3</a:t>
            </a:r>
            <a:r>
              <a:rPr lang="en-US" altLang="zh-CN" sz="2800" dirty="0">
                <a:latin typeface="標楷體" pitchFamily="65" charset="-120"/>
                <a:ea typeface="標楷體" pitchFamily="65" charset="-120"/>
              </a:rPr>
              <a:t>.</a:t>
            </a:r>
            <a:r>
              <a:rPr lang="en-US" altLang="zh-CN" sz="2800" dirty="0"/>
              <a:t> IPC-A-610D </a:t>
            </a:r>
            <a:r>
              <a:rPr lang="zh-CN" altLang="en-US" sz="2800" dirty="0"/>
              <a:t>常用标准的汇总</a:t>
            </a:r>
            <a:endParaRPr lang="en-US" altLang="zh-TW" sz="2800" dirty="0">
              <a:latin typeface="標楷體" pitchFamily="65" charset="-120"/>
              <a:ea typeface="標楷體" pitchFamily="65" charset="-120"/>
            </a:endParaRPr>
          </a:p>
          <a:p>
            <a:r>
              <a:rPr lang="zh-CN" altLang="en-US" dirty="0">
                <a:latin typeface="標楷體" pitchFamily="65" charset="-120"/>
                <a:ea typeface="標楷體" pitchFamily="65" charset="-120"/>
              </a:rPr>
              <a:t> </a:t>
            </a:r>
            <a:endParaRPr lang="zh-TW" altLang="en-US" sz="2800" dirty="0">
              <a:latin typeface="標楷體" pitchFamily="65" charset="-120"/>
              <a:ea typeface="標楷體" pitchFamily="65" charset="-120"/>
            </a:endParaRPr>
          </a:p>
        </p:txBody>
      </p:sp>
      <p:pic>
        <p:nvPicPr>
          <p:cNvPr id="7" name="Picture 3"/>
          <p:cNvPicPr>
            <a:picLocks noChangeAspect="1" noChangeArrowheads="1"/>
          </p:cNvPicPr>
          <p:nvPr/>
        </p:nvPicPr>
        <p:blipFill>
          <a:blip r:embed="rId2"/>
          <a:srcRect t="6494" r="51571" b="65367"/>
          <a:stretch>
            <a:fillRect/>
          </a:stretch>
        </p:blipFill>
        <p:spPr bwMode="auto">
          <a:xfrm>
            <a:off x="1071538" y="1142984"/>
            <a:ext cx="7116281" cy="2500330"/>
          </a:xfrm>
          <a:prstGeom prst="rect">
            <a:avLst/>
          </a:prstGeom>
          <a:noFill/>
          <a:ln w="9525">
            <a:noFill/>
            <a:miter lim="800000"/>
            <a:headEnd/>
            <a:tailEnd/>
          </a:ln>
        </p:spPr>
      </p:pic>
      <p:pic>
        <p:nvPicPr>
          <p:cNvPr id="8" name="Picture 3"/>
          <p:cNvPicPr>
            <a:picLocks noChangeAspect="1" noChangeArrowheads="1"/>
          </p:cNvPicPr>
          <p:nvPr/>
        </p:nvPicPr>
        <p:blipFill>
          <a:blip r:embed="rId2"/>
          <a:srcRect l="49084" t="7576" r="523" b="65367"/>
          <a:stretch>
            <a:fillRect/>
          </a:stretch>
        </p:blipFill>
        <p:spPr bwMode="auto">
          <a:xfrm>
            <a:off x="1071538" y="3929066"/>
            <a:ext cx="7480944" cy="2428892"/>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00100" y="500042"/>
            <a:ext cx="6786610" cy="800219"/>
          </a:xfrm>
          <a:prstGeom prst="rect">
            <a:avLst/>
          </a:prstGeom>
        </p:spPr>
        <p:txBody>
          <a:bodyPr wrap="square">
            <a:spAutoFit/>
          </a:bodyPr>
          <a:lstStyle/>
          <a:p>
            <a:r>
              <a:rPr lang="en-US" altLang="zh-TW" sz="2800" dirty="0">
                <a:latin typeface="標楷體" pitchFamily="65" charset="-120"/>
                <a:ea typeface="標楷體" pitchFamily="65" charset="-120"/>
              </a:rPr>
              <a:t>3</a:t>
            </a:r>
            <a:r>
              <a:rPr lang="en-US" altLang="zh-CN" sz="2800" dirty="0">
                <a:latin typeface="標楷體" pitchFamily="65" charset="-120"/>
                <a:ea typeface="標楷體" pitchFamily="65" charset="-120"/>
              </a:rPr>
              <a:t>.</a:t>
            </a:r>
            <a:r>
              <a:rPr lang="en-US" altLang="zh-CN" sz="2800" dirty="0"/>
              <a:t> IPC-A-610D </a:t>
            </a:r>
            <a:r>
              <a:rPr lang="zh-CN" altLang="en-US" sz="2800" dirty="0"/>
              <a:t>常用标准的汇总</a:t>
            </a:r>
            <a:endParaRPr lang="en-US" altLang="zh-TW" sz="2800" dirty="0">
              <a:latin typeface="標楷體" pitchFamily="65" charset="-120"/>
              <a:ea typeface="標楷體" pitchFamily="65" charset="-120"/>
            </a:endParaRPr>
          </a:p>
          <a:p>
            <a:r>
              <a:rPr lang="zh-CN" altLang="en-US" dirty="0">
                <a:latin typeface="標楷體" pitchFamily="65" charset="-120"/>
                <a:ea typeface="標楷體" pitchFamily="65" charset="-120"/>
              </a:rPr>
              <a:t> </a:t>
            </a:r>
            <a:endParaRPr lang="zh-TW" altLang="en-US" sz="2800" dirty="0">
              <a:latin typeface="標楷體" pitchFamily="65" charset="-120"/>
              <a:ea typeface="標楷體" pitchFamily="65" charset="-120"/>
            </a:endParaRPr>
          </a:p>
        </p:txBody>
      </p:sp>
      <p:pic>
        <p:nvPicPr>
          <p:cNvPr id="5" name="Picture 3"/>
          <p:cNvPicPr>
            <a:picLocks noChangeAspect="1" noChangeArrowheads="1"/>
          </p:cNvPicPr>
          <p:nvPr/>
        </p:nvPicPr>
        <p:blipFill>
          <a:blip r:embed="rId2"/>
          <a:srcRect l="261" t="34848" r="50000" b="39178"/>
          <a:stretch>
            <a:fillRect/>
          </a:stretch>
        </p:blipFill>
        <p:spPr bwMode="auto">
          <a:xfrm>
            <a:off x="1071538" y="1214422"/>
            <a:ext cx="7465271" cy="2357454"/>
          </a:xfrm>
          <a:prstGeom prst="rect">
            <a:avLst/>
          </a:prstGeom>
          <a:noFill/>
          <a:ln w="9525">
            <a:noFill/>
            <a:miter lim="800000"/>
            <a:headEnd/>
            <a:tailEnd/>
          </a:ln>
        </p:spPr>
      </p:pic>
      <p:pic>
        <p:nvPicPr>
          <p:cNvPr id="6" name="Picture 3"/>
          <p:cNvPicPr>
            <a:picLocks noChangeAspect="1" noChangeArrowheads="1"/>
          </p:cNvPicPr>
          <p:nvPr/>
        </p:nvPicPr>
        <p:blipFill>
          <a:blip r:embed="rId2"/>
          <a:srcRect l="50000" t="34848" r="261" b="39178"/>
          <a:stretch>
            <a:fillRect/>
          </a:stretch>
        </p:blipFill>
        <p:spPr bwMode="auto">
          <a:xfrm>
            <a:off x="1107257" y="3714752"/>
            <a:ext cx="7465271" cy="2357454"/>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00100" y="500042"/>
            <a:ext cx="6786610" cy="800219"/>
          </a:xfrm>
          <a:prstGeom prst="rect">
            <a:avLst/>
          </a:prstGeom>
        </p:spPr>
        <p:txBody>
          <a:bodyPr wrap="square">
            <a:spAutoFit/>
          </a:bodyPr>
          <a:lstStyle/>
          <a:p>
            <a:r>
              <a:rPr lang="en-US" altLang="zh-TW" sz="2800" dirty="0">
                <a:latin typeface="標楷體" pitchFamily="65" charset="-120"/>
                <a:ea typeface="標楷體" pitchFamily="65" charset="-120"/>
              </a:rPr>
              <a:t>3</a:t>
            </a:r>
            <a:r>
              <a:rPr lang="en-US" altLang="zh-CN" sz="2800" dirty="0">
                <a:latin typeface="標楷體" pitchFamily="65" charset="-120"/>
                <a:ea typeface="標楷體" pitchFamily="65" charset="-120"/>
              </a:rPr>
              <a:t>.</a:t>
            </a:r>
            <a:r>
              <a:rPr lang="en-US" altLang="zh-CN" sz="2800" dirty="0"/>
              <a:t> IPC-A-610D </a:t>
            </a:r>
            <a:r>
              <a:rPr lang="zh-CN" altLang="en-US" sz="2800" dirty="0"/>
              <a:t>常用标准的汇总</a:t>
            </a:r>
            <a:endParaRPr lang="en-US" altLang="zh-TW" sz="2800" dirty="0">
              <a:latin typeface="標楷體" pitchFamily="65" charset="-120"/>
              <a:ea typeface="標楷體" pitchFamily="65" charset="-120"/>
            </a:endParaRPr>
          </a:p>
          <a:p>
            <a:r>
              <a:rPr lang="zh-CN" altLang="en-US" dirty="0">
                <a:latin typeface="標楷體" pitchFamily="65" charset="-120"/>
                <a:ea typeface="標楷體" pitchFamily="65" charset="-120"/>
              </a:rPr>
              <a:t> </a:t>
            </a:r>
            <a:endParaRPr lang="zh-TW" altLang="en-US" sz="2800" dirty="0">
              <a:latin typeface="標楷體" pitchFamily="65" charset="-120"/>
              <a:ea typeface="標楷體" pitchFamily="65" charset="-120"/>
            </a:endParaRPr>
          </a:p>
        </p:txBody>
      </p:sp>
      <p:pic>
        <p:nvPicPr>
          <p:cNvPr id="7" name="Picture 3"/>
          <p:cNvPicPr>
            <a:picLocks noChangeAspect="1" noChangeArrowheads="1"/>
          </p:cNvPicPr>
          <p:nvPr/>
        </p:nvPicPr>
        <p:blipFill>
          <a:blip r:embed="rId2"/>
          <a:srcRect l="-393" t="64069" r="49913" b="6566"/>
          <a:stretch>
            <a:fillRect/>
          </a:stretch>
        </p:blipFill>
        <p:spPr bwMode="auto">
          <a:xfrm>
            <a:off x="1071538" y="1142983"/>
            <a:ext cx="7215238" cy="2538117"/>
          </a:xfrm>
          <a:prstGeom prst="rect">
            <a:avLst/>
          </a:prstGeom>
          <a:noFill/>
          <a:ln w="9525">
            <a:noFill/>
            <a:miter lim="800000"/>
            <a:headEnd/>
            <a:tailEnd/>
          </a:ln>
        </p:spPr>
      </p:pic>
      <p:pic>
        <p:nvPicPr>
          <p:cNvPr id="8" name="Picture 3"/>
          <p:cNvPicPr>
            <a:picLocks noChangeAspect="1" noChangeArrowheads="1"/>
          </p:cNvPicPr>
          <p:nvPr/>
        </p:nvPicPr>
        <p:blipFill>
          <a:blip r:embed="rId2"/>
          <a:srcRect l="50000" t="62987" r="-18064" b="-866"/>
          <a:stretch>
            <a:fillRect/>
          </a:stretch>
        </p:blipFill>
        <p:spPr bwMode="auto">
          <a:xfrm>
            <a:off x="1142976" y="3929066"/>
            <a:ext cx="7854098" cy="2643206"/>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3"/>
          <p:cNvSpPr txBox="1">
            <a:spLocks noChangeArrowheads="1"/>
          </p:cNvSpPr>
          <p:nvPr/>
        </p:nvSpPr>
        <p:spPr bwMode="auto">
          <a:xfrm>
            <a:off x="3571868" y="2643182"/>
            <a:ext cx="2160588" cy="1108075"/>
          </a:xfrm>
          <a:prstGeom prst="rect">
            <a:avLst/>
          </a:prstGeom>
          <a:noFill/>
          <a:ln w="9525">
            <a:noFill/>
            <a:miter lim="800000"/>
            <a:headEnd/>
            <a:tailEnd/>
          </a:ln>
        </p:spPr>
        <p:txBody>
          <a:bodyPr wrap="none">
            <a:spAutoFit/>
          </a:bodyPr>
          <a:lstStyle/>
          <a:p>
            <a:r>
              <a:rPr lang="zh-CN" altLang="en-US" sz="6600" dirty="0"/>
              <a:t>谢谢</a:t>
            </a:r>
            <a:r>
              <a:rPr lang="en-US" altLang="zh-CN" sz="6600" dirty="0"/>
              <a:t>!</a:t>
            </a:r>
            <a:endParaRPr lang="zh-CN" altLang="en-US" sz="66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夏至">
  <a:themeElements>
    <a:clrScheme name="鳳舞九天">
      <a:dk1>
        <a:sysClr val="windowText" lastClr="000000"/>
      </a:dk1>
      <a:lt1>
        <a:sysClr val="window" lastClr="FFFFFF"/>
      </a:lt1>
      <a:dk2>
        <a:srgbClr val="004646"/>
      </a:dk2>
      <a:lt2>
        <a:srgbClr val="E1F0FF"/>
      </a:lt2>
      <a:accent1>
        <a:srgbClr val="50742F"/>
      </a:accent1>
      <a:accent2>
        <a:srgbClr val="268868"/>
      </a:accent2>
      <a:accent3>
        <a:srgbClr val="33BD56"/>
      </a:accent3>
      <a:accent4>
        <a:srgbClr val="4BC5B9"/>
      </a:accent4>
      <a:accent5>
        <a:srgbClr val="3163CA"/>
      </a:accent5>
      <a:accent6>
        <a:srgbClr val="4B14AA"/>
      </a:accent6>
      <a:hlink>
        <a:srgbClr val="D9BE02"/>
      </a:hlink>
      <a:folHlink>
        <a:srgbClr val="F900F9"/>
      </a:folHlink>
    </a:clrScheme>
    <a:fontScheme name="夏至">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夏至">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290</TotalTime>
  <Words>4459</Words>
  <Application>Microsoft Office PowerPoint</Application>
  <PresentationFormat>如螢幕大小 (4:3)</PresentationFormat>
  <Paragraphs>205</Paragraphs>
  <Slides>38</Slides>
  <Notes>0</Notes>
  <HiddenSlides>0</HiddenSlides>
  <MMClips>0</MMClips>
  <ScaleCrop>false</ScaleCrop>
  <HeadingPairs>
    <vt:vector size="4" baseType="variant">
      <vt:variant>
        <vt:lpstr>佈景主題</vt:lpstr>
      </vt:variant>
      <vt:variant>
        <vt:i4>1</vt:i4>
      </vt:variant>
      <vt:variant>
        <vt:lpstr>投影片標題</vt:lpstr>
      </vt:variant>
      <vt:variant>
        <vt:i4>38</vt:i4>
      </vt:variant>
    </vt:vector>
  </HeadingPairs>
  <TitlesOfParts>
    <vt:vector size="39" baseType="lpstr">
      <vt:lpstr>夏至</vt:lpstr>
      <vt:lpstr>群焊工艺及焊接标准</vt:lpstr>
      <vt:lpstr>一.无铅波峰群焊工艺及调试</vt:lpstr>
      <vt:lpstr>1.波峰焊接工艺流程</vt:lpstr>
      <vt:lpstr>2.机 体 水 平</vt:lpstr>
      <vt:lpstr>3.轨 道 水 平</vt:lpstr>
      <vt:lpstr>4.锡槽水平</vt:lpstr>
      <vt:lpstr>5.助焊剂</vt:lpstr>
      <vt:lpstr>5.导轨宽度</vt:lpstr>
      <vt:lpstr>6.运输速度</vt:lpstr>
      <vt:lpstr>7.预热温度</vt:lpstr>
      <vt:lpstr>8.锡炉温度</vt:lpstr>
      <vt:lpstr>9.焊料波峰的形态</vt:lpstr>
      <vt:lpstr>10.传送角度</vt:lpstr>
      <vt:lpstr>11. PCB吃锡深度</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IPC-7530 CN</dc:title>
  <dc:creator>Administrator</dc:creator>
  <cp:lastModifiedBy>Windows User</cp:lastModifiedBy>
  <cp:revision>16</cp:revision>
  <dcterms:created xsi:type="dcterms:W3CDTF">2025-02-13T03:52:27Z</dcterms:created>
  <dcterms:modified xsi:type="dcterms:W3CDTF">2026-05-11T03:24:22Z</dcterms:modified>
</cp:coreProperties>
</file>