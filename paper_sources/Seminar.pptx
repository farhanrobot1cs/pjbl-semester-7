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6"/>
  </p:notesMasterIdLst>
  <p:sldIdLst>
    <p:sldId id="256" r:id="rId2"/>
    <p:sldId id="257" r:id="rId3"/>
    <p:sldId id="259" r:id="rId4"/>
    <p:sldId id="261" r:id="rId5"/>
    <p:sldId id="264" r:id="rId6"/>
    <p:sldId id="265" r:id="rId7"/>
    <p:sldId id="266" r:id="rId8"/>
    <p:sldId id="263" r:id="rId9"/>
    <p:sldId id="267" r:id="rId10"/>
    <p:sldId id="271" r:id="rId11"/>
    <p:sldId id="262" r:id="rId12"/>
    <p:sldId id="268" r:id="rId13"/>
    <p:sldId id="269"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E0645E-9F9B-4492-8A6F-1C3D0FED93A2}" v="54" dt="2025-08-19T10:40:18.005"/>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D687B8-BD8A-445B-B7AA-037BFFBBBCCF}" type="doc">
      <dgm:prSet loTypeId="urn:microsoft.com/office/officeart/2005/8/layout/list1" loCatId="list" qsTypeId="urn:microsoft.com/office/officeart/2005/8/quickstyle/simple4" qsCatId="simple" csTypeId="urn:microsoft.com/office/officeart/2005/8/colors/colorful5" csCatId="colorful"/>
      <dgm:spPr/>
      <dgm:t>
        <a:bodyPr/>
        <a:lstStyle/>
        <a:p>
          <a:endParaRPr lang="en-US"/>
        </a:p>
      </dgm:t>
    </dgm:pt>
    <dgm:pt modelId="{0239453A-DECA-4880-B6A6-A113439E75AA}">
      <dgm:prSet/>
      <dgm:spPr/>
      <dgm:t>
        <a:bodyPr/>
        <a:lstStyle/>
        <a:p>
          <a:r>
            <a:rPr lang="en-US"/>
            <a:t>Introduction</a:t>
          </a:r>
        </a:p>
      </dgm:t>
    </dgm:pt>
    <dgm:pt modelId="{4D423ECB-09A2-4112-91C0-6B0B64AE96C3}" type="parTrans" cxnId="{5335E6C2-195D-4E1D-B241-463C3C8B18C3}">
      <dgm:prSet/>
      <dgm:spPr/>
      <dgm:t>
        <a:bodyPr/>
        <a:lstStyle/>
        <a:p>
          <a:endParaRPr lang="en-US"/>
        </a:p>
      </dgm:t>
    </dgm:pt>
    <dgm:pt modelId="{2D894754-0510-4C37-BE82-0245B8DAED00}" type="sibTrans" cxnId="{5335E6C2-195D-4E1D-B241-463C3C8B18C3}">
      <dgm:prSet/>
      <dgm:spPr/>
      <dgm:t>
        <a:bodyPr/>
        <a:lstStyle/>
        <a:p>
          <a:endParaRPr lang="en-US"/>
        </a:p>
      </dgm:t>
    </dgm:pt>
    <dgm:pt modelId="{A7F735FF-40D7-48B7-A73E-F0CFBC2E47FB}">
      <dgm:prSet/>
      <dgm:spPr/>
      <dgm:t>
        <a:bodyPr/>
        <a:lstStyle/>
        <a:p>
          <a:r>
            <a:rPr lang="en-US" dirty="0"/>
            <a:t>Dataset Preparation and ROI Extraction</a:t>
          </a:r>
        </a:p>
      </dgm:t>
    </dgm:pt>
    <dgm:pt modelId="{5C32BBD7-0B5D-4A2E-9C9A-F271B28E7D38}" type="parTrans" cxnId="{B47B94A7-AF56-44DA-B224-E034B802F00D}">
      <dgm:prSet/>
      <dgm:spPr/>
      <dgm:t>
        <a:bodyPr/>
        <a:lstStyle/>
        <a:p>
          <a:endParaRPr lang="en-US"/>
        </a:p>
      </dgm:t>
    </dgm:pt>
    <dgm:pt modelId="{2EE4E408-FD32-4F84-85C5-290530655E73}" type="sibTrans" cxnId="{B47B94A7-AF56-44DA-B224-E034B802F00D}">
      <dgm:prSet/>
      <dgm:spPr/>
      <dgm:t>
        <a:bodyPr/>
        <a:lstStyle/>
        <a:p>
          <a:endParaRPr lang="en-US"/>
        </a:p>
      </dgm:t>
    </dgm:pt>
    <dgm:pt modelId="{99E5754E-4524-4C78-A70D-B90E441CE0CD}">
      <dgm:prSet/>
      <dgm:spPr/>
      <dgm:t>
        <a:bodyPr/>
        <a:lstStyle/>
        <a:p>
          <a:r>
            <a:rPr lang="en-US" dirty="0"/>
            <a:t>YOLO-Based Solder Joint Classification</a:t>
          </a:r>
        </a:p>
      </dgm:t>
    </dgm:pt>
    <dgm:pt modelId="{CECC8345-3B99-43A0-9DD9-106A06062C5B}" type="parTrans" cxnId="{72E0CC9C-4BFB-4AC6-BD3D-E1FFB1B47A58}">
      <dgm:prSet/>
      <dgm:spPr/>
      <dgm:t>
        <a:bodyPr/>
        <a:lstStyle/>
        <a:p>
          <a:endParaRPr lang="en-US"/>
        </a:p>
      </dgm:t>
    </dgm:pt>
    <dgm:pt modelId="{E066C2AC-8A4D-4DB1-BACB-00A0943D90BE}" type="sibTrans" cxnId="{72E0CC9C-4BFB-4AC6-BD3D-E1FFB1B47A58}">
      <dgm:prSet/>
      <dgm:spPr/>
      <dgm:t>
        <a:bodyPr/>
        <a:lstStyle/>
        <a:p>
          <a:endParaRPr lang="en-US"/>
        </a:p>
      </dgm:t>
    </dgm:pt>
    <dgm:pt modelId="{B5710EA7-B809-4980-87E0-A44F1F0E24E4}">
      <dgm:prSet/>
      <dgm:spPr/>
      <dgm:t>
        <a:bodyPr/>
        <a:lstStyle/>
        <a:p>
          <a:r>
            <a:rPr lang="en-US"/>
            <a:t>Conclusion</a:t>
          </a:r>
        </a:p>
      </dgm:t>
    </dgm:pt>
    <dgm:pt modelId="{F7FB8E16-3216-4F19-8A0B-04BCCD25E952}" type="parTrans" cxnId="{0982BC5A-7410-46B2-994B-E90C9D614717}">
      <dgm:prSet/>
      <dgm:spPr/>
      <dgm:t>
        <a:bodyPr/>
        <a:lstStyle/>
        <a:p>
          <a:endParaRPr lang="en-US"/>
        </a:p>
      </dgm:t>
    </dgm:pt>
    <dgm:pt modelId="{026DCF79-1C06-493A-86DF-06AEAD499222}" type="sibTrans" cxnId="{0982BC5A-7410-46B2-994B-E90C9D614717}">
      <dgm:prSet/>
      <dgm:spPr/>
      <dgm:t>
        <a:bodyPr/>
        <a:lstStyle/>
        <a:p>
          <a:endParaRPr lang="en-US"/>
        </a:p>
      </dgm:t>
    </dgm:pt>
    <dgm:pt modelId="{7AC50055-6027-4879-BCDD-D59893DFBA29}" type="pres">
      <dgm:prSet presAssocID="{C0D687B8-BD8A-445B-B7AA-037BFFBBBCCF}" presName="linear" presStyleCnt="0">
        <dgm:presLayoutVars>
          <dgm:dir/>
          <dgm:animLvl val="lvl"/>
          <dgm:resizeHandles val="exact"/>
        </dgm:presLayoutVars>
      </dgm:prSet>
      <dgm:spPr/>
    </dgm:pt>
    <dgm:pt modelId="{A21BA071-9CD1-4F2F-948F-4FB161CB2CA9}" type="pres">
      <dgm:prSet presAssocID="{0239453A-DECA-4880-B6A6-A113439E75AA}" presName="parentLin" presStyleCnt="0"/>
      <dgm:spPr/>
    </dgm:pt>
    <dgm:pt modelId="{12180BAA-DC71-437F-A892-E7A7B18F1D19}" type="pres">
      <dgm:prSet presAssocID="{0239453A-DECA-4880-B6A6-A113439E75AA}" presName="parentLeftMargin" presStyleLbl="node1" presStyleIdx="0" presStyleCnt="4"/>
      <dgm:spPr/>
    </dgm:pt>
    <dgm:pt modelId="{D40D50AA-972D-4431-A9A0-B668EC66EAFE}" type="pres">
      <dgm:prSet presAssocID="{0239453A-DECA-4880-B6A6-A113439E75AA}" presName="parentText" presStyleLbl="node1" presStyleIdx="0" presStyleCnt="4">
        <dgm:presLayoutVars>
          <dgm:chMax val="0"/>
          <dgm:bulletEnabled val="1"/>
        </dgm:presLayoutVars>
      </dgm:prSet>
      <dgm:spPr/>
    </dgm:pt>
    <dgm:pt modelId="{484F06AD-746C-4386-9EFC-01E3969EA053}" type="pres">
      <dgm:prSet presAssocID="{0239453A-DECA-4880-B6A6-A113439E75AA}" presName="negativeSpace" presStyleCnt="0"/>
      <dgm:spPr/>
    </dgm:pt>
    <dgm:pt modelId="{F36C09CF-CEAC-4D2B-97CD-57AF662F940D}" type="pres">
      <dgm:prSet presAssocID="{0239453A-DECA-4880-B6A6-A113439E75AA}" presName="childText" presStyleLbl="conFgAcc1" presStyleIdx="0" presStyleCnt="4">
        <dgm:presLayoutVars>
          <dgm:bulletEnabled val="1"/>
        </dgm:presLayoutVars>
      </dgm:prSet>
      <dgm:spPr/>
    </dgm:pt>
    <dgm:pt modelId="{7F8D8E81-2ADE-451F-B3F7-79E3F79C6235}" type="pres">
      <dgm:prSet presAssocID="{2D894754-0510-4C37-BE82-0245B8DAED00}" presName="spaceBetweenRectangles" presStyleCnt="0"/>
      <dgm:spPr/>
    </dgm:pt>
    <dgm:pt modelId="{7705E044-723B-4737-A83E-D84C6DB98BB7}" type="pres">
      <dgm:prSet presAssocID="{A7F735FF-40D7-48B7-A73E-F0CFBC2E47FB}" presName="parentLin" presStyleCnt="0"/>
      <dgm:spPr/>
    </dgm:pt>
    <dgm:pt modelId="{88DA059E-EFFC-4AAF-BF4E-01A1837BD71A}" type="pres">
      <dgm:prSet presAssocID="{A7F735FF-40D7-48B7-A73E-F0CFBC2E47FB}" presName="parentLeftMargin" presStyleLbl="node1" presStyleIdx="0" presStyleCnt="4"/>
      <dgm:spPr/>
    </dgm:pt>
    <dgm:pt modelId="{2AD8F21B-3CF8-4474-8FA2-64357563059B}" type="pres">
      <dgm:prSet presAssocID="{A7F735FF-40D7-48B7-A73E-F0CFBC2E47FB}" presName="parentText" presStyleLbl="node1" presStyleIdx="1" presStyleCnt="4">
        <dgm:presLayoutVars>
          <dgm:chMax val="0"/>
          <dgm:bulletEnabled val="1"/>
        </dgm:presLayoutVars>
      </dgm:prSet>
      <dgm:spPr/>
    </dgm:pt>
    <dgm:pt modelId="{524ACD6A-0580-4D9A-86E1-E677FC6A6F12}" type="pres">
      <dgm:prSet presAssocID="{A7F735FF-40D7-48B7-A73E-F0CFBC2E47FB}" presName="negativeSpace" presStyleCnt="0"/>
      <dgm:spPr/>
    </dgm:pt>
    <dgm:pt modelId="{1D94D89D-A6FD-4D76-A786-016E038F4926}" type="pres">
      <dgm:prSet presAssocID="{A7F735FF-40D7-48B7-A73E-F0CFBC2E47FB}" presName="childText" presStyleLbl="conFgAcc1" presStyleIdx="1" presStyleCnt="4">
        <dgm:presLayoutVars>
          <dgm:bulletEnabled val="1"/>
        </dgm:presLayoutVars>
      </dgm:prSet>
      <dgm:spPr/>
    </dgm:pt>
    <dgm:pt modelId="{0B6AD12E-1ECF-41D2-B94E-2DCC1776C703}" type="pres">
      <dgm:prSet presAssocID="{2EE4E408-FD32-4F84-85C5-290530655E73}" presName="spaceBetweenRectangles" presStyleCnt="0"/>
      <dgm:spPr/>
    </dgm:pt>
    <dgm:pt modelId="{241A6464-160F-4686-99FD-1F81FDB8BF57}" type="pres">
      <dgm:prSet presAssocID="{99E5754E-4524-4C78-A70D-B90E441CE0CD}" presName="parentLin" presStyleCnt="0"/>
      <dgm:spPr/>
    </dgm:pt>
    <dgm:pt modelId="{63E8ABC2-7141-4DE1-99FC-52C643C341AE}" type="pres">
      <dgm:prSet presAssocID="{99E5754E-4524-4C78-A70D-B90E441CE0CD}" presName="parentLeftMargin" presStyleLbl="node1" presStyleIdx="1" presStyleCnt="4"/>
      <dgm:spPr/>
    </dgm:pt>
    <dgm:pt modelId="{0C82CD92-61AE-4708-9330-1474B36BF732}" type="pres">
      <dgm:prSet presAssocID="{99E5754E-4524-4C78-A70D-B90E441CE0CD}" presName="parentText" presStyleLbl="node1" presStyleIdx="2" presStyleCnt="4">
        <dgm:presLayoutVars>
          <dgm:chMax val="0"/>
          <dgm:bulletEnabled val="1"/>
        </dgm:presLayoutVars>
      </dgm:prSet>
      <dgm:spPr/>
    </dgm:pt>
    <dgm:pt modelId="{EBFAC5DC-E7A0-42EB-8975-A1791D85D6AB}" type="pres">
      <dgm:prSet presAssocID="{99E5754E-4524-4C78-A70D-B90E441CE0CD}" presName="negativeSpace" presStyleCnt="0"/>
      <dgm:spPr/>
    </dgm:pt>
    <dgm:pt modelId="{1826193A-9C1E-4F5B-AA64-FEDF4448C59E}" type="pres">
      <dgm:prSet presAssocID="{99E5754E-4524-4C78-A70D-B90E441CE0CD}" presName="childText" presStyleLbl="conFgAcc1" presStyleIdx="2" presStyleCnt="4">
        <dgm:presLayoutVars>
          <dgm:bulletEnabled val="1"/>
        </dgm:presLayoutVars>
      </dgm:prSet>
      <dgm:spPr/>
    </dgm:pt>
    <dgm:pt modelId="{BFC14B2F-C07C-4278-90E4-7D07439BEFBC}" type="pres">
      <dgm:prSet presAssocID="{E066C2AC-8A4D-4DB1-BACB-00A0943D90BE}" presName="spaceBetweenRectangles" presStyleCnt="0"/>
      <dgm:spPr/>
    </dgm:pt>
    <dgm:pt modelId="{CCD9B7D3-D721-4AE0-9FF7-7E68BD66EFFF}" type="pres">
      <dgm:prSet presAssocID="{B5710EA7-B809-4980-87E0-A44F1F0E24E4}" presName="parentLin" presStyleCnt="0"/>
      <dgm:spPr/>
    </dgm:pt>
    <dgm:pt modelId="{CDCA125C-B1C9-4CDE-B6C6-AD4F3001D4C6}" type="pres">
      <dgm:prSet presAssocID="{B5710EA7-B809-4980-87E0-A44F1F0E24E4}" presName="parentLeftMargin" presStyleLbl="node1" presStyleIdx="2" presStyleCnt="4"/>
      <dgm:spPr/>
    </dgm:pt>
    <dgm:pt modelId="{D4AF2EB0-23E9-4C30-B886-98E1DBF2DBEC}" type="pres">
      <dgm:prSet presAssocID="{B5710EA7-B809-4980-87E0-A44F1F0E24E4}" presName="parentText" presStyleLbl="node1" presStyleIdx="3" presStyleCnt="4">
        <dgm:presLayoutVars>
          <dgm:chMax val="0"/>
          <dgm:bulletEnabled val="1"/>
        </dgm:presLayoutVars>
      </dgm:prSet>
      <dgm:spPr/>
    </dgm:pt>
    <dgm:pt modelId="{CC16B466-1697-46F2-9D75-0F0F3817EF1C}" type="pres">
      <dgm:prSet presAssocID="{B5710EA7-B809-4980-87E0-A44F1F0E24E4}" presName="negativeSpace" presStyleCnt="0"/>
      <dgm:spPr/>
    </dgm:pt>
    <dgm:pt modelId="{E41B2963-7CBA-490C-B2B9-AE6A11E3E980}" type="pres">
      <dgm:prSet presAssocID="{B5710EA7-B809-4980-87E0-A44F1F0E24E4}" presName="childText" presStyleLbl="conFgAcc1" presStyleIdx="3" presStyleCnt="4">
        <dgm:presLayoutVars>
          <dgm:bulletEnabled val="1"/>
        </dgm:presLayoutVars>
      </dgm:prSet>
      <dgm:spPr/>
    </dgm:pt>
  </dgm:ptLst>
  <dgm:cxnLst>
    <dgm:cxn modelId="{8B1D7522-F963-48F9-B04E-5AA0461CD1AC}" type="presOf" srcId="{B5710EA7-B809-4980-87E0-A44F1F0E24E4}" destId="{CDCA125C-B1C9-4CDE-B6C6-AD4F3001D4C6}" srcOrd="0" destOrd="0" presId="urn:microsoft.com/office/officeart/2005/8/layout/list1"/>
    <dgm:cxn modelId="{BB13A128-60CE-472F-AFF3-1A23DF470C1E}" type="presOf" srcId="{A7F735FF-40D7-48B7-A73E-F0CFBC2E47FB}" destId="{88DA059E-EFFC-4AAF-BF4E-01A1837BD71A}" srcOrd="0" destOrd="0" presId="urn:microsoft.com/office/officeart/2005/8/layout/list1"/>
    <dgm:cxn modelId="{8FF84B4F-45E4-4F99-8399-C2197763D4C1}" type="presOf" srcId="{0239453A-DECA-4880-B6A6-A113439E75AA}" destId="{D40D50AA-972D-4431-A9A0-B668EC66EAFE}" srcOrd="1" destOrd="0" presId="urn:microsoft.com/office/officeart/2005/8/layout/list1"/>
    <dgm:cxn modelId="{0982BC5A-7410-46B2-994B-E90C9D614717}" srcId="{C0D687B8-BD8A-445B-B7AA-037BFFBBBCCF}" destId="{B5710EA7-B809-4980-87E0-A44F1F0E24E4}" srcOrd="3" destOrd="0" parTransId="{F7FB8E16-3216-4F19-8A0B-04BCCD25E952}" sibTransId="{026DCF79-1C06-493A-86DF-06AEAD499222}"/>
    <dgm:cxn modelId="{F9B69A83-0779-476A-807A-86C033470AA3}" type="presOf" srcId="{C0D687B8-BD8A-445B-B7AA-037BFFBBBCCF}" destId="{7AC50055-6027-4879-BCDD-D59893DFBA29}" srcOrd="0" destOrd="0" presId="urn:microsoft.com/office/officeart/2005/8/layout/list1"/>
    <dgm:cxn modelId="{72E0CC9C-4BFB-4AC6-BD3D-E1FFB1B47A58}" srcId="{C0D687B8-BD8A-445B-B7AA-037BFFBBBCCF}" destId="{99E5754E-4524-4C78-A70D-B90E441CE0CD}" srcOrd="2" destOrd="0" parTransId="{CECC8345-3B99-43A0-9DD9-106A06062C5B}" sibTransId="{E066C2AC-8A4D-4DB1-BACB-00A0943D90BE}"/>
    <dgm:cxn modelId="{417201A7-8D8B-40C3-BFBE-F4FEBFC85CCE}" type="presOf" srcId="{99E5754E-4524-4C78-A70D-B90E441CE0CD}" destId="{63E8ABC2-7141-4DE1-99FC-52C643C341AE}" srcOrd="0" destOrd="0" presId="urn:microsoft.com/office/officeart/2005/8/layout/list1"/>
    <dgm:cxn modelId="{B47B94A7-AF56-44DA-B224-E034B802F00D}" srcId="{C0D687B8-BD8A-445B-B7AA-037BFFBBBCCF}" destId="{A7F735FF-40D7-48B7-A73E-F0CFBC2E47FB}" srcOrd="1" destOrd="0" parTransId="{5C32BBD7-0B5D-4A2E-9C9A-F271B28E7D38}" sibTransId="{2EE4E408-FD32-4F84-85C5-290530655E73}"/>
    <dgm:cxn modelId="{5335E6C2-195D-4E1D-B241-463C3C8B18C3}" srcId="{C0D687B8-BD8A-445B-B7AA-037BFFBBBCCF}" destId="{0239453A-DECA-4880-B6A6-A113439E75AA}" srcOrd="0" destOrd="0" parTransId="{4D423ECB-09A2-4112-91C0-6B0B64AE96C3}" sibTransId="{2D894754-0510-4C37-BE82-0245B8DAED00}"/>
    <dgm:cxn modelId="{9AF01FC4-75E1-4FA8-AEAA-2319DD5D4B20}" type="presOf" srcId="{99E5754E-4524-4C78-A70D-B90E441CE0CD}" destId="{0C82CD92-61AE-4708-9330-1474B36BF732}" srcOrd="1" destOrd="0" presId="urn:microsoft.com/office/officeart/2005/8/layout/list1"/>
    <dgm:cxn modelId="{46A6FFCA-C2EB-41FC-8294-7233F9283981}" type="presOf" srcId="{A7F735FF-40D7-48B7-A73E-F0CFBC2E47FB}" destId="{2AD8F21B-3CF8-4474-8FA2-64357563059B}" srcOrd="1" destOrd="0" presId="urn:microsoft.com/office/officeart/2005/8/layout/list1"/>
    <dgm:cxn modelId="{714005EC-292B-4768-9C12-0A6ECEDA7B26}" type="presOf" srcId="{B5710EA7-B809-4980-87E0-A44F1F0E24E4}" destId="{D4AF2EB0-23E9-4C30-B886-98E1DBF2DBEC}" srcOrd="1" destOrd="0" presId="urn:microsoft.com/office/officeart/2005/8/layout/list1"/>
    <dgm:cxn modelId="{96F115F7-A592-42D2-9E08-40E9FDF58904}" type="presOf" srcId="{0239453A-DECA-4880-B6A6-A113439E75AA}" destId="{12180BAA-DC71-437F-A892-E7A7B18F1D19}" srcOrd="0" destOrd="0" presId="urn:microsoft.com/office/officeart/2005/8/layout/list1"/>
    <dgm:cxn modelId="{DEC03782-129B-454C-9612-1B0373237220}" type="presParOf" srcId="{7AC50055-6027-4879-BCDD-D59893DFBA29}" destId="{A21BA071-9CD1-4F2F-948F-4FB161CB2CA9}" srcOrd="0" destOrd="0" presId="urn:microsoft.com/office/officeart/2005/8/layout/list1"/>
    <dgm:cxn modelId="{3CBB70FF-50B5-448E-9444-B910E967C4DA}" type="presParOf" srcId="{A21BA071-9CD1-4F2F-948F-4FB161CB2CA9}" destId="{12180BAA-DC71-437F-A892-E7A7B18F1D19}" srcOrd="0" destOrd="0" presId="urn:microsoft.com/office/officeart/2005/8/layout/list1"/>
    <dgm:cxn modelId="{B13E6EE1-EF46-4CC9-96F2-89FFCCB70031}" type="presParOf" srcId="{A21BA071-9CD1-4F2F-948F-4FB161CB2CA9}" destId="{D40D50AA-972D-4431-A9A0-B668EC66EAFE}" srcOrd="1" destOrd="0" presId="urn:microsoft.com/office/officeart/2005/8/layout/list1"/>
    <dgm:cxn modelId="{1187E4F1-1669-4F5B-9F75-95611A9A5BD8}" type="presParOf" srcId="{7AC50055-6027-4879-BCDD-D59893DFBA29}" destId="{484F06AD-746C-4386-9EFC-01E3969EA053}" srcOrd="1" destOrd="0" presId="urn:microsoft.com/office/officeart/2005/8/layout/list1"/>
    <dgm:cxn modelId="{27830DB2-4D72-4A56-BD75-4A8415031C29}" type="presParOf" srcId="{7AC50055-6027-4879-BCDD-D59893DFBA29}" destId="{F36C09CF-CEAC-4D2B-97CD-57AF662F940D}" srcOrd="2" destOrd="0" presId="urn:microsoft.com/office/officeart/2005/8/layout/list1"/>
    <dgm:cxn modelId="{B535908D-6322-4A06-A446-3BF14237B5A5}" type="presParOf" srcId="{7AC50055-6027-4879-BCDD-D59893DFBA29}" destId="{7F8D8E81-2ADE-451F-B3F7-79E3F79C6235}" srcOrd="3" destOrd="0" presId="urn:microsoft.com/office/officeart/2005/8/layout/list1"/>
    <dgm:cxn modelId="{8BCF2C60-756F-45E2-A103-A3E7323DBAA2}" type="presParOf" srcId="{7AC50055-6027-4879-BCDD-D59893DFBA29}" destId="{7705E044-723B-4737-A83E-D84C6DB98BB7}" srcOrd="4" destOrd="0" presId="urn:microsoft.com/office/officeart/2005/8/layout/list1"/>
    <dgm:cxn modelId="{A346FB5A-C829-4774-B099-2F78F4116630}" type="presParOf" srcId="{7705E044-723B-4737-A83E-D84C6DB98BB7}" destId="{88DA059E-EFFC-4AAF-BF4E-01A1837BD71A}" srcOrd="0" destOrd="0" presId="urn:microsoft.com/office/officeart/2005/8/layout/list1"/>
    <dgm:cxn modelId="{EB2D6BF8-39CD-4DA7-BCB4-49E70052CD53}" type="presParOf" srcId="{7705E044-723B-4737-A83E-D84C6DB98BB7}" destId="{2AD8F21B-3CF8-4474-8FA2-64357563059B}" srcOrd="1" destOrd="0" presId="urn:microsoft.com/office/officeart/2005/8/layout/list1"/>
    <dgm:cxn modelId="{A2C983E3-5A98-47B5-BCF1-FF449767884D}" type="presParOf" srcId="{7AC50055-6027-4879-BCDD-D59893DFBA29}" destId="{524ACD6A-0580-4D9A-86E1-E677FC6A6F12}" srcOrd="5" destOrd="0" presId="urn:microsoft.com/office/officeart/2005/8/layout/list1"/>
    <dgm:cxn modelId="{9D077BDC-B2E4-4955-A061-613969634ADD}" type="presParOf" srcId="{7AC50055-6027-4879-BCDD-D59893DFBA29}" destId="{1D94D89D-A6FD-4D76-A786-016E038F4926}" srcOrd="6" destOrd="0" presId="urn:microsoft.com/office/officeart/2005/8/layout/list1"/>
    <dgm:cxn modelId="{303EBD74-FDAD-4E02-A840-49F2354958B9}" type="presParOf" srcId="{7AC50055-6027-4879-BCDD-D59893DFBA29}" destId="{0B6AD12E-1ECF-41D2-B94E-2DCC1776C703}" srcOrd="7" destOrd="0" presId="urn:microsoft.com/office/officeart/2005/8/layout/list1"/>
    <dgm:cxn modelId="{0977B6CE-37B2-42FF-9DEA-04E69DFEB381}" type="presParOf" srcId="{7AC50055-6027-4879-BCDD-D59893DFBA29}" destId="{241A6464-160F-4686-99FD-1F81FDB8BF57}" srcOrd="8" destOrd="0" presId="urn:microsoft.com/office/officeart/2005/8/layout/list1"/>
    <dgm:cxn modelId="{999BB739-8034-4672-A909-EE118CC13F95}" type="presParOf" srcId="{241A6464-160F-4686-99FD-1F81FDB8BF57}" destId="{63E8ABC2-7141-4DE1-99FC-52C643C341AE}" srcOrd="0" destOrd="0" presId="urn:microsoft.com/office/officeart/2005/8/layout/list1"/>
    <dgm:cxn modelId="{6C3513BC-F093-4040-AFE3-3B8C347ED960}" type="presParOf" srcId="{241A6464-160F-4686-99FD-1F81FDB8BF57}" destId="{0C82CD92-61AE-4708-9330-1474B36BF732}" srcOrd="1" destOrd="0" presId="urn:microsoft.com/office/officeart/2005/8/layout/list1"/>
    <dgm:cxn modelId="{C331AE62-014D-4816-A2A8-DA4CC84E250D}" type="presParOf" srcId="{7AC50055-6027-4879-BCDD-D59893DFBA29}" destId="{EBFAC5DC-E7A0-42EB-8975-A1791D85D6AB}" srcOrd="9" destOrd="0" presId="urn:microsoft.com/office/officeart/2005/8/layout/list1"/>
    <dgm:cxn modelId="{F9337124-8F9C-473A-B63D-F5582DD87205}" type="presParOf" srcId="{7AC50055-6027-4879-BCDD-D59893DFBA29}" destId="{1826193A-9C1E-4F5B-AA64-FEDF4448C59E}" srcOrd="10" destOrd="0" presId="urn:microsoft.com/office/officeart/2005/8/layout/list1"/>
    <dgm:cxn modelId="{E3985802-83A5-40DB-8754-E506AA260A9F}" type="presParOf" srcId="{7AC50055-6027-4879-BCDD-D59893DFBA29}" destId="{BFC14B2F-C07C-4278-90E4-7D07439BEFBC}" srcOrd="11" destOrd="0" presId="urn:microsoft.com/office/officeart/2005/8/layout/list1"/>
    <dgm:cxn modelId="{B630EA90-0CC4-42BB-B035-1984DB8860B0}" type="presParOf" srcId="{7AC50055-6027-4879-BCDD-D59893DFBA29}" destId="{CCD9B7D3-D721-4AE0-9FF7-7E68BD66EFFF}" srcOrd="12" destOrd="0" presId="urn:microsoft.com/office/officeart/2005/8/layout/list1"/>
    <dgm:cxn modelId="{DF136575-78B6-493E-9490-87ECEAE28B25}" type="presParOf" srcId="{CCD9B7D3-D721-4AE0-9FF7-7E68BD66EFFF}" destId="{CDCA125C-B1C9-4CDE-B6C6-AD4F3001D4C6}" srcOrd="0" destOrd="0" presId="urn:microsoft.com/office/officeart/2005/8/layout/list1"/>
    <dgm:cxn modelId="{564DC3C6-FF0A-440A-BF1B-D34DC9912A6F}" type="presParOf" srcId="{CCD9B7D3-D721-4AE0-9FF7-7E68BD66EFFF}" destId="{D4AF2EB0-23E9-4C30-B886-98E1DBF2DBEC}" srcOrd="1" destOrd="0" presId="urn:microsoft.com/office/officeart/2005/8/layout/list1"/>
    <dgm:cxn modelId="{77A74B26-D586-40A0-9857-5B3C14C1AC2D}" type="presParOf" srcId="{7AC50055-6027-4879-BCDD-D59893DFBA29}" destId="{CC16B466-1697-46F2-9D75-0F0F3817EF1C}" srcOrd="13" destOrd="0" presId="urn:microsoft.com/office/officeart/2005/8/layout/list1"/>
    <dgm:cxn modelId="{9961FA3F-FF2B-40CA-96B9-FF7C5C095C5C}" type="presParOf" srcId="{7AC50055-6027-4879-BCDD-D59893DFBA29}" destId="{E41B2963-7CBA-490C-B2B9-AE6A11E3E980}"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725102-6AF2-4411-94A4-73FCCCB95FBD}"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CD20C775-125D-4F58-AE80-4F997F82A440}">
      <dgm:prSet/>
      <dgm:spPr/>
      <dgm:t>
        <a:bodyPr/>
        <a:lstStyle/>
        <a:p>
          <a:r>
            <a:rPr lang="en-US" dirty="0"/>
            <a:t>Workflow for Defect Detection</a:t>
          </a:r>
        </a:p>
      </dgm:t>
    </dgm:pt>
    <dgm:pt modelId="{DE1ED66A-606A-45E0-A831-3B4976019671}" type="parTrans" cxnId="{B3E4BBDF-07BB-4A8C-BD82-31CA2DD8A09E}">
      <dgm:prSet/>
      <dgm:spPr/>
      <dgm:t>
        <a:bodyPr/>
        <a:lstStyle/>
        <a:p>
          <a:endParaRPr lang="en-US"/>
        </a:p>
      </dgm:t>
    </dgm:pt>
    <dgm:pt modelId="{D4B663D9-9CB4-4C5C-9878-D22CB076A6A4}" type="sibTrans" cxnId="{B3E4BBDF-07BB-4A8C-BD82-31CA2DD8A09E}">
      <dgm:prSet/>
      <dgm:spPr/>
      <dgm:t>
        <a:bodyPr/>
        <a:lstStyle/>
        <a:p>
          <a:endParaRPr lang="en-US"/>
        </a:p>
      </dgm:t>
    </dgm:pt>
    <dgm:pt modelId="{07567F74-52AF-4180-8490-AA7440AC58D2}">
      <dgm:prSet/>
      <dgm:spPr/>
      <dgm:t>
        <a:bodyPr/>
        <a:lstStyle/>
        <a:p>
          <a:r>
            <a:rPr lang="en-US" dirty="0"/>
            <a:t>Classification Performance</a:t>
          </a:r>
        </a:p>
      </dgm:t>
    </dgm:pt>
    <dgm:pt modelId="{EBDACADC-1838-426D-B423-B93A4AF646D6}" type="parTrans" cxnId="{33602774-138A-4073-9269-5F0DA5BBCA74}">
      <dgm:prSet/>
      <dgm:spPr/>
      <dgm:t>
        <a:bodyPr/>
        <a:lstStyle/>
        <a:p>
          <a:endParaRPr lang="en-US"/>
        </a:p>
      </dgm:t>
    </dgm:pt>
    <dgm:pt modelId="{C6BAD8D0-E08C-4470-AFC9-AECC003DED6E}" type="sibTrans" cxnId="{33602774-138A-4073-9269-5F0DA5BBCA74}">
      <dgm:prSet/>
      <dgm:spPr/>
      <dgm:t>
        <a:bodyPr/>
        <a:lstStyle/>
        <a:p>
          <a:endParaRPr lang="en-US"/>
        </a:p>
      </dgm:t>
    </dgm:pt>
    <dgm:pt modelId="{65E8E340-C18B-45E9-AA1C-21328D18C9E2}">
      <dgm:prSet/>
      <dgm:spPr/>
      <dgm:t>
        <a:bodyPr/>
        <a:lstStyle/>
        <a:p>
          <a:r>
            <a:rPr lang="en-US" dirty="0"/>
            <a:t>IC Classification Illustration</a:t>
          </a:r>
        </a:p>
      </dgm:t>
    </dgm:pt>
    <dgm:pt modelId="{AB2B5FDF-940C-47C8-931A-B72016C19780}" type="parTrans" cxnId="{ED0F9756-F0A0-4A35-8009-AA668C22DD00}">
      <dgm:prSet/>
      <dgm:spPr/>
      <dgm:t>
        <a:bodyPr/>
        <a:lstStyle/>
        <a:p>
          <a:endParaRPr lang="en-US"/>
        </a:p>
      </dgm:t>
    </dgm:pt>
    <dgm:pt modelId="{455BB6C1-D6C0-43A1-AF81-445CB68E5C68}" type="sibTrans" cxnId="{ED0F9756-F0A0-4A35-8009-AA668C22DD00}">
      <dgm:prSet/>
      <dgm:spPr/>
      <dgm:t>
        <a:bodyPr/>
        <a:lstStyle/>
        <a:p>
          <a:endParaRPr lang="en-US"/>
        </a:p>
      </dgm:t>
    </dgm:pt>
    <dgm:pt modelId="{29CB406E-C955-4F16-98F0-386132DA4D9A}" type="pres">
      <dgm:prSet presAssocID="{DF725102-6AF2-4411-94A4-73FCCCB95FBD}" presName="hierChild1" presStyleCnt="0">
        <dgm:presLayoutVars>
          <dgm:chPref val="1"/>
          <dgm:dir/>
          <dgm:animOne val="branch"/>
          <dgm:animLvl val="lvl"/>
          <dgm:resizeHandles/>
        </dgm:presLayoutVars>
      </dgm:prSet>
      <dgm:spPr/>
    </dgm:pt>
    <dgm:pt modelId="{1377F245-39AD-4A43-AF60-95BC315B6FE0}" type="pres">
      <dgm:prSet presAssocID="{CD20C775-125D-4F58-AE80-4F997F82A440}" presName="hierRoot1" presStyleCnt="0"/>
      <dgm:spPr/>
    </dgm:pt>
    <dgm:pt modelId="{81332640-4C76-4F51-9064-B7B3CFFE1056}" type="pres">
      <dgm:prSet presAssocID="{CD20C775-125D-4F58-AE80-4F997F82A440}" presName="composite" presStyleCnt="0"/>
      <dgm:spPr/>
    </dgm:pt>
    <dgm:pt modelId="{42896911-FB6B-4EC9-A4EB-FA240C10C2E7}" type="pres">
      <dgm:prSet presAssocID="{CD20C775-125D-4F58-AE80-4F997F82A440}" presName="background" presStyleLbl="node0" presStyleIdx="0" presStyleCnt="3"/>
      <dgm:spPr/>
    </dgm:pt>
    <dgm:pt modelId="{BF43062A-3CD4-401D-AA6C-29B4853F4C1D}" type="pres">
      <dgm:prSet presAssocID="{CD20C775-125D-4F58-AE80-4F997F82A440}" presName="text" presStyleLbl="fgAcc0" presStyleIdx="0" presStyleCnt="3">
        <dgm:presLayoutVars>
          <dgm:chPref val="3"/>
        </dgm:presLayoutVars>
      </dgm:prSet>
      <dgm:spPr/>
    </dgm:pt>
    <dgm:pt modelId="{55CF7907-4187-4EA8-9A1C-B4A9515847D8}" type="pres">
      <dgm:prSet presAssocID="{CD20C775-125D-4F58-AE80-4F997F82A440}" presName="hierChild2" presStyleCnt="0"/>
      <dgm:spPr/>
    </dgm:pt>
    <dgm:pt modelId="{6DDA0645-91E2-4A11-98CF-7C181D7088E7}" type="pres">
      <dgm:prSet presAssocID="{07567F74-52AF-4180-8490-AA7440AC58D2}" presName="hierRoot1" presStyleCnt="0"/>
      <dgm:spPr/>
    </dgm:pt>
    <dgm:pt modelId="{E3B66EC7-441F-43B8-A289-29DD9409ADA0}" type="pres">
      <dgm:prSet presAssocID="{07567F74-52AF-4180-8490-AA7440AC58D2}" presName="composite" presStyleCnt="0"/>
      <dgm:spPr/>
    </dgm:pt>
    <dgm:pt modelId="{43711C3B-6BE5-4E54-AE99-6DDC3CF35FD0}" type="pres">
      <dgm:prSet presAssocID="{07567F74-52AF-4180-8490-AA7440AC58D2}" presName="background" presStyleLbl="node0" presStyleIdx="1" presStyleCnt="3"/>
      <dgm:spPr/>
    </dgm:pt>
    <dgm:pt modelId="{96A2F40A-6551-4752-88E3-6E853768F605}" type="pres">
      <dgm:prSet presAssocID="{07567F74-52AF-4180-8490-AA7440AC58D2}" presName="text" presStyleLbl="fgAcc0" presStyleIdx="1" presStyleCnt="3">
        <dgm:presLayoutVars>
          <dgm:chPref val="3"/>
        </dgm:presLayoutVars>
      </dgm:prSet>
      <dgm:spPr/>
    </dgm:pt>
    <dgm:pt modelId="{DAF6BD3A-EB2F-4773-8C73-8B43DD78215D}" type="pres">
      <dgm:prSet presAssocID="{07567F74-52AF-4180-8490-AA7440AC58D2}" presName="hierChild2" presStyleCnt="0"/>
      <dgm:spPr/>
    </dgm:pt>
    <dgm:pt modelId="{57DF46E5-C9D0-45B9-BAF5-4A9020A735A1}" type="pres">
      <dgm:prSet presAssocID="{65E8E340-C18B-45E9-AA1C-21328D18C9E2}" presName="hierRoot1" presStyleCnt="0"/>
      <dgm:spPr/>
    </dgm:pt>
    <dgm:pt modelId="{270B7CB8-8FEB-4C9B-8F37-37E045229D99}" type="pres">
      <dgm:prSet presAssocID="{65E8E340-C18B-45E9-AA1C-21328D18C9E2}" presName="composite" presStyleCnt="0"/>
      <dgm:spPr/>
    </dgm:pt>
    <dgm:pt modelId="{A256375B-3CC0-4164-8B1E-3720B6A8E8E0}" type="pres">
      <dgm:prSet presAssocID="{65E8E340-C18B-45E9-AA1C-21328D18C9E2}" presName="background" presStyleLbl="node0" presStyleIdx="2" presStyleCnt="3"/>
      <dgm:spPr/>
    </dgm:pt>
    <dgm:pt modelId="{E3599E02-58A9-4E76-AEBE-4CB6F4E7959F}" type="pres">
      <dgm:prSet presAssocID="{65E8E340-C18B-45E9-AA1C-21328D18C9E2}" presName="text" presStyleLbl="fgAcc0" presStyleIdx="2" presStyleCnt="3">
        <dgm:presLayoutVars>
          <dgm:chPref val="3"/>
        </dgm:presLayoutVars>
      </dgm:prSet>
      <dgm:spPr/>
    </dgm:pt>
    <dgm:pt modelId="{13DF65F6-8B98-459C-9F5D-7C9150E47879}" type="pres">
      <dgm:prSet presAssocID="{65E8E340-C18B-45E9-AA1C-21328D18C9E2}" presName="hierChild2" presStyleCnt="0"/>
      <dgm:spPr/>
    </dgm:pt>
  </dgm:ptLst>
  <dgm:cxnLst>
    <dgm:cxn modelId="{43F02D10-195F-4E07-BD1E-1C2DEAA08B21}" type="presOf" srcId="{65E8E340-C18B-45E9-AA1C-21328D18C9E2}" destId="{E3599E02-58A9-4E76-AEBE-4CB6F4E7959F}" srcOrd="0" destOrd="0" presId="urn:microsoft.com/office/officeart/2005/8/layout/hierarchy1"/>
    <dgm:cxn modelId="{57BA5233-E288-4447-B163-41BA8896CB30}" type="presOf" srcId="{DF725102-6AF2-4411-94A4-73FCCCB95FBD}" destId="{29CB406E-C955-4F16-98F0-386132DA4D9A}" srcOrd="0" destOrd="0" presId="urn:microsoft.com/office/officeart/2005/8/layout/hierarchy1"/>
    <dgm:cxn modelId="{E2911F61-60B0-41DB-9367-D7CA2815518E}" type="presOf" srcId="{07567F74-52AF-4180-8490-AA7440AC58D2}" destId="{96A2F40A-6551-4752-88E3-6E853768F605}" srcOrd="0" destOrd="0" presId="urn:microsoft.com/office/officeart/2005/8/layout/hierarchy1"/>
    <dgm:cxn modelId="{33602774-138A-4073-9269-5F0DA5BBCA74}" srcId="{DF725102-6AF2-4411-94A4-73FCCCB95FBD}" destId="{07567F74-52AF-4180-8490-AA7440AC58D2}" srcOrd="1" destOrd="0" parTransId="{EBDACADC-1838-426D-B423-B93A4AF646D6}" sibTransId="{C6BAD8D0-E08C-4470-AFC9-AECC003DED6E}"/>
    <dgm:cxn modelId="{ED0F9756-F0A0-4A35-8009-AA668C22DD00}" srcId="{DF725102-6AF2-4411-94A4-73FCCCB95FBD}" destId="{65E8E340-C18B-45E9-AA1C-21328D18C9E2}" srcOrd="2" destOrd="0" parTransId="{AB2B5FDF-940C-47C8-931A-B72016C19780}" sibTransId="{455BB6C1-D6C0-43A1-AF81-445CB68E5C68}"/>
    <dgm:cxn modelId="{B3E4BBDF-07BB-4A8C-BD82-31CA2DD8A09E}" srcId="{DF725102-6AF2-4411-94A4-73FCCCB95FBD}" destId="{CD20C775-125D-4F58-AE80-4F997F82A440}" srcOrd="0" destOrd="0" parTransId="{DE1ED66A-606A-45E0-A831-3B4976019671}" sibTransId="{D4B663D9-9CB4-4C5C-9878-D22CB076A6A4}"/>
    <dgm:cxn modelId="{7C88F6E1-B8E7-47C7-83D0-74841FED2B7C}" type="presOf" srcId="{CD20C775-125D-4F58-AE80-4F997F82A440}" destId="{BF43062A-3CD4-401D-AA6C-29B4853F4C1D}" srcOrd="0" destOrd="0" presId="urn:microsoft.com/office/officeart/2005/8/layout/hierarchy1"/>
    <dgm:cxn modelId="{8ED38D31-9E48-41B6-ADCF-EEA1F3556530}" type="presParOf" srcId="{29CB406E-C955-4F16-98F0-386132DA4D9A}" destId="{1377F245-39AD-4A43-AF60-95BC315B6FE0}" srcOrd="0" destOrd="0" presId="urn:microsoft.com/office/officeart/2005/8/layout/hierarchy1"/>
    <dgm:cxn modelId="{C95E2541-6C0D-402F-BC9C-F44E89EAC89A}" type="presParOf" srcId="{1377F245-39AD-4A43-AF60-95BC315B6FE0}" destId="{81332640-4C76-4F51-9064-B7B3CFFE1056}" srcOrd="0" destOrd="0" presId="urn:microsoft.com/office/officeart/2005/8/layout/hierarchy1"/>
    <dgm:cxn modelId="{F9E1857A-261C-433E-8CB8-1DE9EDBD1665}" type="presParOf" srcId="{81332640-4C76-4F51-9064-B7B3CFFE1056}" destId="{42896911-FB6B-4EC9-A4EB-FA240C10C2E7}" srcOrd="0" destOrd="0" presId="urn:microsoft.com/office/officeart/2005/8/layout/hierarchy1"/>
    <dgm:cxn modelId="{4EA97478-0110-40F3-836E-C7648D81009A}" type="presParOf" srcId="{81332640-4C76-4F51-9064-B7B3CFFE1056}" destId="{BF43062A-3CD4-401D-AA6C-29B4853F4C1D}" srcOrd="1" destOrd="0" presId="urn:microsoft.com/office/officeart/2005/8/layout/hierarchy1"/>
    <dgm:cxn modelId="{5FBF3605-644D-4EEA-A158-4C3F741EC3A6}" type="presParOf" srcId="{1377F245-39AD-4A43-AF60-95BC315B6FE0}" destId="{55CF7907-4187-4EA8-9A1C-B4A9515847D8}" srcOrd="1" destOrd="0" presId="urn:microsoft.com/office/officeart/2005/8/layout/hierarchy1"/>
    <dgm:cxn modelId="{D1639B27-4265-4748-9F76-58229E52A593}" type="presParOf" srcId="{29CB406E-C955-4F16-98F0-386132DA4D9A}" destId="{6DDA0645-91E2-4A11-98CF-7C181D7088E7}" srcOrd="1" destOrd="0" presId="urn:microsoft.com/office/officeart/2005/8/layout/hierarchy1"/>
    <dgm:cxn modelId="{6CBE2577-0AFE-4B34-B1F5-1AC88F4708AD}" type="presParOf" srcId="{6DDA0645-91E2-4A11-98CF-7C181D7088E7}" destId="{E3B66EC7-441F-43B8-A289-29DD9409ADA0}" srcOrd="0" destOrd="0" presId="urn:microsoft.com/office/officeart/2005/8/layout/hierarchy1"/>
    <dgm:cxn modelId="{8A6774BE-478A-4B4F-8E9F-82E2ECBE4EF2}" type="presParOf" srcId="{E3B66EC7-441F-43B8-A289-29DD9409ADA0}" destId="{43711C3B-6BE5-4E54-AE99-6DDC3CF35FD0}" srcOrd="0" destOrd="0" presId="urn:microsoft.com/office/officeart/2005/8/layout/hierarchy1"/>
    <dgm:cxn modelId="{F9F53900-F072-4FBF-8653-7BBCA68BA0F1}" type="presParOf" srcId="{E3B66EC7-441F-43B8-A289-29DD9409ADA0}" destId="{96A2F40A-6551-4752-88E3-6E853768F605}" srcOrd="1" destOrd="0" presId="urn:microsoft.com/office/officeart/2005/8/layout/hierarchy1"/>
    <dgm:cxn modelId="{ABB15B5E-D109-4453-85A2-F1008B6BCE79}" type="presParOf" srcId="{6DDA0645-91E2-4A11-98CF-7C181D7088E7}" destId="{DAF6BD3A-EB2F-4773-8C73-8B43DD78215D}" srcOrd="1" destOrd="0" presId="urn:microsoft.com/office/officeart/2005/8/layout/hierarchy1"/>
    <dgm:cxn modelId="{F34C6198-FBC4-4D04-9709-AED2C4FE69A6}" type="presParOf" srcId="{29CB406E-C955-4F16-98F0-386132DA4D9A}" destId="{57DF46E5-C9D0-45B9-BAF5-4A9020A735A1}" srcOrd="2" destOrd="0" presId="urn:microsoft.com/office/officeart/2005/8/layout/hierarchy1"/>
    <dgm:cxn modelId="{C2128923-B4A1-41A9-B49C-5A14E0294B57}" type="presParOf" srcId="{57DF46E5-C9D0-45B9-BAF5-4A9020A735A1}" destId="{270B7CB8-8FEB-4C9B-8F37-37E045229D99}" srcOrd="0" destOrd="0" presId="urn:microsoft.com/office/officeart/2005/8/layout/hierarchy1"/>
    <dgm:cxn modelId="{7331F59B-63E8-4A99-BDD4-D40476678A50}" type="presParOf" srcId="{270B7CB8-8FEB-4C9B-8F37-37E045229D99}" destId="{A256375B-3CC0-4164-8B1E-3720B6A8E8E0}" srcOrd="0" destOrd="0" presId="urn:microsoft.com/office/officeart/2005/8/layout/hierarchy1"/>
    <dgm:cxn modelId="{9C9282AD-FAFE-4D9C-B24F-4733D5FAFD67}" type="presParOf" srcId="{270B7CB8-8FEB-4C9B-8F37-37E045229D99}" destId="{E3599E02-58A9-4E76-AEBE-4CB6F4E7959F}" srcOrd="1" destOrd="0" presId="urn:microsoft.com/office/officeart/2005/8/layout/hierarchy1"/>
    <dgm:cxn modelId="{F87F147D-72A4-4B82-BF67-35E3C13ED4D0}" type="presParOf" srcId="{57DF46E5-C9D0-45B9-BAF5-4A9020A735A1}" destId="{13DF65F6-8B98-459C-9F5D-7C9150E4787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C09CF-CEAC-4D2B-97CD-57AF662F940D}">
      <dsp:nvSpPr>
        <dsp:cNvPr id="0" name=""/>
        <dsp:cNvSpPr/>
      </dsp:nvSpPr>
      <dsp:spPr>
        <a:xfrm>
          <a:off x="0" y="1188499"/>
          <a:ext cx="6666833" cy="5292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40D50AA-972D-4431-A9A0-B668EC66EAFE}">
      <dsp:nvSpPr>
        <dsp:cNvPr id="0" name=""/>
        <dsp:cNvSpPr/>
      </dsp:nvSpPr>
      <dsp:spPr>
        <a:xfrm>
          <a:off x="333341" y="878539"/>
          <a:ext cx="4666783" cy="61992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33450">
            <a:lnSpc>
              <a:spcPct val="90000"/>
            </a:lnSpc>
            <a:spcBef>
              <a:spcPct val="0"/>
            </a:spcBef>
            <a:spcAft>
              <a:spcPct val="35000"/>
            </a:spcAft>
            <a:buNone/>
          </a:pPr>
          <a:r>
            <a:rPr lang="en-US" sz="2100" kern="1200"/>
            <a:t>Introduction</a:t>
          </a:r>
        </a:p>
      </dsp:txBody>
      <dsp:txXfrm>
        <a:off x="363603" y="908801"/>
        <a:ext cx="4606259" cy="559396"/>
      </dsp:txXfrm>
    </dsp:sp>
    <dsp:sp modelId="{1D94D89D-A6FD-4D76-A786-016E038F4926}">
      <dsp:nvSpPr>
        <dsp:cNvPr id="0" name=""/>
        <dsp:cNvSpPr/>
      </dsp:nvSpPr>
      <dsp:spPr>
        <a:xfrm>
          <a:off x="0" y="2141059"/>
          <a:ext cx="6666833" cy="529200"/>
        </a:xfrm>
        <a:prstGeom prst="rect">
          <a:avLst/>
        </a:prstGeom>
        <a:solidFill>
          <a:schemeClr val="lt1">
            <a:alpha val="90000"/>
            <a:hueOff val="0"/>
            <a:satOff val="0"/>
            <a:lumOff val="0"/>
            <a:alphaOff val="0"/>
          </a:schemeClr>
        </a:solidFill>
        <a:ln w="6350" cap="flat" cmpd="sng" algn="ctr">
          <a:solidFill>
            <a:schemeClr val="accent5">
              <a:hueOff val="-2252848"/>
              <a:satOff val="-5806"/>
              <a:lumOff val="-3922"/>
              <a:alphaOff val="0"/>
            </a:schemeClr>
          </a:solidFill>
          <a:prstDash val="solid"/>
          <a:miter lim="800000"/>
        </a:ln>
        <a:effectLst/>
      </dsp:spPr>
      <dsp:style>
        <a:lnRef idx="1">
          <a:scrgbClr r="0" g="0" b="0"/>
        </a:lnRef>
        <a:fillRef idx="1">
          <a:scrgbClr r="0" g="0" b="0"/>
        </a:fillRef>
        <a:effectRef idx="0">
          <a:scrgbClr r="0" g="0" b="0"/>
        </a:effectRef>
        <a:fontRef idx="minor"/>
      </dsp:style>
    </dsp:sp>
    <dsp:sp modelId="{2AD8F21B-3CF8-4474-8FA2-64357563059B}">
      <dsp:nvSpPr>
        <dsp:cNvPr id="0" name=""/>
        <dsp:cNvSpPr/>
      </dsp:nvSpPr>
      <dsp:spPr>
        <a:xfrm>
          <a:off x="333341" y="1831099"/>
          <a:ext cx="4666783" cy="619920"/>
        </a:xfrm>
        <a:prstGeom prst="roundRect">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33450">
            <a:lnSpc>
              <a:spcPct val="90000"/>
            </a:lnSpc>
            <a:spcBef>
              <a:spcPct val="0"/>
            </a:spcBef>
            <a:spcAft>
              <a:spcPct val="35000"/>
            </a:spcAft>
            <a:buNone/>
          </a:pPr>
          <a:r>
            <a:rPr lang="en-US" sz="2100" kern="1200" dirty="0"/>
            <a:t>Dataset Preparation and ROI Extraction</a:t>
          </a:r>
        </a:p>
      </dsp:txBody>
      <dsp:txXfrm>
        <a:off x="363603" y="1861361"/>
        <a:ext cx="4606259" cy="559396"/>
      </dsp:txXfrm>
    </dsp:sp>
    <dsp:sp modelId="{1826193A-9C1E-4F5B-AA64-FEDF4448C59E}">
      <dsp:nvSpPr>
        <dsp:cNvPr id="0" name=""/>
        <dsp:cNvSpPr/>
      </dsp:nvSpPr>
      <dsp:spPr>
        <a:xfrm>
          <a:off x="0" y="3093620"/>
          <a:ext cx="6666833" cy="529200"/>
        </a:xfrm>
        <a:prstGeom prst="rect">
          <a:avLst/>
        </a:prstGeom>
        <a:solidFill>
          <a:schemeClr val="lt1">
            <a:alpha val="90000"/>
            <a:hueOff val="0"/>
            <a:satOff val="0"/>
            <a:lumOff val="0"/>
            <a:alphaOff val="0"/>
          </a:schemeClr>
        </a:solidFill>
        <a:ln w="6350" cap="flat" cmpd="sng" algn="ctr">
          <a:solidFill>
            <a:schemeClr val="accent5">
              <a:hueOff val="-4505695"/>
              <a:satOff val="-11613"/>
              <a:lumOff val="-7843"/>
              <a:alphaOff val="0"/>
            </a:schemeClr>
          </a:solidFill>
          <a:prstDash val="solid"/>
          <a:miter lim="800000"/>
        </a:ln>
        <a:effectLst/>
      </dsp:spPr>
      <dsp:style>
        <a:lnRef idx="1">
          <a:scrgbClr r="0" g="0" b="0"/>
        </a:lnRef>
        <a:fillRef idx="1">
          <a:scrgbClr r="0" g="0" b="0"/>
        </a:fillRef>
        <a:effectRef idx="0">
          <a:scrgbClr r="0" g="0" b="0"/>
        </a:effectRef>
        <a:fontRef idx="minor"/>
      </dsp:style>
    </dsp:sp>
    <dsp:sp modelId="{0C82CD92-61AE-4708-9330-1474B36BF732}">
      <dsp:nvSpPr>
        <dsp:cNvPr id="0" name=""/>
        <dsp:cNvSpPr/>
      </dsp:nvSpPr>
      <dsp:spPr>
        <a:xfrm>
          <a:off x="333341" y="2783660"/>
          <a:ext cx="4666783" cy="619920"/>
        </a:xfrm>
        <a:prstGeom prst="roundRect">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33450">
            <a:lnSpc>
              <a:spcPct val="90000"/>
            </a:lnSpc>
            <a:spcBef>
              <a:spcPct val="0"/>
            </a:spcBef>
            <a:spcAft>
              <a:spcPct val="35000"/>
            </a:spcAft>
            <a:buNone/>
          </a:pPr>
          <a:r>
            <a:rPr lang="en-US" sz="2100" kern="1200" dirty="0"/>
            <a:t>YOLO-Based Solder Joint Classification</a:t>
          </a:r>
        </a:p>
      </dsp:txBody>
      <dsp:txXfrm>
        <a:off x="363603" y="2813922"/>
        <a:ext cx="4606259" cy="559396"/>
      </dsp:txXfrm>
    </dsp:sp>
    <dsp:sp modelId="{E41B2963-7CBA-490C-B2B9-AE6A11E3E980}">
      <dsp:nvSpPr>
        <dsp:cNvPr id="0" name=""/>
        <dsp:cNvSpPr/>
      </dsp:nvSpPr>
      <dsp:spPr>
        <a:xfrm>
          <a:off x="0" y="4046180"/>
          <a:ext cx="6666833" cy="529200"/>
        </a:xfrm>
        <a:prstGeom prst="rect">
          <a:avLst/>
        </a:prstGeom>
        <a:solidFill>
          <a:schemeClr val="lt1">
            <a:alpha val="90000"/>
            <a:hueOff val="0"/>
            <a:satOff val="0"/>
            <a:lumOff val="0"/>
            <a:alphaOff val="0"/>
          </a:schemeClr>
        </a:soli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1">
          <a:scrgbClr r="0" g="0" b="0"/>
        </a:fillRef>
        <a:effectRef idx="0">
          <a:scrgbClr r="0" g="0" b="0"/>
        </a:effectRef>
        <a:fontRef idx="minor"/>
      </dsp:style>
    </dsp:sp>
    <dsp:sp modelId="{D4AF2EB0-23E9-4C30-B886-98E1DBF2DBEC}">
      <dsp:nvSpPr>
        <dsp:cNvPr id="0" name=""/>
        <dsp:cNvSpPr/>
      </dsp:nvSpPr>
      <dsp:spPr>
        <a:xfrm>
          <a:off x="333341" y="3736220"/>
          <a:ext cx="4666783" cy="61992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33450">
            <a:lnSpc>
              <a:spcPct val="90000"/>
            </a:lnSpc>
            <a:spcBef>
              <a:spcPct val="0"/>
            </a:spcBef>
            <a:spcAft>
              <a:spcPct val="35000"/>
            </a:spcAft>
            <a:buNone/>
          </a:pPr>
          <a:r>
            <a:rPr lang="en-US" sz="2100" kern="1200"/>
            <a:t>Conclusion</a:t>
          </a:r>
        </a:p>
      </dsp:txBody>
      <dsp:txXfrm>
        <a:off x="363603" y="3766482"/>
        <a:ext cx="4606259" cy="559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896911-FB6B-4EC9-A4EB-FA240C10C2E7}">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43062A-3CD4-401D-AA6C-29B4853F4C1D}">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Workflow for Defect Detection</a:t>
          </a:r>
        </a:p>
      </dsp:txBody>
      <dsp:txXfrm>
        <a:off x="378614" y="886531"/>
        <a:ext cx="2810360" cy="1744948"/>
      </dsp:txXfrm>
    </dsp:sp>
    <dsp:sp modelId="{43711C3B-6BE5-4E54-AE99-6DDC3CF35FD0}">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A2F40A-6551-4752-88E3-6E853768F605}">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Classification Performance</a:t>
          </a:r>
        </a:p>
      </dsp:txBody>
      <dsp:txXfrm>
        <a:off x="3946203" y="886531"/>
        <a:ext cx="2810360" cy="1744948"/>
      </dsp:txXfrm>
    </dsp:sp>
    <dsp:sp modelId="{A256375B-3CC0-4164-8B1E-3720B6A8E8E0}">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599E02-58A9-4E76-AEBE-4CB6F4E7959F}">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IC Classification Illustration</a:t>
          </a:r>
        </a:p>
      </dsp:txBody>
      <dsp:txXfrm>
        <a:off x="7513791" y="886531"/>
        <a:ext cx="2810360" cy="174494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1D6709-06D8-490C-B5C2-9603B5E7AE42}" type="datetimeFigureOut">
              <a:rPr lang="zh-TW" altLang="en-US" smtClean="0"/>
              <a:t>2026/9/22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F6782-D1A3-4964-BABF-37FB8327AC80}" type="slidenum">
              <a:rPr lang="zh-TW" altLang="en-US" smtClean="0"/>
              <a:t>‹#›</a:t>
            </a:fld>
            <a:endParaRPr lang="zh-TW" altLang="en-US"/>
          </a:p>
        </p:txBody>
      </p:sp>
    </p:spTree>
    <p:extLst>
      <p:ext uri="{BB962C8B-B14F-4D97-AF65-F5344CB8AC3E}">
        <p14:creationId xmlns:p14="http://schemas.microsoft.com/office/powerpoint/2010/main" val="3331834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514123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1667246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4211528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3585567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3294167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2796499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1322270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3607829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3542975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2566874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776487F-FEEA-4C97-A6E0-298829217DD7}" type="datetimeFigureOut">
              <a:rPr lang="zh-TW" altLang="en-US" smtClean="0"/>
              <a:t>2026/9/22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3657328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76487F-FEEA-4C97-A6E0-298829217DD7}" type="datetimeFigureOut">
              <a:rPr lang="zh-TW" altLang="en-US" smtClean="0"/>
              <a:t>2026/9/22</a:t>
            </a:fld>
            <a:endParaRPr lang="zh-TW"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73531D-A608-40F1-86A3-7F303EE42A92}" type="slidenum">
              <a:rPr lang="zh-TW" altLang="en-US" smtClean="0"/>
              <a:t>‹#›</a:t>
            </a:fld>
            <a:endParaRPr lang="zh-TW" altLang="en-US"/>
          </a:p>
        </p:txBody>
      </p:sp>
    </p:spTree>
    <p:extLst>
      <p:ext uri="{BB962C8B-B14F-4D97-AF65-F5344CB8AC3E}">
        <p14:creationId xmlns:p14="http://schemas.microsoft.com/office/powerpoint/2010/main" val="180685456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a:extLst>
              <a:ext uri="{FF2B5EF4-FFF2-40B4-BE49-F238E27FC236}">
                <a16:creationId xmlns:a16="http://schemas.microsoft.com/office/drawing/2014/main" id="{B9852B18-AEB0-A691-AEF9-5A7C5BC99E8C}"/>
              </a:ext>
            </a:extLst>
          </p:cNvPr>
          <p:cNvSpPr>
            <a:spLocks noGrp="1" noChangeArrowheads="1"/>
          </p:cNvSpPr>
          <p:nvPr>
            <p:ph type="ctrTitle"/>
          </p:nvPr>
        </p:nvSpPr>
        <p:spPr bwMode="auto">
          <a:xfrm>
            <a:off x="1036540" y="2423675"/>
            <a:ext cx="1003299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altLang="zh-TW" sz="3600" dirty="0">
                <a:latin typeface="Times New Roman" panose="02020603050405020304" pitchFamily="18" charset="0"/>
                <a:cs typeface="Times New Roman" panose="02020603050405020304" pitchFamily="18" charset="0"/>
              </a:rPr>
              <a:t>Inspection for Solder Joint Defects in Voltage Regulator ICs of Automotive Charging Applications</a:t>
            </a:r>
            <a:endParaRPr kumimoji="0" lang="zh-TW" altLang="zh-TW"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矩形: 圆角 1">
            <a:extLst>
              <a:ext uri="{FF2B5EF4-FFF2-40B4-BE49-F238E27FC236}">
                <a16:creationId xmlns:a16="http://schemas.microsoft.com/office/drawing/2014/main" id="{6C3B0A61-1376-3020-B1D7-50084B1279AD}"/>
              </a:ext>
            </a:extLst>
          </p:cNvPr>
          <p:cNvSpPr/>
          <p:nvPr/>
        </p:nvSpPr>
        <p:spPr>
          <a:xfrm>
            <a:off x="906587" y="2084950"/>
            <a:ext cx="10292907" cy="1877780"/>
          </a:xfrm>
          <a:prstGeom prst="roundRect">
            <a:avLst/>
          </a:prstGeom>
          <a:noFill/>
          <a:ln w="57150">
            <a:solidFill>
              <a:srgbClr val="C1A3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文本框 4">
            <a:extLst>
              <a:ext uri="{FF2B5EF4-FFF2-40B4-BE49-F238E27FC236}">
                <a16:creationId xmlns:a16="http://schemas.microsoft.com/office/drawing/2014/main" id="{0FABBB29-F19B-3CA4-DEB4-FF8071A84F3C}"/>
              </a:ext>
            </a:extLst>
          </p:cNvPr>
          <p:cNvSpPr txBox="1"/>
          <p:nvPr/>
        </p:nvSpPr>
        <p:spPr>
          <a:xfrm>
            <a:off x="906587" y="251888"/>
            <a:ext cx="10206990" cy="1323439"/>
          </a:xfrm>
          <a:prstGeom prst="rect">
            <a:avLst/>
          </a:prstGeom>
          <a:noFill/>
        </p:spPr>
        <p:txBody>
          <a:bodyPr wrap="square" rtlCol="0">
            <a:spAutoFit/>
          </a:bodyPr>
          <a:lstStyle/>
          <a:p>
            <a:pPr algn="ctr"/>
            <a:r>
              <a:rPr lang="en-US" altLang="zh-TW" sz="4000" b="1" dirty="0">
                <a:latin typeface="Times New Roman" panose="02020603050405020304" pitchFamily="18" charset="0"/>
                <a:cs typeface="Times New Roman" panose="02020603050405020304" pitchFamily="18" charset="0"/>
              </a:rPr>
              <a:t>2025 IEEE 7th Eurasia Conference on IoT, Communication and Engineering</a:t>
            </a:r>
            <a:endParaRPr lang="en-US" altLang="zh-CN" sz="7200"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p:txBody>
      </p:sp>
      <p:sp>
        <p:nvSpPr>
          <p:cNvPr id="3" name="文本框 5">
            <a:extLst>
              <a:ext uri="{FF2B5EF4-FFF2-40B4-BE49-F238E27FC236}">
                <a16:creationId xmlns:a16="http://schemas.microsoft.com/office/drawing/2014/main" id="{17AAF8FA-B54C-A3FE-10CE-6434E1F9B79A}"/>
              </a:ext>
            </a:extLst>
          </p:cNvPr>
          <p:cNvSpPr txBox="1"/>
          <p:nvPr/>
        </p:nvSpPr>
        <p:spPr>
          <a:xfrm>
            <a:off x="1582750" y="4472353"/>
            <a:ext cx="9616744" cy="1938992"/>
          </a:xfrm>
          <a:prstGeom prst="rect">
            <a:avLst/>
          </a:prstGeom>
          <a:noFill/>
        </p:spPr>
        <p:txBody>
          <a:bodyPr wrap="square" rtlCol="0">
            <a:spAutoFit/>
          </a:bodyPr>
          <a:lstStyle/>
          <a:p>
            <a:pPr algn="ctr"/>
            <a:r>
              <a:rPr lang="en-US" altLang="zh-CN" sz="2400" dirty="0">
                <a:solidFill>
                  <a:schemeClr val="tx1">
                    <a:lumMod val="85000"/>
                    <a:lumOff val="15000"/>
                  </a:schemeClr>
                </a:solidFill>
                <a:latin typeface="Times New Roman" panose="02020603050405020304" pitchFamily="18" charset="0"/>
                <a:cs typeface="Times New Roman" panose="02020603050405020304" pitchFamily="18" charset="0"/>
                <a:sym typeface="+mn-lt"/>
              </a:rPr>
              <a:t>Presenter:</a:t>
            </a:r>
            <a:r>
              <a:rPr lang="zh-TW" altLang="en-US" sz="2400" dirty="0">
                <a:solidFill>
                  <a:schemeClr val="tx1">
                    <a:lumMod val="85000"/>
                    <a:lumOff val="15000"/>
                  </a:schemeClr>
                </a:solidFill>
                <a:latin typeface="Times New Roman" panose="02020603050405020304" pitchFamily="18" charset="0"/>
                <a:cs typeface="Times New Roman" panose="02020603050405020304" pitchFamily="18" charset="0"/>
                <a:sym typeface="+mn-lt"/>
              </a:rPr>
              <a:t> </a:t>
            </a:r>
            <a:r>
              <a:rPr lang="en-US" altLang="zh-CN" sz="2400" dirty="0">
                <a:solidFill>
                  <a:schemeClr val="tx1">
                    <a:lumMod val="85000"/>
                    <a:lumOff val="15000"/>
                  </a:schemeClr>
                </a:solidFill>
                <a:latin typeface="Times New Roman" panose="02020603050405020304" pitchFamily="18" charset="0"/>
                <a:cs typeface="Times New Roman" panose="02020603050405020304" pitchFamily="18" charset="0"/>
                <a:sym typeface="+mn-lt"/>
              </a:rPr>
              <a:t>Yi</a:t>
            </a:r>
            <a:r>
              <a:rPr lang="en-US" altLang="zh-TW" sz="2400" dirty="0">
                <a:solidFill>
                  <a:schemeClr val="tx1">
                    <a:lumMod val="85000"/>
                    <a:lumOff val="15000"/>
                  </a:schemeClr>
                </a:solidFill>
                <a:latin typeface="Times New Roman" panose="02020603050405020304" pitchFamily="18" charset="0"/>
                <a:cs typeface="Times New Roman" panose="02020603050405020304" pitchFamily="18" charset="0"/>
                <a:sym typeface="+mn-lt"/>
              </a:rPr>
              <a:t>-Hsuan Chiu</a:t>
            </a:r>
            <a:endParaRPr lang="en-US" altLang="zh-CN" sz="2400" dirty="0">
              <a:solidFill>
                <a:srgbClr val="FF0000"/>
              </a:solidFill>
              <a:latin typeface="Times New Roman" panose="02020603050405020304" pitchFamily="18" charset="0"/>
              <a:cs typeface="Times New Roman" panose="02020603050405020304" pitchFamily="18" charset="0"/>
              <a:sym typeface="+mn-lt"/>
            </a:endParaRPr>
          </a:p>
          <a:p>
            <a:pPr algn="ctr"/>
            <a:r>
              <a:rPr lang="en-US" altLang="zh-CN" sz="2400" dirty="0">
                <a:solidFill>
                  <a:schemeClr val="tx1">
                    <a:lumMod val="85000"/>
                    <a:lumOff val="15000"/>
                  </a:schemeClr>
                </a:solidFill>
                <a:latin typeface="Times New Roman" panose="02020603050405020304" pitchFamily="18" charset="0"/>
                <a:cs typeface="Times New Roman" panose="02020603050405020304" pitchFamily="18" charset="0"/>
                <a:sym typeface="+mn-lt"/>
              </a:rPr>
              <a:t>Authors: Yi</a:t>
            </a:r>
            <a:r>
              <a:rPr lang="en-US" altLang="zh-TW" sz="2400" dirty="0">
                <a:solidFill>
                  <a:schemeClr val="tx1">
                    <a:lumMod val="85000"/>
                    <a:lumOff val="15000"/>
                  </a:schemeClr>
                </a:solidFill>
                <a:latin typeface="Times New Roman" panose="02020603050405020304" pitchFamily="18" charset="0"/>
                <a:cs typeface="Times New Roman" panose="02020603050405020304" pitchFamily="18" charset="0"/>
                <a:sym typeface="+mn-lt"/>
              </a:rPr>
              <a:t>-Hsuan Chiu &amp; Kuang-Chyi Lee</a:t>
            </a:r>
            <a:endParaRPr lang="en-US" altLang="zh-CN" sz="2400"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a:p>
            <a:pPr algn="ctr"/>
            <a:r>
              <a:rPr lang="en-US" altLang="zh-CN" sz="2400" dirty="0">
                <a:solidFill>
                  <a:schemeClr val="tx1">
                    <a:lumMod val="85000"/>
                    <a:lumOff val="15000"/>
                  </a:schemeClr>
                </a:solidFill>
                <a:latin typeface="Times New Roman" panose="02020603050405020304" pitchFamily="18" charset="0"/>
                <a:cs typeface="Times New Roman" panose="02020603050405020304" pitchFamily="18" charset="0"/>
                <a:sym typeface="+mn-lt"/>
              </a:rPr>
              <a:t>Department of Automation Engineering, National Formosa University</a:t>
            </a:r>
          </a:p>
          <a:p>
            <a:pPr algn="ctr"/>
            <a:endParaRPr lang="en-US" altLang="zh-CN" sz="2400" dirty="0">
              <a:solidFill>
                <a:schemeClr val="tx1">
                  <a:lumMod val="85000"/>
                  <a:lumOff val="15000"/>
                </a:schemeClr>
              </a:solidFill>
              <a:latin typeface="Times New Roman" panose="02020603050405020304" pitchFamily="18" charset="0"/>
              <a:cs typeface="Times New Roman" panose="02020603050405020304" pitchFamily="18" charset="0"/>
              <a:sym typeface="+mn-lt"/>
            </a:endParaRPr>
          </a:p>
          <a:p>
            <a:pPr algn="ctr"/>
            <a:r>
              <a:rPr lang="en-US" altLang="zh-CN" sz="2400" dirty="0">
                <a:solidFill>
                  <a:schemeClr val="tx1">
                    <a:lumMod val="85000"/>
                    <a:lumOff val="15000"/>
                  </a:schemeClr>
                </a:solidFill>
                <a:latin typeface="Times New Roman" panose="02020603050405020304" pitchFamily="18" charset="0"/>
                <a:cs typeface="Times New Roman" panose="02020603050405020304" pitchFamily="18" charset="0"/>
                <a:sym typeface="+mn-lt"/>
              </a:rPr>
              <a:t>November </a:t>
            </a:r>
            <a:r>
              <a:rPr lang="en-US" altLang="zh-TW" sz="2400" dirty="0">
                <a:solidFill>
                  <a:schemeClr val="tx1">
                    <a:lumMod val="85000"/>
                    <a:lumOff val="15000"/>
                  </a:schemeClr>
                </a:solidFill>
                <a:latin typeface="Times New Roman" panose="02020603050405020304" pitchFamily="18" charset="0"/>
                <a:cs typeface="Times New Roman" panose="02020603050405020304" pitchFamily="18" charset="0"/>
                <a:sym typeface="+mn-lt"/>
              </a:rPr>
              <a:t>14</a:t>
            </a:r>
            <a:r>
              <a:rPr lang="en-US" altLang="zh-CN" sz="2400" dirty="0">
                <a:solidFill>
                  <a:schemeClr val="tx1">
                    <a:lumMod val="85000"/>
                    <a:lumOff val="15000"/>
                  </a:schemeClr>
                </a:solidFill>
                <a:latin typeface="Times New Roman" panose="02020603050405020304" pitchFamily="18" charset="0"/>
                <a:cs typeface="Times New Roman" panose="02020603050405020304" pitchFamily="18" charset="0"/>
                <a:sym typeface="+mn-lt"/>
              </a:rPr>
              <a:t>, 2025</a:t>
            </a:r>
          </a:p>
        </p:txBody>
      </p:sp>
    </p:spTree>
    <p:extLst>
      <p:ext uri="{BB962C8B-B14F-4D97-AF65-F5344CB8AC3E}">
        <p14:creationId xmlns:p14="http://schemas.microsoft.com/office/powerpoint/2010/main" val="1689297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CF8A04AB-26B5-DDB8-8F44-F987366A33E6}"/>
              </a:ext>
            </a:extLst>
          </p:cNvPr>
          <p:cNvSpPr>
            <a:spLocks noGrp="1"/>
          </p:cNvSpPr>
          <p:nvPr>
            <p:ph type="title"/>
          </p:nvPr>
        </p:nvSpPr>
        <p:spPr>
          <a:xfrm>
            <a:off x="586478" y="1683756"/>
            <a:ext cx="3115265" cy="2396359"/>
          </a:xfrm>
        </p:spPr>
        <p:txBody>
          <a:bodyPr anchor="b">
            <a:normAutofit/>
          </a:bodyPr>
          <a:lstStyle/>
          <a:p>
            <a:pPr algn="r"/>
            <a:r>
              <a:rPr lang="en-US" altLang="zh-TW" sz="4000" b="1">
                <a:solidFill>
                  <a:srgbClr val="FFFFFF"/>
                </a:solidFill>
              </a:rPr>
              <a:t>CONTENT</a:t>
            </a:r>
            <a:endParaRPr lang="zh-TW" altLang="en-US" sz="4000" b="1">
              <a:solidFill>
                <a:srgbClr val="FFFFFF"/>
              </a:solidFill>
            </a:endParaRPr>
          </a:p>
        </p:txBody>
      </p:sp>
      <p:graphicFrame>
        <p:nvGraphicFramePr>
          <p:cNvPr id="27" name="內容版面配置區 2">
            <a:extLst>
              <a:ext uri="{FF2B5EF4-FFF2-40B4-BE49-F238E27FC236}">
                <a16:creationId xmlns:a16="http://schemas.microsoft.com/office/drawing/2014/main" id="{BC2FD004-F1A6-8956-F7DC-B50673AD8253}"/>
              </a:ext>
            </a:extLst>
          </p:cNvPr>
          <p:cNvGraphicFramePr>
            <a:graphicFrameLocks noGrp="1"/>
          </p:cNvGraphicFramePr>
          <p:nvPr>
            <p:ph idx="1"/>
            <p:extLst>
              <p:ext uri="{D42A27DB-BD31-4B8C-83A1-F6EECF244321}">
                <p14:modId xmlns:p14="http://schemas.microsoft.com/office/powerpoint/2010/main" val="210368827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5510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Triangle 23">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64989" y="623275"/>
            <a:ext cx="6581837"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F35D9769-EC44-92F3-32B0-D727B147EE24}"/>
              </a:ext>
            </a:extLst>
          </p:cNvPr>
          <p:cNvSpPr>
            <a:spLocks noGrp="1"/>
          </p:cNvSpPr>
          <p:nvPr>
            <p:ph type="title"/>
          </p:nvPr>
        </p:nvSpPr>
        <p:spPr>
          <a:xfrm>
            <a:off x="5450209" y="1056640"/>
            <a:ext cx="5799947" cy="3494398"/>
          </a:xfrm>
        </p:spPr>
        <p:txBody>
          <a:bodyPr vert="horz" lIns="91440" tIns="45720" rIns="91440" bIns="45720" rtlCol="0" anchor="b">
            <a:normAutofit/>
          </a:bodyPr>
          <a:lstStyle/>
          <a:p>
            <a:r>
              <a:rPr lang="en-US" altLang="zh-TW" sz="8000"/>
              <a:t>Introduction</a:t>
            </a:r>
          </a:p>
        </p:txBody>
      </p:sp>
      <p:grpSp>
        <p:nvGrpSpPr>
          <p:cNvPr id="9" name="群組 8">
            <a:extLst>
              <a:ext uri="{FF2B5EF4-FFF2-40B4-BE49-F238E27FC236}">
                <a16:creationId xmlns:a16="http://schemas.microsoft.com/office/drawing/2014/main" id="{F03C0E58-19F5-45F7-DA74-36D6CA22B45E}"/>
              </a:ext>
            </a:extLst>
          </p:cNvPr>
          <p:cNvGrpSpPr/>
          <p:nvPr/>
        </p:nvGrpSpPr>
        <p:grpSpPr>
          <a:xfrm>
            <a:off x="605197" y="796076"/>
            <a:ext cx="3869721" cy="1054399"/>
            <a:chOff x="856341" y="1577939"/>
            <a:chExt cx="5430159" cy="1479578"/>
          </a:xfrm>
        </p:grpSpPr>
        <p:sp>
          <p:nvSpPr>
            <p:cNvPr id="10" name="TextBox 76">
              <a:extLst>
                <a:ext uri="{FF2B5EF4-FFF2-40B4-BE49-F238E27FC236}">
                  <a16:creationId xmlns:a16="http://schemas.microsoft.com/office/drawing/2014/main" id="{86F3B454-858E-C756-69A2-34713943C47C}"/>
                </a:ext>
              </a:extLst>
            </p:cNvPr>
            <p:cNvSpPr txBox="1"/>
            <p:nvPr/>
          </p:nvSpPr>
          <p:spPr>
            <a:xfrm>
              <a:off x="856341" y="1577939"/>
              <a:ext cx="2388509" cy="523220"/>
            </a:xfrm>
            <a:prstGeom prst="rect">
              <a:avLst/>
            </a:prstGeom>
            <a:noFill/>
          </p:spPr>
          <p:txBody>
            <a:bodyPr wrap="square" rtlCol="0">
              <a:spAutoFit/>
            </a:bodyPr>
            <a:lstStyle/>
            <a:p>
              <a:pPr defTabSz="324612">
                <a:spcAft>
                  <a:spcPts val="600"/>
                </a:spcAft>
              </a:pPr>
              <a:r>
                <a:rPr lang="en-US" altLang="zh-CN" sz="1988" kern="1200" dirty="0">
                  <a:solidFill>
                    <a:schemeClr val="bg2">
                      <a:lumMod val="25000"/>
                    </a:schemeClr>
                  </a:solidFill>
                  <a:latin typeface="微软雅黑" panose="020B0503020204020204" pitchFamily="34" charset="-122"/>
                  <a:ea typeface="微软雅黑" panose="020B0503020204020204" pitchFamily="34" charset="-122"/>
                  <a:cs typeface="+mn-cs"/>
                </a:rPr>
                <a:t>Background</a:t>
              </a:r>
              <a:endParaRPr lang="zh-CN" altLang="en-US" sz="28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1" name="文本框 41">
              <a:extLst>
                <a:ext uri="{FF2B5EF4-FFF2-40B4-BE49-F238E27FC236}">
                  <a16:creationId xmlns:a16="http://schemas.microsoft.com/office/drawing/2014/main" id="{52A661DD-EEEC-EBD8-AAB2-5A2B27A8561A}"/>
                </a:ext>
              </a:extLst>
            </p:cNvPr>
            <p:cNvSpPr txBox="1"/>
            <p:nvPr/>
          </p:nvSpPr>
          <p:spPr>
            <a:xfrm>
              <a:off x="856342" y="2031609"/>
              <a:ext cx="5430158" cy="1025908"/>
            </a:xfrm>
            <a:prstGeom prst="rect">
              <a:avLst/>
            </a:prstGeom>
            <a:noFill/>
          </p:spPr>
          <p:txBody>
            <a:bodyPr wrap="square" rtlCol="0">
              <a:spAutoFit/>
            </a:bodyPr>
            <a:lstStyle/>
            <a:p>
              <a:pPr defTabSz="324612">
                <a:lnSpc>
                  <a:spcPct val="130000"/>
                </a:lnSpc>
                <a:spcAft>
                  <a:spcPts val="600"/>
                </a:spcAft>
              </a:pPr>
              <a:r>
                <a:rPr lang="en-US" altLang="zh-TW" sz="1100" dirty="0">
                  <a:latin typeface="Microsoft YaHei" panose="020B0503020204020204" pitchFamily="34" charset="-122"/>
                  <a:ea typeface="Microsoft YaHei" panose="020B0503020204020204" pitchFamily="34" charset="-122"/>
                </a:rPr>
                <a:t>Solder joint defects reduce reliability and lifespan. Manual checks are slow and subjective, and machines can make mistakes.</a:t>
              </a:r>
              <a:endParaRPr lang="en-US" altLang="zh-CN" sz="1100" dirty="0">
                <a:solidFill>
                  <a:schemeClr val="bg2">
                    <a:lumMod val="25000"/>
                  </a:schemeClr>
                </a:solidFill>
                <a:latin typeface="Microsoft YaHei" panose="020B0503020204020204" pitchFamily="34" charset="-122"/>
                <a:ea typeface="Microsoft YaHei" panose="020B0503020204020204" pitchFamily="34" charset="-122"/>
                <a:cs typeface="Microsoft GothicNeo" panose="020B0503020000020004" pitchFamily="34" charset="-127"/>
              </a:endParaRPr>
            </a:p>
          </p:txBody>
        </p:sp>
      </p:grpSp>
      <p:grpSp>
        <p:nvGrpSpPr>
          <p:cNvPr id="12" name="群組 11">
            <a:extLst>
              <a:ext uri="{FF2B5EF4-FFF2-40B4-BE49-F238E27FC236}">
                <a16:creationId xmlns:a16="http://schemas.microsoft.com/office/drawing/2014/main" id="{6B88F699-1750-F208-DBE1-116A999173D5}"/>
              </a:ext>
            </a:extLst>
          </p:cNvPr>
          <p:cNvGrpSpPr/>
          <p:nvPr/>
        </p:nvGrpSpPr>
        <p:grpSpPr>
          <a:xfrm>
            <a:off x="605195" y="2783716"/>
            <a:ext cx="3869723" cy="1287000"/>
            <a:chOff x="856341" y="2972365"/>
            <a:chExt cx="4934727" cy="1641200"/>
          </a:xfrm>
        </p:grpSpPr>
        <p:sp>
          <p:nvSpPr>
            <p:cNvPr id="13" name="TextBox 76">
              <a:extLst>
                <a:ext uri="{FF2B5EF4-FFF2-40B4-BE49-F238E27FC236}">
                  <a16:creationId xmlns:a16="http://schemas.microsoft.com/office/drawing/2014/main" id="{E2EC599A-4897-9E8E-8E59-743F942E894C}"/>
                </a:ext>
              </a:extLst>
            </p:cNvPr>
            <p:cNvSpPr txBox="1"/>
            <p:nvPr/>
          </p:nvSpPr>
          <p:spPr>
            <a:xfrm>
              <a:off x="856341" y="2972365"/>
              <a:ext cx="1664609" cy="546367"/>
            </a:xfrm>
            <a:prstGeom prst="rect">
              <a:avLst/>
            </a:prstGeom>
            <a:noFill/>
          </p:spPr>
          <p:txBody>
            <a:bodyPr wrap="square" rtlCol="0">
              <a:spAutoFit/>
            </a:bodyPr>
            <a:lstStyle/>
            <a:p>
              <a:pPr defTabSz="356616">
                <a:spcAft>
                  <a:spcPts val="600"/>
                </a:spcAft>
              </a:pPr>
              <a:r>
                <a:rPr lang="en-US" altLang="zh-CN" sz="2184" kern="1200" dirty="0">
                  <a:solidFill>
                    <a:schemeClr val="bg2">
                      <a:lumMod val="25000"/>
                    </a:schemeClr>
                  </a:solidFill>
                  <a:latin typeface="微软雅黑" panose="020B0503020204020204" pitchFamily="34" charset="-122"/>
                  <a:ea typeface="微软雅黑" panose="020B0503020204020204" pitchFamily="34" charset="-122"/>
                  <a:cs typeface="+mn-cs"/>
                </a:rPr>
                <a:t>Purpose</a:t>
              </a:r>
              <a:endParaRPr lang="zh-CN" altLang="en-US" sz="28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4" name="文本框 43">
              <a:extLst>
                <a:ext uri="{FF2B5EF4-FFF2-40B4-BE49-F238E27FC236}">
                  <a16:creationId xmlns:a16="http://schemas.microsoft.com/office/drawing/2014/main" id="{9930EC34-3250-B3E3-2B0A-B6CD723971E4}"/>
                </a:ext>
              </a:extLst>
            </p:cNvPr>
            <p:cNvSpPr txBox="1"/>
            <p:nvPr/>
          </p:nvSpPr>
          <p:spPr>
            <a:xfrm>
              <a:off x="856342" y="3400635"/>
              <a:ext cx="4934726" cy="1212930"/>
            </a:xfrm>
            <a:prstGeom prst="rect">
              <a:avLst/>
            </a:prstGeom>
            <a:noFill/>
          </p:spPr>
          <p:txBody>
            <a:bodyPr wrap="square" rtlCol="0">
              <a:spAutoFit/>
            </a:bodyPr>
            <a:lstStyle>
              <a:defPPr>
                <a:defRPr lang="zh-CN"/>
              </a:defPPr>
              <a:lvl1pPr>
                <a:lnSpc>
                  <a:spcPct val="130000"/>
                </a:lnSpc>
                <a:defRPr sz="1100">
                  <a:solidFill>
                    <a:schemeClr val="bg2">
                      <a:lumMod val="25000"/>
                    </a:schemeClr>
                  </a:solidFill>
                  <a:latin typeface="微软雅黑" panose="020B0503020204020204" pitchFamily="34" charset="-122"/>
                  <a:ea typeface="微软雅黑" panose="020B0503020204020204" pitchFamily="34" charset="-122"/>
                </a:defRPr>
              </a:lvl1pPr>
            </a:lstStyle>
            <a:p>
              <a:r>
                <a:rPr lang="en-US" altLang="zh-TW" dirty="0"/>
                <a:t>The purpose of this study is to improve defect detection accuracy, reduce missed and false judgments, and enable early identification and removal of problematic ICs.</a:t>
              </a:r>
              <a:endParaRPr lang="zh-TW" altLang="zh-TW" dirty="0"/>
            </a:p>
          </p:txBody>
        </p:sp>
      </p:grpSp>
      <p:grpSp>
        <p:nvGrpSpPr>
          <p:cNvPr id="15" name="群組 14">
            <a:extLst>
              <a:ext uri="{FF2B5EF4-FFF2-40B4-BE49-F238E27FC236}">
                <a16:creationId xmlns:a16="http://schemas.microsoft.com/office/drawing/2014/main" id="{7314474A-5A36-0754-7E7B-577DB06CA311}"/>
              </a:ext>
            </a:extLst>
          </p:cNvPr>
          <p:cNvGrpSpPr/>
          <p:nvPr/>
        </p:nvGrpSpPr>
        <p:grpSpPr>
          <a:xfrm>
            <a:off x="610472" y="4917124"/>
            <a:ext cx="3864446" cy="1071454"/>
            <a:chOff x="856341" y="4371556"/>
            <a:chExt cx="4934727" cy="1368200"/>
          </a:xfrm>
        </p:grpSpPr>
        <p:sp>
          <p:nvSpPr>
            <p:cNvPr id="16" name="TextBox 76">
              <a:extLst>
                <a:ext uri="{FF2B5EF4-FFF2-40B4-BE49-F238E27FC236}">
                  <a16:creationId xmlns:a16="http://schemas.microsoft.com/office/drawing/2014/main" id="{13390244-8851-B009-8065-9E5E786DCFC2}"/>
                </a:ext>
              </a:extLst>
            </p:cNvPr>
            <p:cNvSpPr txBox="1"/>
            <p:nvPr/>
          </p:nvSpPr>
          <p:spPr>
            <a:xfrm>
              <a:off x="856341" y="4371556"/>
              <a:ext cx="4395109" cy="523220"/>
            </a:xfrm>
            <a:prstGeom prst="rect">
              <a:avLst/>
            </a:prstGeom>
            <a:noFill/>
          </p:spPr>
          <p:txBody>
            <a:bodyPr wrap="square" rtlCol="0">
              <a:spAutoFit/>
            </a:bodyPr>
            <a:lstStyle/>
            <a:p>
              <a:pPr defTabSz="356616">
                <a:spcAft>
                  <a:spcPts val="600"/>
                </a:spcAft>
              </a:pPr>
              <a:r>
                <a:rPr lang="en-US" altLang="zh-TW" sz="2184" kern="1200" dirty="0">
                  <a:solidFill>
                    <a:schemeClr val="tx1"/>
                  </a:solidFill>
                  <a:latin typeface="+mn-lt"/>
                  <a:ea typeface="+mn-ea"/>
                  <a:cs typeface="+mn-cs"/>
                </a:rPr>
                <a:t>Method</a:t>
              </a:r>
              <a:endParaRPr lang="zh-CN" altLang="en-US" sz="28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7" name="文本框 45">
              <a:extLst>
                <a:ext uri="{FF2B5EF4-FFF2-40B4-BE49-F238E27FC236}">
                  <a16:creationId xmlns:a16="http://schemas.microsoft.com/office/drawing/2014/main" id="{4B7684EA-E6B3-F334-B8FA-95CB5229459F}"/>
                </a:ext>
              </a:extLst>
            </p:cNvPr>
            <p:cNvSpPr txBox="1"/>
            <p:nvPr/>
          </p:nvSpPr>
          <p:spPr>
            <a:xfrm>
              <a:off x="856342" y="4806176"/>
              <a:ext cx="4934726" cy="933580"/>
            </a:xfrm>
            <a:prstGeom prst="rect">
              <a:avLst/>
            </a:prstGeom>
            <a:noFill/>
          </p:spPr>
          <p:txBody>
            <a:bodyPr wrap="square" rtlCol="0">
              <a:spAutoFit/>
            </a:bodyPr>
            <a:lstStyle>
              <a:defPPr>
                <a:defRPr lang="zh-CN"/>
              </a:defPPr>
              <a:lvl1pPr>
                <a:lnSpc>
                  <a:spcPct val="130000"/>
                </a:lnSpc>
                <a:defRPr sz="1100">
                  <a:solidFill>
                    <a:schemeClr val="bg2">
                      <a:lumMod val="25000"/>
                    </a:schemeClr>
                  </a:solidFill>
                  <a:latin typeface="微软雅黑" panose="020B0503020204020204" pitchFamily="34" charset="-122"/>
                  <a:ea typeface="微软雅黑" panose="020B0503020204020204" pitchFamily="34" charset="-122"/>
                </a:defRPr>
              </a:lvl1pPr>
            </a:lstStyle>
            <a:p>
              <a:r>
                <a:rPr lang="en-US" altLang="zh-TW" dirty="0"/>
                <a:t>Use deep learning to detect solder joint defects by collecting SMT images, extracting ROIs, and classifying joints as normal or defective.</a:t>
              </a:r>
              <a:endParaRPr lang="zh-TW" altLang="zh-TW" dirty="0"/>
            </a:p>
          </p:txBody>
        </p:sp>
      </p:grpSp>
    </p:spTree>
    <p:extLst>
      <p:ext uri="{BB962C8B-B14F-4D97-AF65-F5344CB8AC3E}">
        <p14:creationId xmlns:p14="http://schemas.microsoft.com/office/powerpoint/2010/main" val="844529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飛鏢正中目標中心">
            <a:extLst>
              <a:ext uri="{FF2B5EF4-FFF2-40B4-BE49-F238E27FC236}">
                <a16:creationId xmlns:a16="http://schemas.microsoft.com/office/drawing/2014/main" id="{BAC287F6-8703-D200-BB95-7033699409C6}"/>
              </a:ext>
            </a:extLst>
          </p:cNvPr>
          <p:cNvPicPr>
            <a:picLocks noChangeAspect="1"/>
          </p:cNvPicPr>
          <p:nvPr/>
        </p:nvPicPr>
        <p:blipFill>
          <a:blip r:embed="rId2"/>
          <a:srcRect l="39210" r="1623"/>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93A366CC-9B95-D1BC-2CA3-A3B75CF5C8EE}"/>
              </a:ext>
            </a:extLst>
          </p:cNvPr>
          <p:cNvSpPr>
            <a:spLocks noGrp="1"/>
          </p:cNvSpPr>
          <p:nvPr>
            <p:ph type="title"/>
          </p:nvPr>
        </p:nvSpPr>
        <p:spPr>
          <a:xfrm>
            <a:off x="6115317" y="405685"/>
            <a:ext cx="5464968" cy="1559301"/>
          </a:xfrm>
        </p:spPr>
        <p:txBody>
          <a:bodyPr>
            <a:normAutofit/>
          </a:bodyPr>
          <a:lstStyle/>
          <a:p>
            <a:r>
              <a:rPr lang="en-US" altLang="zh-TW" sz="4000"/>
              <a:t>Dataset Preparation and ROI Extraction</a:t>
            </a:r>
            <a:endParaRPr lang="zh-TW" altLang="en-US" sz="4000"/>
          </a:p>
        </p:txBody>
      </p:sp>
      <p:sp>
        <p:nvSpPr>
          <p:cNvPr id="3" name="內容版面配置區 2">
            <a:extLst>
              <a:ext uri="{FF2B5EF4-FFF2-40B4-BE49-F238E27FC236}">
                <a16:creationId xmlns:a16="http://schemas.microsoft.com/office/drawing/2014/main" id="{70DD2483-6B76-5719-C451-46A993A0FC53}"/>
              </a:ext>
            </a:extLst>
          </p:cNvPr>
          <p:cNvSpPr>
            <a:spLocks noGrp="1"/>
          </p:cNvSpPr>
          <p:nvPr>
            <p:ph idx="1"/>
          </p:nvPr>
        </p:nvSpPr>
        <p:spPr>
          <a:xfrm>
            <a:off x="6115317" y="2743200"/>
            <a:ext cx="5611016" cy="3496878"/>
          </a:xfrm>
        </p:spPr>
        <p:txBody>
          <a:bodyPr anchor="ctr">
            <a:normAutofit/>
          </a:bodyPr>
          <a:lstStyle/>
          <a:p>
            <a:pPr>
              <a:buFont typeface="Wingdings" panose="05000000000000000000" pitchFamily="2" charset="2"/>
              <a:buChar char="Ø"/>
            </a:pPr>
            <a:r>
              <a:rPr lang="en-US" altLang="zh-TW" dirty="0"/>
              <a:t>Target IC and Image Data Collection</a:t>
            </a:r>
          </a:p>
          <a:p>
            <a:pPr>
              <a:buFont typeface="Wingdings" panose="05000000000000000000" pitchFamily="2" charset="2"/>
              <a:buChar char="Ø"/>
            </a:pPr>
            <a:r>
              <a:rPr lang="en-US" altLang="zh-TW" dirty="0"/>
              <a:t>Defect Types</a:t>
            </a:r>
          </a:p>
          <a:p>
            <a:pPr>
              <a:buFont typeface="Wingdings" panose="05000000000000000000" pitchFamily="2" charset="2"/>
              <a:buChar char="Ø"/>
            </a:pPr>
            <a:r>
              <a:rPr lang="en-US" altLang="zh-TW" dirty="0"/>
              <a:t>ROI</a:t>
            </a:r>
          </a:p>
          <a:p>
            <a:pPr>
              <a:buFont typeface="Wingdings" panose="05000000000000000000" pitchFamily="2" charset="2"/>
              <a:buChar char="Ø"/>
            </a:pPr>
            <a:r>
              <a:rPr lang="en-US" altLang="zh-TW" dirty="0"/>
              <a:t>ROI Annotation</a:t>
            </a:r>
            <a:endParaRPr lang="zh-TW" altLang="en-US" sz="2000" dirty="0"/>
          </a:p>
        </p:txBody>
      </p:sp>
    </p:spTree>
    <p:extLst>
      <p:ext uri="{BB962C8B-B14F-4D97-AF65-F5344CB8AC3E}">
        <p14:creationId xmlns:p14="http://schemas.microsoft.com/office/powerpoint/2010/main" val="386606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45A63888-87D0-51A7-14C3-40DF69867489}"/>
              </a:ext>
            </a:extLst>
          </p:cNvPr>
          <p:cNvSpPr>
            <a:spLocks noGrp="1"/>
          </p:cNvSpPr>
          <p:nvPr>
            <p:ph type="title"/>
          </p:nvPr>
        </p:nvSpPr>
        <p:spPr>
          <a:xfrm>
            <a:off x="686834" y="1153572"/>
            <a:ext cx="3200400" cy="4461163"/>
          </a:xfrm>
        </p:spPr>
        <p:txBody>
          <a:bodyPr>
            <a:normAutofit/>
          </a:bodyPr>
          <a:lstStyle/>
          <a:p>
            <a:r>
              <a:rPr lang="en-US" altLang="zh-TW" b="1" dirty="0">
                <a:solidFill>
                  <a:srgbClr val="FFFFFF"/>
                </a:solidFill>
              </a:rPr>
              <a:t>Target IC and</a:t>
            </a:r>
            <a:r>
              <a:rPr lang="zh-TW" altLang="en-US" b="1" dirty="0">
                <a:solidFill>
                  <a:srgbClr val="FFFFFF"/>
                </a:solidFill>
              </a:rPr>
              <a:t> </a:t>
            </a:r>
            <a:r>
              <a:rPr lang="en-US" altLang="zh-TW" b="1" dirty="0">
                <a:solidFill>
                  <a:srgbClr val="FFFFFF"/>
                </a:solidFill>
              </a:rPr>
              <a:t>Image Data Collection</a:t>
            </a:r>
            <a:endParaRPr lang="zh-TW" altLang="en-US" b="1" dirty="0">
              <a:solidFill>
                <a:srgbClr val="FFFFFF"/>
              </a:solidFill>
            </a:endParaRP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內容版面配置區 6">
            <a:extLst>
              <a:ext uri="{FF2B5EF4-FFF2-40B4-BE49-F238E27FC236}">
                <a16:creationId xmlns:a16="http://schemas.microsoft.com/office/drawing/2014/main" id="{2606D6B9-38F1-5042-7FDB-4BC046B81FAA}"/>
              </a:ext>
            </a:extLst>
          </p:cNvPr>
          <p:cNvSpPr>
            <a:spLocks noGrp="1"/>
          </p:cNvSpPr>
          <p:nvPr>
            <p:ph idx="1"/>
          </p:nvPr>
        </p:nvSpPr>
        <p:spPr>
          <a:xfrm>
            <a:off x="4167272" y="1327955"/>
            <a:ext cx="4648392" cy="4286780"/>
          </a:xfrm>
        </p:spPr>
        <p:txBody>
          <a:bodyPr anchor="t">
            <a:normAutofit fontScale="92500" lnSpcReduction="10000"/>
          </a:bodyPr>
          <a:lstStyle/>
          <a:p>
            <a:pPr marL="0" indent="0">
              <a:buNone/>
            </a:pPr>
            <a:r>
              <a:rPr lang="en-US" altLang="zh-TW" sz="2000" dirty="0"/>
              <a:t>Target</a:t>
            </a:r>
            <a:r>
              <a:rPr lang="zh-TW" altLang="en-US" sz="2000" dirty="0"/>
              <a:t> </a:t>
            </a:r>
            <a:r>
              <a:rPr lang="en-US" altLang="zh-TW" sz="2000" dirty="0"/>
              <a:t>IC</a:t>
            </a:r>
            <a:r>
              <a:rPr lang="zh-TW" altLang="en-US" sz="2000" dirty="0"/>
              <a:t>：</a:t>
            </a:r>
            <a:endParaRPr lang="en-US" altLang="zh-TW" sz="2000" dirty="0"/>
          </a:p>
          <a:p>
            <a:pPr marL="0" indent="0">
              <a:buNone/>
            </a:pPr>
            <a:r>
              <a:rPr lang="en-US" altLang="zh-TW" sz="2000" dirty="0"/>
              <a:t>The target device is an 8-pin 36V/5A buck regulator for car chargers, controlling voltage and protecting the load.</a:t>
            </a:r>
            <a:r>
              <a:rPr lang="zh-TW" altLang="en-US" sz="2000" dirty="0"/>
              <a:t> </a:t>
            </a:r>
            <a:r>
              <a:rPr lang="en-US" altLang="zh-TW" sz="2000" dirty="0"/>
              <a:t>As the heart of the charging system, a single pin failure can cause the entire IC to malfunction, potentially affecting vehicle safety.</a:t>
            </a:r>
          </a:p>
          <a:p>
            <a:pPr marL="0" indent="0">
              <a:buNone/>
            </a:pPr>
            <a:endParaRPr lang="en-US" altLang="zh-TW" sz="2000" dirty="0"/>
          </a:p>
          <a:p>
            <a:pPr marL="0" indent="0">
              <a:buNone/>
            </a:pPr>
            <a:r>
              <a:rPr lang="en-US" altLang="zh-TW" sz="2000" dirty="0"/>
              <a:t>Image Data Collection</a:t>
            </a:r>
            <a:r>
              <a:rPr lang="zh-TW" altLang="en-US" sz="2000" dirty="0"/>
              <a:t>：</a:t>
            </a:r>
            <a:endParaRPr lang="en-US" altLang="zh-TW" sz="2000" dirty="0"/>
          </a:p>
          <a:p>
            <a:pPr marL="0" indent="0">
              <a:buNone/>
            </a:pPr>
            <a:r>
              <a:rPr lang="en-US" altLang="zh-TW" sz="2000" dirty="0"/>
              <a:t>Images were collected from the SMT line, covering paste printing, reflow, and inspection. Each image shows the full IC and its 8 pins, including solder distribution and alignment, providing a clear basis for YOLO-based classification and defect detection.</a:t>
            </a:r>
          </a:p>
          <a:p>
            <a:pPr marL="0" indent="0">
              <a:buNone/>
            </a:pPr>
            <a:endParaRPr lang="en-US" altLang="zh-TW" sz="2000" dirty="0"/>
          </a:p>
          <a:p>
            <a:pPr marL="0" indent="0">
              <a:buNone/>
            </a:pPr>
            <a:endParaRPr lang="en-US" altLang="zh-TW" sz="2000" dirty="0"/>
          </a:p>
        </p:txBody>
      </p:sp>
      <p:pic>
        <p:nvPicPr>
          <p:cNvPr id="9" name="圖片 8" descr="一張含有 電路元件, 被動元件, 電子元件, 電子產品 的圖片&#10;&#10;AI 產生的內容可能不正確。">
            <a:extLst>
              <a:ext uri="{FF2B5EF4-FFF2-40B4-BE49-F238E27FC236}">
                <a16:creationId xmlns:a16="http://schemas.microsoft.com/office/drawing/2014/main" id="{CDA2EAA0-41F0-9F41-9219-0B9F8DC46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7066" y="1066799"/>
            <a:ext cx="2778533" cy="4439444"/>
          </a:xfrm>
          <a:prstGeom prst="rect">
            <a:avLst/>
          </a:prstGeom>
        </p:spPr>
      </p:pic>
      <p:sp>
        <p:nvSpPr>
          <p:cNvPr id="10" name="文字方塊 9">
            <a:extLst>
              <a:ext uri="{FF2B5EF4-FFF2-40B4-BE49-F238E27FC236}">
                <a16:creationId xmlns:a16="http://schemas.microsoft.com/office/drawing/2014/main" id="{CE848EB8-98FA-A349-A2B5-58B184AA2F96}"/>
              </a:ext>
            </a:extLst>
          </p:cNvPr>
          <p:cNvSpPr txBox="1"/>
          <p:nvPr/>
        </p:nvSpPr>
        <p:spPr>
          <a:xfrm>
            <a:off x="9771604" y="5681278"/>
            <a:ext cx="1545295" cy="369332"/>
          </a:xfrm>
          <a:prstGeom prst="rect">
            <a:avLst/>
          </a:prstGeom>
          <a:noFill/>
        </p:spPr>
        <p:txBody>
          <a:bodyPr wrap="none" rtlCol="0">
            <a:spAutoFit/>
          </a:bodyPr>
          <a:lstStyle/>
          <a:p>
            <a:r>
              <a:rPr lang="en-US" altLang="zh-TW" dirty="0"/>
              <a:t>Original Image</a:t>
            </a:r>
            <a:endParaRPr lang="zh-TW" altLang="en-US" dirty="0"/>
          </a:p>
        </p:txBody>
      </p:sp>
    </p:spTree>
    <p:extLst>
      <p:ext uri="{BB962C8B-B14F-4D97-AF65-F5344CB8AC3E}">
        <p14:creationId xmlns:p14="http://schemas.microsoft.com/office/powerpoint/2010/main" val="4009972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E22A7B-46E9-8912-3518-9889230246B0}"/>
            </a:ext>
          </a:extLst>
        </p:cNvPr>
        <p:cNvGrpSpPr/>
        <p:nvPr/>
      </p:nvGrpSpPr>
      <p:grpSpPr>
        <a:xfrm>
          <a:off x="0" y="0"/>
          <a:ext cx="0" cy="0"/>
          <a:chOff x="0" y="0"/>
          <a:chExt cx="0" cy="0"/>
        </a:xfrm>
      </p:grpSpPr>
      <p:sp useBgFill="1">
        <p:nvSpPr>
          <p:cNvPr id="47" name="Rectangle 42">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4">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標題 1">
            <a:extLst>
              <a:ext uri="{FF2B5EF4-FFF2-40B4-BE49-F238E27FC236}">
                <a16:creationId xmlns:a16="http://schemas.microsoft.com/office/drawing/2014/main" id="{523BD915-1B47-66E4-E7B1-29A29DE9F66D}"/>
              </a:ext>
            </a:extLst>
          </p:cNvPr>
          <p:cNvSpPr>
            <a:spLocks noGrp="1"/>
          </p:cNvSpPr>
          <p:nvPr>
            <p:ph type="title"/>
          </p:nvPr>
        </p:nvSpPr>
        <p:spPr>
          <a:xfrm>
            <a:off x="838200" y="609600"/>
            <a:ext cx="3739341" cy="1330839"/>
          </a:xfrm>
        </p:spPr>
        <p:txBody>
          <a:bodyPr>
            <a:normAutofit/>
          </a:bodyPr>
          <a:lstStyle/>
          <a:p>
            <a:r>
              <a:rPr lang="en-US" altLang="zh-TW" b="1" dirty="0"/>
              <a:t>Defect Types</a:t>
            </a:r>
            <a:endParaRPr lang="zh-TW" altLang="en-US" b="1" dirty="0"/>
          </a:p>
        </p:txBody>
      </p:sp>
      <p:sp>
        <p:nvSpPr>
          <p:cNvPr id="4" name="內容版面配置區 3">
            <a:extLst>
              <a:ext uri="{FF2B5EF4-FFF2-40B4-BE49-F238E27FC236}">
                <a16:creationId xmlns:a16="http://schemas.microsoft.com/office/drawing/2014/main" id="{A37FE32B-5DD0-46C3-B113-9C75FDF02F2A}"/>
              </a:ext>
            </a:extLst>
          </p:cNvPr>
          <p:cNvSpPr txBox="1">
            <a:spLocks noGrp="1"/>
          </p:cNvSpPr>
          <p:nvPr>
            <p:ph idx="1"/>
          </p:nvPr>
        </p:nvSpPr>
        <p:spPr>
          <a:xfrm>
            <a:off x="862366" y="2194102"/>
            <a:ext cx="3427001" cy="3908586"/>
          </a:xfrm>
          <a:prstGeom prst="rect">
            <a:avLst/>
          </a:prstGeom>
        </p:spPr>
        <p:txBody>
          <a:bodyPr rtlCol="0">
            <a:normAutofit fontScale="92500" lnSpcReduction="20000"/>
          </a:bodyPr>
          <a:lstStyle/>
          <a:p>
            <a:pPr marL="0" indent="0">
              <a:buNone/>
            </a:pPr>
            <a:r>
              <a:rPr lang="en-US" altLang="zh-TW" sz="1600" b="1" dirty="0"/>
              <a:t>Four Defect Types</a:t>
            </a:r>
            <a:r>
              <a:rPr lang="zh-TW" altLang="en-US" sz="1600" dirty="0"/>
              <a:t>：</a:t>
            </a:r>
            <a:endParaRPr lang="en-US" altLang="zh-TW" sz="1600" dirty="0"/>
          </a:p>
          <a:p>
            <a:pPr marL="0" indent="0">
              <a:buNone/>
            </a:pPr>
            <a:r>
              <a:rPr lang="en-US" altLang="zh-TW" sz="1600" dirty="0"/>
              <a:t>This study focuses on detecting and classifying each solder joint into four types: normal, misalignment, insufficient solder, and cold solder.</a:t>
            </a:r>
          </a:p>
          <a:p>
            <a:pPr marL="0" indent="0">
              <a:buNone/>
            </a:pPr>
            <a:endParaRPr lang="en-US" altLang="zh-TW" sz="1600" dirty="0"/>
          </a:p>
          <a:p>
            <a:pPr marL="0" indent="0">
              <a:buNone/>
            </a:pPr>
            <a:r>
              <a:rPr lang="en-US" altLang="zh-TW" sz="1600" b="1" dirty="0"/>
              <a:t>Defect Determination Criteria</a:t>
            </a:r>
            <a:r>
              <a:rPr lang="zh-TW" altLang="en-US" sz="1600" dirty="0"/>
              <a:t>：</a:t>
            </a:r>
            <a:endParaRPr lang="en-US" altLang="zh-TW" sz="1600" dirty="0"/>
          </a:p>
          <a:p>
            <a:pPr marL="0" indent="0">
              <a:buNone/>
            </a:pPr>
            <a:r>
              <a:rPr lang="en-US" altLang="zh-TW" sz="1600" b="1" dirty="0"/>
              <a:t>Normal</a:t>
            </a:r>
            <a:r>
              <a:rPr lang="en-US" altLang="zh-TW" sz="1600" dirty="0"/>
              <a:t>: The solder joint is well-aligned with the pad, with sufficient solder amount and a smooth, crack-free surface.</a:t>
            </a:r>
          </a:p>
          <a:p>
            <a:pPr marL="0" indent="0">
              <a:buNone/>
            </a:pPr>
            <a:r>
              <a:rPr lang="en-US" altLang="zh-TW" sz="1600" b="1" dirty="0"/>
              <a:t>Misalignment</a:t>
            </a:r>
            <a:r>
              <a:rPr lang="en-US" altLang="zh-TW" sz="1600" dirty="0"/>
              <a:t>: The center of the solder joint deviates from the pad center by more than one-third of the pad width.</a:t>
            </a:r>
          </a:p>
          <a:p>
            <a:pPr marL="0" indent="0">
              <a:buNone/>
            </a:pPr>
            <a:r>
              <a:rPr lang="en-US" altLang="zh-TW" sz="1600" b="1" dirty="0"/>
              <a:t>Insufficient Solder</a:t>
            </a:r>
            <a:r>
              <a:rPr lang="en-US" altLang="zh-TW" sz="1600" dirty="0"/>
              <a:t>: The solder coverage area is less than 75%.</a:t>
            </a:r>
          </a:p>
          <a:p>
            <a:pPr marL="0" indent="0">
              <a:buNone/>
            </a:pPr>
            <a:r>
              <a:rPr lang="en-US" altLang="zh-TW" sz="1600" b="1" dirty="0"/>
              <a:t>Cold Solder</a:t>
            </a:r>
            <a:r>
              <a:rPr lang="en-US" altLang="zh-TW" sz="1600" dirty="0"/>
              <a:t>: The solder joint surface shows cracks, dull color, or uneven luster.</a:t>
            </a:r>
          </a:p>
        </p:txBody>
      </p:sp>
      <p:pic>
        <p:nvPicPr>
          <p:cNvPr id="8" name="圖片 7">
            <a:extLst>
              <a:ext uri="{FF2B5EF4-FFF2-40B4-BE49-F238E27FC236}">
                <a16:creationId xmlns:a16="http://schemas.microsoft.com/office/drawing/2014/main" id="{C22980B7-7BB4-4FEF-B712-53AC33B34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445457" y="2756112"/>
            <a:ext cx="6155141" cy="1369517"/>
          </a:xfrm>
          <a:prstGeom prst="rect">
            <a:avLst/>
          </a:prstGeom>
          <a:noFill/>
        </p:spPr>
      </p:pic>
    </p:spTree>
    <p:extLst>
      <p:ext uri="{BB962C8B-B14F-4D97-AF65-F5344CB8AC3E}">
        <p14:creationId xmlns:p14="http://schemas.microsoft.com/office/powerpoint/2010/main" val="2245128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47DEB0-17F2-1F5F-A553-741AE8941240}"/>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Arc 1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標題 1">
            <a:extLst>
              <a:ext uri="{FF2B5EF4-FFF2-40B4-BE49-F238E27FC236}">
                <a16:creationId xmlns:a16="http://schemas.microsoft.com/office/drawing/2014/main" id="{B5875F82-BA9A-EC6F-CA33-C907C2257321}"/>
              </a:ext>
            </a:extLst>
          </p:cNvPr>
          <p:cNvSpPr>
            <a:spLocks noGrp="1"/>
          </p:cNvSpPr>
          <p:nvPr>
            <p:ph type="title"/>
          </p:nvPr>
        </p:nvSpPr>
        <p:spPr>
          <a:xfrm>
            <a:off x="5894962" y="479493"/>
            <a:ext cx="5458838" cy="1325563"/>
          </a:xfrm>
        </p:spPr>
        <p:txBody>
          <a:bodyPr>
            <a:normAutofit/>
          </a:bodyPr>
          <a:lstStyle/>
          <a:p>
            <a:r>
              <a:rPr lang="en-US" altLang="zh-TW" b="1" dirty="0"/>
              <a:t>ROI</a:t>
            </a:r>
            <a:endParaRPr lang="zh-TW" altLang="en-US" b="1" dirty="0"/>
          </a:p>
        </p:txBody>
      </p:sp>
      <p:sp>
        <p:nvSpPr>
          <p:cNvPr id="20" name="Freeform: Shape 1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內容版面配置區 2">
            <a:extLst>
              <a:ext uri="{FF2B5EF4-FFF2-40B4-BE49-F238E27FC236}">
                <a16:creationId xmlns:a16="http://schemas.microsoft.com/office/drawing/2014/main" id="{114D3159-32E6-5FDE-CC3C-C6E742DAD1D0}"/>
              </a:ext>
            </a:extLst>
          </p:cNvPr>
          <p:cNvSpPr>
            <a:spLocks noGrp="1"/>
          </p:cNvSpPr>
          <p:nvPr>
            <p:ph idx="1"/>
          </p:nvPr>
        </p:nvSpPr>
        <p:spPr>
          <a:xfrm>
            <a:off x="5894962" y="1984443"/>
            <a:ext cx="5458838" cy="4192520"/>
          </a:xfrm>
        </p:spPr>
        <p:txBody>
          <a:bodyPr>
            <a:normAutofit/>
          </a:bodyPr>
          <a:lstStyle/>
          <a:p>
            <a:pPr marL="0" indent="0">
              <a:buNone/>
            </a:pPr>
            <a:r>
              <a:rPr lang="en-US" altLang="zh-TW" sz="3200" dirty="0"/>
              <a:t>ROIs are set at the solderable ends of the IC’s 8 pins, where solder sticks to the PCB. The pin bodies mainly provide support and connection but little affect on solder quality. Focusing on the ends lets the model target critical defect areas.</a:t>
            </a:r>
            <a:endParaRPr lang="zh-TW" altLang="en-US" sz="3200" dirty="0"/>
          </a:p>
        </p:txBody>
      </p:sp>
      <p:sp>
        <p:nvSpPr>
          <p:cNvPr id="4" name="文字方塊 3">
            <a:extLst>
              <a:ext uri="{FF2B5EF4-FFF2-40B4-BE49-F238E27FC236}">
                <a16:creationId xmlns:a16="http://schemas.microsoft.com/office/drawing/2014/main" id="{8B23982A-D6A3-8B26-06CA-339E8D61F677}"/>
              </a:ext>
            </a:extLst>
          </p:cNvPr>
          <p:cNvSpPr txBox="1"/>
          <p:nvPr/>
        </p:nvSpPr>
        <p:spPr>
          <a:xfrm>
            <a:off x="1810463" y="6318924"/>
            <a:ext cx="2562817" cy="369332"/>
          </a:xfrm>
          <a:prstGeom prst="rect">
            <a:avLst/>
          </a:prstGeom>
          <a:noFill/>
        </p:spPr>
        <p:txBody>
          <a:bodyPr wrap="none" rtlCol="0">
            <a:spAutoFit/>
          </a:bodyPr>
          <a:lstStyle/>
          <a:p>
            <a:pPr algn="ctr">
              <a:spcAft>
                <a:spcPts val="600"/>
              </a:spcAft>
            </a:pPr>
            <a:r>
              <a:rPr lang="en-US" altLang="zh-TW" dirty="0"/>
              <a:t>ROI for all 8 pins of the IC</a:t>
            </a:r>
            <a:endParaRPr lang="zh-TW" altLang="en-US" dirty="0"/>
          </a:p>
        </p:txBody>
      </p:sp>
      <p:pic>
        <p:nvPicPr>
          <p:cNvPr id="6" name="內容版面配置區 3">
            <a:extLst>
              <a:ext uri="{FF2B5EF4-FFF2-40B4-BE49-F238E27FC236}">
                <a16:creationId xmlns:a16="http://schemas.microsoft.com/office/drawing/2014/main" id="{2FE15F81-BCF2-3DF5-B283-0E5A0B3FE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446202" y="640080"/>
            <a:ext cx="3486151" cy="5577840"/>
          </a:xfrm>
          <a:prstGeom prst="rect">
            <a:avLst/>
          </a:prstGeom>
          <a:noFill/>
        </p:spPr>
      </p:pic>
    </p:spTree>
    <p:extLst>
      <p:ext uri="{BB962C8B-B14F-4D97-AF65-F5344CB8AC3E}">
        <p14:creationId xmlns:p14="http://schemas.microsoft.com/office/powerpoint/2010/main" val="1844909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38E7BABA-709F-5B0A-D05A-49F88B414EC8}"/>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altLang="zh-TW" sz="5400" b="1" dirty="0"/>
              <a:t>ROI Annotation</a:t>
            </a:r>
            <a:endParaRPr lang="en-US" altLang="zh-TW" sz="6600" b="1" kern="1200" dirty="0">
              <a:solidFill>
                <a:schemeClr val="tx1"/>
              </a:solidFill>
              <a:latin typeface="+mj-lt"/>
              <a:ea typeface="+mj-ea"/>
              <a:cs typeface="+mj-cs"/>
            </a:endParaRPr>
          </a:p>
        </p:txBody>
      </p:sp>
      <p:sp>
        <p:nvSpPr>
          <p:cNvPr id="3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標題 1">
            <a:extLst>
              <a:ext uri="{FF2B5EF4-FFF2-40B4-BE49-F238E27FC236}">
                <a16:creationId xmlns:a16="http://schemas.microsoft.com/office/drawing/2014/main" id="{668B8663-6828-3927-385E-82B5F7D385C7}"/>
              </a:ext>
            </a:extLst>
          </p:cNvPr>
          <p:cNvSpPr txBox="1">
            <a:spLocks/>
          </p:cNvSpPr>
          <p:nvPr/>
        </p:nvSpPr>
        <p:spPr>
          <a:xfrm>
            <a:off x="630936" y="2807208"/>
            <a:ext cx="3267437" cy="34107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pPr>
            <a:r>
              <a:rPr lang="en-US" altLang="zh-TW" sz="2200" dirty="0">
                <a:latin typeface="+mn-lt"/>
                <a:ea typeface="+mn-ea"/>
                <a:cs typeface="+mn-cs"/>
              </a:rPr>
              <a:t>The image on the right shows the key ROI areas selected from the original image. Each of the 8 pins of the IC (pins 1–8) corresponds to one ROI.</a:t>
            </a:r>
          </a:p>
          <a:p>
            <a:pPr>
              <a:spcBef>
                <a:spcPts val="1000"/>
              </a:spcBef>
            </a:pPr>
            <a:r>
              <a:rPr lang="en-US" altLang="zh-TW" sz="2200" dirty="0">
                <a:latin typeface="+mn-lt"/>
              </a:rPr>
              <a:t>At the same time, it will label whether the pin is normal or defective.</a:t>
            </a:r>
            <a:endParaRPr lang="en-US" altLang="zh-TW" sz="2200" dirty="0">
              <a:latin typeface="+mn-lt"/>
              <a:ea typeface="+mn-ea"/>
              <a:cs typeface="+mn-cs"/>
            </a:endParaRPr>
          </a:p>
        </p:txBody>
      </p:sp>
      <p:sp>
        <p:nvSpPr>
          <p:cNvPr id="3" name="文字方塊 2">
            <a:extLst>
              <a:ext uri="{FF2B5EF4-FFF2-40B4-BE49-F238E27FC236}">
                <a16:creationId xmlns:a16="http://schemas.microsoft.com/office/drawing/2014/main" id="{4F45595C-6976-C779-0FC2-83B0DA99BFE6}"/>
              </a:ext>
            </a:extLst>
          </p:cNvPr>
          <p:cNvSpPr txBox="1"/>
          <p:nvPr/>
        </p:nvSpPr>
        <p:spPr>
          <a:xfrm>
            <a:off x="5110943" y="6217920"/>
            <a:ext cx="5990422" cy="723275"/>
          </a:xfrm>
          <a:prstGeom prst="rect">
            <a:avLst/>
          </a:prstGeom>
          <a:noFill/>
        </p:spPr>
        <p:txBody>
          <a:bodyPr wrap="none" rtlCol="0">
            <a:spAutoFit/>
          </a:bodyPr>
          <a:lstStyle/>
          <a:p>
            <a:pPr>
              <a:spcAft>
                <a:spcPts val="600"/>
              </a:spcAft>
            </a:pPr>
            <a:r>
              <a:rPr lang="en-US" altLang="zh-TW"/>
              <a:t>Regions of interest (ROIs) for all 8 pins of voltage regulator IC. </a:t>
            </a:r>
          </a:p>
          <a:p>
            <a:pPr>
              <a:spcAft>
                <a:spcPts val="600"/>
              </a:spcAft>
            </a:pPr>
            <a:endParaRPr lang="zh-TW" altLang="en-US"/>
          </a:p>
        </p:txBody>
      </p:sp>
      <p:pic>
        <p:nvPicPr>
          <p:cNvPr id="7" name="圖片 6">
            <a:extLst>
              <a:ext uri="{FF2B5EF4-FFF2-40B4-BE49-F238E27FC236}">
                <a16:creationId xmlns:a16="http://schemas.microsoft.com/office/drawing/2014/main" id="{5054DD56-BA9E-55FF-4CDA-D0189ED10376}"/>
              </a:ext>
            </a:extLst>
          </p:cNvPr>
          <p:cNvPicPr>
            <a:picLocks noChangeAspect="1"/>
          </p:cNvPicPr>
          <p:nvPr/>
        </p:nvPicPr>
        <p:blipFill>
          <a:blip r:embed="rId2"/>
          <a:stretch>
            <a:fillRect/>
          </a:stretch>
        </p:blipFill>
        <p:spPr>
          <a:xfrm>
            <a:off x="6211763" y="573707"/>
            <a:ext cx="3513962" cy="5577841"/>
          </a:xfrm>
          <a:prstGeom prst="rect">
            <a:avLst/>
          </a:prstGeom>
        </p:spPr>
      </p:pic>
    </p:spTree>
    <p:extLst>
      <p:ext uri="{BB962C8B-B14F-4D97-AF65-F5344CB8AC3E}">
        <p14:creationId xmlns:p14="http://schemas.microsoft.com/office/powerpoint/2010/main" val="2870702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04ACB6-6503-C192-2860-584BE1B7D77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9B1C17C0-5790-CD8C-7CA6-BCE93D0DD670}"/>
              </a:ext>
            </a:extLst>
          </p:cNvPr>
          <p:cNvSpPr>
            <a:spLocks noGrp="1"/>
          </p:cNvSpPr>
          <p:nvPr>
            <p:ph type="title"/>
          </p:nvPr>
        </p:nvSpPr>
        <p:spPr>
          <a:xfrm>
            <a:off x="1043631" y="809898"/>
            <a:ext cx="10173010" cy="1554480"/>
          </a:xfrm>
        </p:spPr>
        <p:txBody>
          <a:bodyPr anchor="ctr">
            <a:normAutofit/>
          </a:bodyPr>
          <a:lstStyle/>
          <a:p>
            <a:r>
              <a:rPr lang="en-US" altLang="zh-TW" sz="4800"/>
              <a:t>YOLO-Based Solder Joint Classification</a:t>
            </a:r>
            <a:endParaRPr lang="zh-TW" altLang="en-US"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內容版面配置區 2">
            <a:extLst>
              <a:ext uri="{FF2B5EF4-FFF2-40B4-BE49-F238E27FC236}">
                <a16:creationId xmlns:a16="http://schemas.microsoft.com/office/drawing/2014/main" id="{14368D43-44EA-8ADF-46F0-6740A2CC98A3}"/>
              </a:ext>
            </a:extLst>
          </p:cNvPr>
          <p:cNvGraphicFramePr>
            <a:graphicFrameLocks noGrp="1"/>
          </p:cNvGraphicFramePr>
          <p:nvPr>
            <p:ph idx="1"/>
            <p:extLst>
              <p:ext uri="{D42A27DB-BD31-4B8C-83A1-F6EECF244321}">
                <p14:modId xmlns:p14="http://schemas.microsoft.com/office/powerpoint/2010/main" val="3109193931"/>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1137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EAC2E9-D15D-B3C3-4781-DC9E9A36E60B}"/>
              </a:ext>
            </a:extLst>
          </p:cNvPr>
          <p:cNvSpPr>
            <a:spLocks noGrp="1"/>
          </p:cNvSpPr>
          <p:nvPr>
            <p:ph type="title"/>
          </p:nvPr>
        </p:nvSpPr>
        <p:spPr/>
        <p:txBody>
          <a:bodyPr/>
          <a:lstStyle/>
          <a:p>
            <a:r>
              <a:rPr lang="en-US" altLang="zh-TW" dirty="0"/>
              <a:t>Workflow for Defect Detection</a:t>
            </a:r>
            <a:endParaRPr lang="zh-TW" altLang="en-US" dirty="0"/>
          </a:p>
        </p:txBody>
      </p:sp>
      <p:sp>
        <p:nvSpPr>
          <p:cNvPr id="3" name="矩形: 圓角 2">
            <a:extLst>
              <a:ext uri="{FF2B5EF4-FFF2-40B4-BE49-F238E27FC236}">
                <a16:creationId xmlns:a16="http://schemas.microsoft.com/office/drawing/2014/main" id="{006912F8-C0DA-36B2-C61C-37833D2B7EA5}"/>
              </a:ext>
            </a:extLst>
          </p:cNvPr>
          <p:cNvSpPr/>
          <p:nvPr/>
        </p:nvSpPr>
        <p:spPr>
          <a:xfrm>
            <a:off x="2116667" y="2960637"/>
            <a:ext cx="2165701" cy="936726"/>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t>Image </a:t>
            </a:r>
            <a:r>
              <a:rPr lang="en-US" altLang="zh-TW" b="1" dirty="0"/>
              <a:t>Collect</a:t>
            </a:r>
            <a:endParaRPr lang="zh-TW" altLang="en-US" sz="2400" dirty="0">
              <a:solidFill>
                <a:schemeClr val="bg1"/>
              </a:solidFill>
            </a:endParaRPr>
          </a:p>
        </p:txBody>
      </p:sp>
      <p:sp>
        <p:nvSpPr>
          <p:cNvPr id="4" name="矩形: 圓角 3">
            <a:extLst>
              <a:ext uri="{FF2B5EF4-FFF2-40B4-BE49-F238E27FC236}">
                <a16:creationId xmlns:a16="http://schemas.microsoft.com/office/drawing/2014/main" id="{F5C7AA88-5F75-EB16-C7BF-04D7207D7070}"/>
              </a:ext>
            </a:extLst>
          </p:cNvPr>
          <p:cNvSpPr/>
          <p:nvPr/>
        </p:nvSpPr>
        <p:spPr>
          <a:xfrm>
            <a:off x="4861312" y="2960637"/>
            <a:ext cx="2165701" cy="936726"/>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t>ROI Definition &amp; Extraction</a:t>
            </a:r>
            <a:endParaRPr lang="zh-TW" altLang="en-US" sz="2400" dirty="0">
              <a:solidFill>
                <a:schemeClr val="bg1"/>
              </a:solidFill>
            </a:endParaRPr>
          </a:p>
        </p:txBody>
      </p:sp>
      <p:sp>
        <p:nvSpPr>
          <p:cNvPr id="9" name="矩形: 圓角 8">
            <a:extLst>
              <a:ext uri="{FF2B5EF4-FFF2-40B4-BE49-F238E27FC236}">
                <a16:creationId xmlns:a16="http://schemas.microsoft.com/office/drawing/2014/main" id="{E95B6D32-0655-8802-A81E-630FE8804F3D}"/>
              </a:ext>
            </a:extLst>
          </p:cNvPr>
          <p:cNvSpPr/>
          <p:nvPr/>
        </p:nvSpPr>
        <p:spPr>
          <a:xfrm>
            <a:off x="7605957" y="2960637"/>
            <a:ext cx="2165701" cy="936726"/>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t>Data Annotation</a:t>
            </a:r>
            <a:endParaRPr lang="zh-TW" altLang="en-US" sz="2400" dirty="0">
              <a:solidFill>
                <a:schemeClr val="bg1"/>
              </a:solidFill>
            </a:endParaRPr>
          </a:p>
        </p:txBody>
      </p:sp>
      <p:cxnSp>
        <p:nvCxnSpPr>
          <p:cNvPr id="17" name="直線單箭頭接點 16">
            <a:extLst>
              <a:ext uri="{FF2B5EF4-FFF2-40B4-BE49-F238E27FC236}">
                <a16:creationId xmlns:a16="http://schemas.microsoft.com/office/drawing/2014/main" id="{A2A17224-EB3D-0E53-44EA-2A4A246651F1}"/>
              </a:ext>
            </a:extLst>
          </p:cNvPr>
          <p:cNvCxnSpPr>
            <a:cxnSpLocks/>
          </p:cNvCxnSpPr>
          <p:nvPr/>
        </p:nvCxnSpPr>
        <p:spPr>
          <a:xfrm>
            <a:off x="4282368" y="3439433"/>
            <a:ext cx="57894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FE8C12E0-AA71-13EC-F5F7-526FB3360E0E}"/>
              </a:ext>
            </a:extLst>
          </p:cNvPr>
          <p:cNvCxnSpPr>
            <a:cxnSpLocks/>
          </p:cNvCxnSpPr>
          <p:nvPr/>
        </p:nvCxnSpPr>
        <p:spPr>
          <a:xfrm>
            <a:off x="7027013" y="3439433"/>
            <a:ext cx="57894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圓角 20">
            <a:extLst>
              <a:ext uri="{FF2B5EF4-FFF2-40B4-BE49-F238E27FC236}">
                <a16:creationId xmlns:a16="http://schemas.microsoft.com/office/drawing/2014/main" id="{F5E09B5F-830D-9B39-C232-F4FE60F2055A}"/>
              </a:ext>
            </a:extLst>
          </p:cNvPr>
          <p:cNvSpPr/>
          <p:nvPr/>
        </p:nvSpPr>
        <p:spPr>
          <a:xfrm>
            <a:off x="7605956" y="4376159"/>
            <a:ext cx="2165701" cy="936726"/>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t>Performance Evaluation</a:t>
            </a:r>
            <a:endParaRPr lang="zh-TW" altLang="en-US" sz="2400" dirty="0">
              <a:solidFill>
                <a:schemeClr val="bg1"/>
              </a:solidFill>
            </a:endParaRPr>
          </a:p>
        </p:txBody>
      </p:sp>
      <p:sp>
        <p:nvSpPr>
          <p:cNvPr id="22" name="矩形: 圓角 21">
            <a:extLst>
              <a:ext uri="{FF2B5EF4-FFF2-40B4-BE49-F238E27FC236}">
                <a16:creationId xmlns:a16="http://schemas.microsoft.com/office/drawing/2014/main" id="{EA3347E7-9F10-D89B-FB57-5EE929B82151}"/>
              </a:ext>
            </a:extLst>
          </p:cNvPr>
          <p:cNvSpPr/>
          <p:nvPr/>
        </p:nvSpPr>
        <p:spPr>
          <a:xfrm>
            <a:off x="2116667" y="4376159"/>
            <a:ext cx="2165701" cy="936726"/>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t>YOLO Model Training</a:t>
            </a:r>
            <a:endParaRPr lang="zh-TW" altLang="en-US" sz="2400" dirty="0">
              <a:solidFill>
                <a:schemeClr val="bg1"/>
              </a:solidFill>
            </a:endParaRPr>
          </a:p>
        </p:txBody>
      </p:sp>
      <p:sp>
        <p:nvSpPr>
          <p:cNvPr id="23" name="矩形: 圓角 22">
            <a:extLst>
              <a:ext uri="{FF2B5EF4-FFF2-40B4-BE49-F238E27FC236}">
                <a16:creationId xmlns:a16="http://schemas.microsoft.com/office/drawing/2014/main" id="{89536BFC-813C-B1BE-B206-77DB6673B2EA}"/>
              </a:ext>
            </a:extLst>
          </p:cNvPr>
          <p:cNvSpPr/>
          <p:nvPr/>
        </p:nvSpPr>
        <p:spPr>
          <a:xfrm>
            <a:off x="4861312" y="4376159"/>
            <a:ext cx="2165701" cy="936726"/>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t>Solder Joint Classification</a:t>
            </a:r>
            <a:endParaRPr lang="zh-TW" altLang="en-US" sz="2400" dirty="0">
              <a:solidFill>
                <a:schemeClr val="bg1"/>
              </a:solidFill>
            </a:endParaRPr>
          </a:p>
        </p:txBody>
      </p:sp>
      <p:cxnSp>
        <p:nvCxnSpPr>
          <p:cNvPr id="24" name="直線單箭頭接點 23">
            <a:extLst>
              <a:ext uri="{FF2B5EF4-FFF2-40B4-BE49-F238E27FC236}">
                <a16:creationId xmlns:a16="http://schemas.microsoft.com/office/drawing/2014/main" id="{487EF955-AB7A-74E3-686C-1ABAB2E14CBC}"/>
              </a:ext>
            </a:extLst>
          </p:cNvPr>
          <p:cNvCxnSpPr>
            <a:cxnSpLocks/>
          </p:cNvCxnSpPr>
          <p:nvPr/>
        </p:nvCxnSpPr>
        <p:spPr>
          <a:xfrm>
            <a:off x="4282368" y="4854955"/>
            <a:ext cx="57894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267BB296-0CD9-752C-D008-DA5E97E4538E}"/>
              </a:ext>
            </a:extLst>
          </p:cNvPr>
          <p:cNvCxnSpPr>
            <a:cxnSpLocks/>
          </p:cNvCxnSpPr>
          <p:nvPr/>
        </p:nvCxnSpPr>
        <p:spPr>
          <a:xfrm>
            <a:off x="7027012" y="4860476"/>
            <a:ext cx="57894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接點: 肘形 27">
            <a:extLst>
              <a:ext uri="{FF2B5EF4-FFF2-40B4-BE49-F238E27FC236}">
                <a16:creationId xmlns:a16="http://schemas.microsoft.com/office/drawing/2014/main" id="{FCA9D815-9B55-0789-CAF5-18E2C4093657}"/>
              </a:ext>
            </a:extLst>
          </p:cNvPr>
          <p:cNvCxnSpPr>
            <a:cxnSpLocks/>
            <a:stCxn id="9" idx="2"/>
            <a:endCxn id="22" idx="0"/>
          </p:cNvCxnSpPr>
          <p:nvPr/>
        </p:nvCxnSpPr>
        <p:spPr>
          <a:xfrm rot="5400000">
            <a:off x="5704765" y="1392116"/>
            <a:ext cx="478796" cy="548929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989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標題 1">
            <a:extLst>
              <a:ext uri="{FF2B5EF4-FFF2-40B4-BE49-F238E27FC236}">
                <a16:creationId xmlns:a16="http://schemas.microsoft.com/office/drawing/2014/main" id="{C251F912-023F-B003-D283-D150A2967454}"/>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altLang="zh-TW" sz="3600" kern="1200">
                <a:solidFill>
                  <a:schemeClr val="tx1"/>
                </a:solidFill>
                <a:latin typeface="+mj-lt"/>
                <a:ea typeface="+mj-ea"/>
                <a:cs typeface="+mj-cs"/>
              </a:rPr>
              <a:t>Classification Performance</a:t>
            </a:r>
          </a:p>
        </p:txBody>
      </p:sp>
      <p:graphicFrame>
        <p:nvGraphicFramePr>
          <p:cNvPr id="6" name="內容版面配置區 5">
            <a:extLst>
              <a:ext uri="{FF2B5EF4-FFF2-40B4-BE49-F238E27FC236}">
                <a16:creationId xmlns:a16="http://schemas.microsoft.com/office/drawing/2014/main" id="{21F2450F-1311-CA56-3548-537B0BD0309F}"/>
              </a:ext>
            </a:extLst>
          </p:cNvPr>
          <p:cNvGraphicFramePr>
            <a:graphicFrameLocks noGrp="1"/>
          </p:cNvGraphicFramePr>
          <p:nvPr>
            <p:ph idx="1"/>
            <p:extLst>
              <p:ext uri="{D42A27DB-BD31-4B8C-83A1-F6EECF244321}">
                <p14:modId xmlns:p14="http://schemas.microsoft.com/office/powerpoint/2010/main" val="628839387"/>
              </p:ext>
            </p:extLst>
          </p:nvPr>
        </p:nvGraphicFramePr>
        <p:xfrm>
          <a:off x="723900" y="2517633"/>
          <a:ext cx="10744203" cy="3621302"/>
        </p:xfrm>
        <a:graphic>
          <a:graphicData uri="http://schemas.openxmlformats.org/drawingml/2006/table">
            <a:tbl>
              <a:tblPr firstRow="1" firstCol="1" bandRow="1"/>
              <a:tblGrid>
                <a:gridCol w="1945124">
                  <a:extLst>
                    <a:ext uri="{9D8B030D-6E8A-4147-A177-3AD203B41FA5}">
                      <a16:colId xmlns:a16="http://schemas.microsoft.com/office/drawing/2014/main" val="1219290312"/>
                    </a:ext>
                  </a:extLst>
                </a:gridCol>
                <a:gridCol w="1761073">
                  <a:extLst>
                    <a:ext uri="{9D8B030D-6E8A-4147-A177-3AD203B41FA5}">
                      <a16:colId xmlns:a16="http://schemas.microsoft.com/office/drawing/2014/main" val="3813805402"/>
                    </a:ext>
                  </a:extLst>
                </a:gridCol>
                <a:gridCol w="1945126">
                  <a:extLst>
                    <a:ext uri="{9D8B030D-6E8A-4147-A177-3AD203B41FA5}">
                      <a16:colId xmlns:a16="http://schemas.microsoft.com/office/drawing/2014/main" val="1191489992"/>
                    </a:ext>
                  </a:extLst>
                </a:gridCol>
                <a:gridCol w="1773181">
                  <a:extLst>
                    <a:ext uri="{9D8B030D-6E8A-4147-A177-3AD203B41FA5}">
                      <a16:colId xmlns:a16="http://schemas.microsoft.com/office/drawing/2014/main" val="3838657520"/>
                    </a:ext>
                  </a:extLst>
                </a:gridCol>
                <a:gridCol w="1777217">
                  <a:extLst>
                    <a:ext uri="{9D8B030D-6E8A-4147-A177-3AD203B41FA5}">
                      <a16:colId xmlns:a16="http://schemas.microsoft.com/office/drawing/2014/main" val="1465348437"/>
                    </a:ext>
                  </a:extLst>
                </a:gridCol>
                <a:gridCol w="1542482">
                  <a:extLst>
                    <a:ext uri="{9D8B030D-6E8A-4147-A177-3AD203B41FA5}">
                      <a16:colId xmlns:a16="http://schemas.microsoft.com/office/drawing/2014/main" val="2268389235"/>
                    </a:ext>
                  </a:extLst>
                </a:gridCol>
              </a:tblGrid>
              <a:tr h="847973">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True\Pred</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Normal</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Misalignment</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Insufficient solder</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Cold solder</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Recall</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2735258"/>
                  </a:ext>
                </a:extLst>
              </a:tr>
              <a:tr h="481339">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Normal</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3816</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16</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0</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0</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0.995</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99106"/>
                  </a:ext>
                </a:extLst>
              </a:tr>
              <a:tr h="481339">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Misalignment</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dirty="0">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24</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200</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56</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0</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0.714</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2344759"/>
                  </a:ext>
                </a:extLst>
              </a:tr>
              <a:tr h="847973">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Insufficient solder</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dirty="0">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8</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24</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352</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0</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0.916</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6570200"/>
                  </a:ext>
                </a:extLst>
              </a:tr>
              <a:tr h="481339">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Cold solder</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0</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0</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0</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304</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1.0</a:t>
                      </a: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00</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6715413"/>
                  </a:ext>
                </a:extLst>
              </a:tr>
              <a:tr h="481339">
                <a:tc>
                  <a:txBody>
                    <a:bodyPr/>
                    <a:lstStyle/>
                    <a:p>
                      <a:pPr algn="ctr" fontAlgn="ctr">
                        <a:lnSpc>
                          <a:spcPts val="1400"/>
                        </a:lnSpc>
                        <a:buNone/>
                      </a:pPr>
                      <a:r>
                        <a:rPr lang="en-US" sz="2100" b="1"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Precision</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0.991</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0.833</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0.862</a:t>
                      </a:r>
                      <a:endParaRPr lang="en-US" altLang="zh-TW" sz="3700" b="0" i="0" u="none" strike="noStrike">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0"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1.</a:t>
                      </a:r>
                      <a:r>
                        <a:rPr lang="en-US" sz="2100" b="0" i="0" u="none" strike="noStrike">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00</a:t>
                      </a:r>
                      <a:r>
                        <a:rPr lang="en-US" sz="2100" b="0" i="0" u="none" strike="noStrike">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0</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1400"/>
                        </a:lnSpc>
                        <a:buNone/>
                      </a:pPr>
                      <a:r>
                        <a:rPr lang="en-US" sz="2100" b="1" i="0" u="none" strike="noStrike" dirty="0">
                          <a:solidFill>
                            <a:srgbClr val="000000"/>
                          </a:solidFill>
                          <a:effectLst/>
                          <a:latin typeface="Palatino Linotype" panose="02040502050505030304" pitchFamily="18" charset="0"/>
                          <a:ea typeface="DengXian" panose="02010600030101010101" pitchFamily="2" charset="-122"/>
                          <a:cs typeface="Times New Roman" panose="02020603050405020304" pitchFamily="18" charset="0"/>
                        </a:rPr>
                        <a:t>Acc = </a:t>
                      </a:r>
                      <a:r>
                        <a:rPr lang="en-US" sz="2100" b="1" i="0" u="none" strike="noStrike" dirty="0">
                          <a:solidFill>
                            <a:srgbClr val="000000"/>
                          </a:solidFill>
                          <a:effectLst/>
                          <a:latin typeface="Palatino Linotype" panose="02040502050505030304" pitchFamily="18" charset="0"/>
                          <a:ea typeface="新細明體" panose="02020500000000000000" pitchFamily="18" charset="-120"/>
                          <a:cs typeface="Times New Roman" panose="02020603050405020304" pitchFamily="18" charset="0"/>
                        </a:rPr>
                        <a:t>0.973</a:t>
                      </a:r>
                      <a:endParaRPr lang="en-US" altLang="zh-TW" sz="3700" b="0" i="0" u="none" strike="noStrike" dirty="0">
                        <a:effectLst/>
                        <a:latin typeface="Arial" panose="020B0604020202020204" pitchFamily="34" charset="0"/>
                      </a:endParaRPr>
                    </a:p>
                  </a:txBody>
                  <a:tcPr marL="19641" marR="19641" marT="19641" marB="19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3900822"/>
                  </a:ext>
                </a:extLst>
              </a:tr>
            </a:tbl>
          </a:graphicData>
        </a:graphic>
      </p:graphicFrame>
    </p:spTree>
    <p:extLst>
      <p:ext uri="{BB962C8B-B14F-4D97-AF65-F5344CB8AC3E}">
        <p14:creationId xmlns:p14="http://schemas.microsoft.com/office/powerpoint/2010/main" val="137830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21">
            <a:extLst>
              <a:ext uri="{FF2B5EF4-FFF2-40B4-BE49-F238E27FC236}">
                <a16:creationId xmlns:a16="http://schemas.microsoft.com/office/drawing/2014/main" id="{78532AE1-3E02-470C-B898-A0C62F2E9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23">
            <a:extLst>
              <a:ext uri="{FF2B5EF4-FFF2-40B4-BE49-F238E27FC236}">
                <a16:creationId xmlns:a16="http://schemas.microsoft.com/office/drawing/2014/main" id="{E7401DF7-4687-415B-A91D-DB43BEEBD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64612"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25">
            <a:extLst>
              <a:ext uri="{FF2B5EF4-FFF2-40B4-BE49-F238E27FC236}">
                <a16:creationId xmlns:a16="http://schemas.microsoft.com/office/drawing/2014/main" id="{8EFC09D2-72D2-4174-A2DF-1017D0FEB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912" y="685800"/>
            <a:ext cx="6048935" cy="5486400"/>
          </a:xfrm>
          <a:prstGeom prst="rect">
            <a:avLst/>
          </a:pr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093B5153-9AF3-53F8-5282-79752E3E14B8}"/>
              </a:ext>
            </a:extLst>
          </p:cNvPr>
          <p:cNvSpPr>
            <a:spLocks noGrp="1"/>
          </p:cNvSpPr>
          <p:nvPr>
            <p:ph type="title"/>
          </p:nvPr>
        </p:nvSpPr>
        <p:spPr>
          <a:xfrm>
            <a:off x="1368612" y="1095152"/>
            <a:ext cx="4773616" cy="1065313"/>
          </a:xfrm>
        </p:spPr>
        <p:txBody>
          <a:bodyPr anchor="b">
            <a:normAutofit/>
          </a:bodyPr>
          <a:lstStyle/>
          <a:p>
            <a:pPr algn="ctr"/>
            <a:r>
              <a:rPr lang="en-US" altLang="zh-TW" sz="3200" b="1">
                <a:solidFill>
                  <a:schemeClr val="tx1">
                    <a:lumMod val="65000"/>
                    <a:lumOff val="35000"/>
                  </a:schemeClr>
                </a:solidFill>
              </a:rPr>
              <a:t>IC Classification Illustration</a:t>
            </a:r>
            <a:endParaRPr lang="zh-TW" altLang="en-US" sz="3200" b="1">
              <a:solidFill>
                <a:schemeClr val="tx1">
                  <a:lumMod val="65000"/>
                  <a:lumOff val="35000"/>
                </a:schemeClr>
              </a:solidFill>
            </a:endParaRPr>
          </a:p>
        </p:txBody>
      </p:sp>
      <p:sp>
        <p:nvSpPr>
          <p:cNvPr id="17" name="Content Placeholder 7">
            <a:extLst>
              <a:ext uri="{FF2B5EF4-FFF2-40B4-BE49-F238E27FC236}">
                <a16:creationId xmlns:a16="http://schemas.microsoft.com/office/drawing/2014/main" id="{D7FDE678-D308-09ED-E736-1E2FD1594ACF}"/>
              </a:ext>
            </a:extLst>
          </p:cNvPr>
          <p:cNvSpPr>
            <a:spLocks noGrp="1"/>
          </p:cNvSpPr>
          <p:nvPr>
            <p:ph idx="1"/>
          </p:nvPr>
        </p:nvSpPr>
        <p:spPr>
          <a:xfrm>
            <a:off x="1368613" y="2447337"/>
            <a:ext cx="4773616" cy="3171970"/>
          </a:xfrm>
        </p:spPr>
        <p:txBody>
          <a:bodyPr anchor="t">
            <a:normAutofit/>
          </a:bodyPr>
          <a:lstStyle/>
          <a:p>
            <a:pPr marL="0" indent="0">
              <a:buNone/>
            </a:pPr>
            <a:r>
              <a:rPr lang="en-US" altLang="zh-TW" sz="2000" dirty="0">
                <a:solidFill>
                  <a:schemeClr val="tx1">
                    <a:lumMod val="65000"/>
                    <a:lumOff val="35000"/>
                  </a:schemeClr>
                </a:solidFill>
              </a:rPr>
              <a:t>From the illustration, the defects are labeled, and the ground truth and predicted results for each pin are shown. The IC-level decision rule is displayed in the top-right corner: if any one of the 8 pins is classified as defective, the entire IC is considered NG.</a:t>
            </a:r>
          </a:p>
          <a:p>
            <a:pPr marL="0" indent="0">
              <a:buNone/>
            </a:pPr>
            <a:endParaRPr lang="en-US" sz="2000" dirty="0">
              <a:solidFill>
                <a:schemeClr val="tx1">
                  <a:lumMod val="65000"/>
                  <a:lumOff val="35000"/>
                </a:schemeClr>
              </a:solidFill>
            </a:endParaRPr>
          </a:p>
          <a:p>
            <a:pPr marL="0" indent="0">
              <a:buNone/>
            </a:pPr>
            <a:r>
              <a:rPr lang="en-US" altLang="zh-TW" sz="2000" dirty="0"/>
              <a:t>(Note: “Low Solder” in the figure refers to “Insufficient Solder.”)</a:t>
            </a:r>
            <a:endParaRPr lang="en-US" sz="2000" dirty="0">
              <a:solidFill>
                <a:schemeClr val="tx1">
                  <a:lumMod val="65000"/>
                  <a:lumOff val="35000"/>
                </a:schemeClr>
              </a:solidFill>
            </a:endParaRPr>
          </a:p>
        </p:txBody>
      </p:sp>
      <p:pic>
        <p:nvPicPr>
          <p:cNvPr id="4" name="內容版面配置區 3">
            <a:extLst>
              <a:ext uri="{FF2B5EF4-FFF2-40B4-BE49-F238E27FC236}">
                <a16:creationId xmlns:a16="http://schemas.microsoft.com/office/drawing/2014/main" id="{93833A9E-BED7-82F0-45CA-1CD5FB04C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137339" y="766058"/>
            <a:ext cx="3381935" cy="5325881"/>
          </a:xfrm>
          <a:prstGeom prst="rect">
            <a:avLst/>
          </a:prstGeom>
          <a:noFill/>
        </p:spPr>
      </p:pic>
    </p:spTree>
    <p:extLst>
      <p:ext uri="{BB962C8B-B14F-4D97-AF65-F5344CB8AC3E}">
        <p14:creationId xmlns:p14="http://schemas.microsoft.com/office/powerpoint/2010/main" val="526208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CD932B13-1C83-6BCA-ABCA-799923DA0343}"/>
              </a:ext>
            </a:extLst>
          </p:cNvPr>
          <p:cNvSpPr>
            <a:spLocks noGrp="1"/>
          </p:cNvSpPr>
          <p:nvPr>
            <p:ph type="title"/>
          </p:nvPr>
        </p:nvSpPr>
        <p:spPr>
          <a:xfrm>
            <a:off x="808638" y="386930"/>
            <a:ext cx="9236700" cy="1188950"/>
          </a:xfrm>
        </p:spPr>
        <p:txBody>
          <a:bodyPr anchor="b">
            <a:normAutofit/>
          </a:bodyPr>
          <a:lstStyle/>
          <a:p>
            <a:r>
              <a:rPr lang="en-US" altLang="zh-TW" sz="5400"/>
              <a:t>Conclusion</a:t>
            </a:r>
            <a:endParaRPr lang="zh-TW" altLang="en-US"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3"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內容版面配置區 2">
            <a:extLst>
              <a:ext uri="{FF2B5EF4-FFF2-40B4-BE49-F238E27FC236}">
                <a16:creationId xmlns:a16="http://schemas.microsoft.com/office/drawing/2014/main" id="{73D651DD-8580-B87C-E82C-DCC6CC909CD1}"/>
              </a:ext>
            </a:extLst>
          </p:cNvPr>
          <p:cNvSpPr>
            <a:spLocks noGrp="1"/>
          </p:cNvSpPr>
          <p:nvPr>
            <p:ph idx="1"/>
          </p:nvPr>
        </p:nvSpPr>
        <p:spPr>
          <a:xfrm>
            <a:off x="1024165" y="2633376"/>
            <a:ext cx="10143668" cy="3435531"/>
          </a:xfrm>
        </p:spPr>
        <p:txBody>
          <a:bodyPr anchor="ctr">
            <a:normAutofit/>
          </a:bodyPr>
          <a:lstStyle/>
          <a:p>
            <a:pPr marL="0" indent="0">
              <a:buNone/>
            </a:pPr>
            <a:r>
              <a:rPr lang="en-US" altLang="zh-TW" sz="2400" dirty="0"/>
              <a:t>This study used a deep learning single-pin model for defect detection. It performed reliably at pin and IC levels, with strong results for Normal and Cold Solder, and some confusion in Insufficient Solder and Misalignment. Overall, it shows the method can support inspection and improve quality.</a:t>
            </a:r>
            <a:endParaRPr lang="zh-TW" altLang="en-US" sz="2400" dirty="0"/>
          </a:p>
        </p:txBody>
      </p:sp>
    </p:spTree>
    <p:extLst>
      <p:ext uri="{BB962C8B-B14F-4D97-AF65-F5344CB8AC3E}">
        <p14:creationId xmlns:p14="http://schemas.microsoft.com/office/powerpoint/2010/main" val="1519556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4AC66B-1A91-BFB1-BC7A-E2875611CFA1}"/>
              </a:ext>
            </a:extLst>
          </p:cNvPr>
          <p:cNvSpPr>
            <a:spLocks noGrp="1"/>
          </p:cNvSpPr>
          <p:nvPr>
            <p:ph type="ctrTitle"/>
          </p:nvPr>
        </p:nvSpPr>
        <p:spPr/>
        <p:txBody>
          <a:bodyPr/>
          <a:lstStyle/>
          <a:p>
            <a:r>
              <a:rPr lang="en-US" altLang="zh-TW" dirty="0"/>
              <a:t>Thank you for your attention</a:t>
            </a:r>
            <a:endParaRPr lang="zh-TW" altLang="en-US" dirty="0"/>
          </a:p>
        </p:txBody>
      </p:sp>
      <p:sp>
        <p:nvSpPr>
          <p:cNvPr id="3" name="副標題 2">
            <a:extLst>
              <a:ext uri="{FF2B5EF4-FFF2-40B4-BE49-F238E27FC236}">
                <a16:creationId xmlns:a16="http://schemas.microsoft.com/office/drawing/2014/main" id="{A6DA3B91-28B0-A30C-0E9E-B6C3FB466DB7}"/>
              </a:ext>
            </a:extLst>
          </p:cNvPr>
          <p:cNvSpPr>
            <a:spLocks noGrp="1"/>
          </p:cNvSpPr>
          <p:nvPr>
            <p:ph type="subTitle" idx="1"/>
          </p:nvPr>
        </p:nvSpPr>
        <p:spPr/>
        <p:txBody>
          <a:bodyPr/>
          <a:lstStyle/>
          <a:p>
            <a:endParaRPr lang="zh-TW" altLang="en-US" dirty="0"/>
          </a:p>
        </p:txBody>
      </p:sp>
    </p:spTree>
    <p:extLst>
      <p:ext uri="{BB962C8B-B14F-4D97-AF65-F5344CB8AC3E}">
        <p14:creationId xmlns:p14="http://schemas.microsoft.com/office/powerpoint/2010/main" val="1869366569"/>
      </p:ext>
    </p:extLst>
  </p:cSld>
  <p:clrMapOvr>
    <a:masterClrMapping/>
  </p:clrMapOvr>
</p:sld>
</file>

<file path=ppt/theme/theme1.xml><?xml version="1.0" encoding="utf-8"?>
<a:theme xmlns:a="http://schemas.openxmlformats.org/drawingml/2006/main" name="Office 2013 - 2022 主題">
  <a:themeElements>
    <a:clrScheme name="Office 2013 - 2022 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5292</TotalTime>
  <Words>697</Words>
  <Application>Microsoft Office PowerPoint</Application>
  <PresentationFormat>Widescreen</PresentationFormat>
  <Paragraphs>102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2013 - 2022 主題</vt:lpstr>
      <vt:lpstr>Inspection for Solder Joint Defects in Voltage Regulator ICs of Automotive Charging Applications</vt:lpstr>
      <vt:lpstr>CONTENT</vt:lpstr>
      <vt:lpstr>Introduction</vt:lpstr>
      <vt:lpstr>Dataset Preparation and ROI Extraction</vt:lpstr>
      <vt:lpstr>Target IC and Image Data Collection</vt:lpstr>
      <vt:lpstr>Defect Types</vt:lpstr>
      <vt:lpstr>ROI</vt:lpstr>
      <vt:lpstr>ROI Annotation</vt:lpstr>
      <vt:lpstr>YOLO-Based Solder Joint Classification</vt:lpstr>
      <vt:lpstr>Workflow for Defect Detection</vt:lpstr>
      <vt:lpstr>Classification Performance</vt:lpstr>
      <vt:lpstr>IC Classification Illustration</vt:lpstr>
      <vt:lpstr>Conclusion</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Chiu</dc:creator>
  <cp:lastModifiedBy>Sam Chiu</cp:lastModifiedBy>
  <cp:revision>25</cp:revision>
  <dcterms:created xsi:type="dcterms:W3CDTF">2025-07-23T02:22:41Z</dcterms:created>
  <dcterms:modified xsi:type="dcterms:W3CDTF">2026-09-23T06:19:07Z</dcterms:modified>
</cp:coreProperties>
</file>